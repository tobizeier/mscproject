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13"/>
    <p:restoredTop sz="94610"/>
  </p:normalViewPr>
  <p:slideViewPr>
    <p:cSldViewPr snapToGrid="0" snapToObjects="1">
      <p:cViewPr>
        <p:scale>
          <a:sx n="131" d="100"/>
          <a:sy n="131" d="100"/>
        </p:scale>
        <p:origin x="720" y="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3352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SVC-02 is the money case: stable in isolation, largest structural exposure in the portfolio.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distinctive finding. SVC-06's 2024 debt was concentrated (worst-in-portfolio patch recency and unsupported components in 2024; by 2025 patch recency and change failure rate), so the compensatory, absolutely anchored variant read it as mid-ranking in 2024 while sample-relative methods flagged it first. By 2025 the deterioration had broadened and everything converged.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9784080" y="502920"/>
            <a:ext cx="1691640" cy="841248"/>
          </a:xfrm>
          <a:prstGeom prst="rect">
            <a:avLst/>
          </a:prstGeom>
        </p:spPr>
      </p:pic>
      <p:sp>
        <p:nvSpPr>
          <p:cNvPr id="3" name="Text 0"/>
          <p:cNvSpPr/>
          <p:nvPr/>
        </p:nvSpPr>
        <p:spPr>
          <a:xfrm>
            <a:off x="685800" y="1417320"/>
            <a:ext cx="7315200" cy="274320"/>
          </a:xfrm>
          <a:prstGeom prst="rect">
            <a:avLst/>
          </a:prstGeom>
          <a:noFill/>
          <a:ln/>
        </p:spPr>
        <p:txBody>
          <a:bodyPr wrap="square" lIns="0" tIns="0" rIns="0" bIns="0" rtlCol="0" anchor="ctr"/>
          <a:lstStyle/>
          <a:p>
            <a:pPr marL="0" indent="0">
              <a:buNone/>
            </a:pPr>
            <a:r>
              <a:rPr lang="en-GB" sz="1200" b="1" kern="0" spc="300" dirty="0">
                <a:solidFill>
                  <a:srgbClr val="D98E1F"/>
                </a:solidFill>
                <a:latin typeface="Courier New" pitchFamily="34" charset="0"/>
                <a:ea typeface="Courier New" pitchFamily="34" charset="-122"/>
                <a:cs typeface="Courier New" pitchFamily="34" charset="-120"/>
              </a:rPr>
              <a:t>MSC THESIS DEFENCE</a:t>
            </a:r>
            <a:endParaRPr lang="en-GB" sz="1200" dirty="0"/>
          </a:p>
        </p:txBody>
      </p:sp>
      <p:sp>
        <p:nvSpPr>
          <p:cNvPr id="4" name="Text 1"/>
          <p:cNvSpPr/>
          <p:nvPr/>
        </p:nvSpPr>
        <p:spPr>
          <a:xfrm>
            <a:off x="685800" y="1874520"/>
            <a:ext cx="9326880" cy="1463040"/>
          </a:xfrm>
          <a:prstGeom prst="rect">
            <a:avLst/>
          </a:prstGeom>
          <a:noFill/>
          <a:ln/>
        </p:spPr>
        <p:txBody>
          <a:bodyPr wrap="square" lIns="0" tIns="0" rIns="0" bIns="0" rtlCol="0" anchor="ctr"/>
          <a:lstStyle/>
          <a:p>
            <a:pPr marL="0" indent="0">
              <a:buNone/>
            </a:pPr>
            <a:r>
              <a:rPr lang="en-GB" sz="34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GB" sz="3400" dirty="0"/>
          </a:p>
        </p:txBody>
      </p:sp>
      <p:sp>
        <p:nvSpPr>
          <p:cNvPr id="5" name="Text 2"/>
          <p:cNvSpPr/>
          <p:nvPr/>
        </p:nvSpPr>
        <p:spPr>
          <a:xfrm>
            <a:off x="685800" y="3246120"/>
            <a:ext cx="9601200" cy="411480"/>
          </a:xfrm>
          <a:prstGeom prst="rect">
            <a:avLst/>
          </a:prstGeom>
          <a:noFill/>
          <a:ln/>
        </p:spPr>
        <p:txBody>
          <a:bodyPr wrap="square" lIns="0" tIns="0" rIns="0" bIns="0" rtlCol="0" anchor="ctr"/>
          <a:lstStyle/>
          <a:p>
            <a:pPr marL="0" indent="0">
              <a:buNone/>
            </a:pPr>
            <a:r>
              <a:rPr lang="en-GB" sz="160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GB" sz="1600" dirty="0"/>
          </a:p>
        </p:txBody>
      </p:sp>
      <p:sp>
        <p:nvSpPr>
          <p:cNvPr id="6" name="Text 3"/>
          <p:cNvSpPr/>
          <p:nvPr/>
        </p:nvSpPr>
        <p:spPr>
          <a:xfrm>
            <a:off x="685800" y="3977640"/>
            <a:ext cx="10789920" cy="365760"/>
          </a:xfrm>
          <a:prstGeom prst="rect">
            <a:avLst/>
          </a:prstGeom>
          <a:noFill/>
          <a:ln/>
        </p:spPr>
        <p:txBody>
          <a:bodyPr wrap="square" lIns="0" tIns="0" rIns="0" bIns="0" rtlCol="0" anchor="ctr"/>
          <a:lstStyle/>
          <a:p>
            <a:pPr marL="0" indent="0">
              <a:buNone/>
            </a:pPr>
            <a:r>
              <a:rPr lang="en-GB" sz="1500" b="1" dirty="0">
                <a:solidFill>
                  <a:srgbClr val="FFFFFF"/>
                </a:solidFill>
                <a:latin typeface="Arial" pitchFamily="34" charset="0"/>
                <a:ea typeface="Arial" pitchFamily="34" charset="-122"/>
                <a:cs typeface="Arial" pitchFamily="34" charset="-120"/>
              </a:rPr>
              <a:t>Tobias Zeier</a:t>
            </a:r>
            <a:r>
              <a:rPr lang="en-GB" sz="1500" dirty="0">
                <a:solidFill>
                  <a:srgbClr val="AFC2D4"/>
                </a:solidFill>
                <a:latin typeface="Arial" pitchFamily="34" charset="0"/>
                <a:ea typeface="Arial" pitchFamily="34" charset="-122"/>
                <a:cs typeface="Arial" pitchFamily="34" charset="-120"/>
              </a:rPr>
              <a:t>  ·  MSc Enterprise IT Management, University of Essex</a:t>
            </a:r>
            <a:endParaRPr lang="en-GB" sz="1500" dirty="0"/>
          </a:p>
        </p:txBody>
      </p:sp>
      <p:sp>
        <p:nvSpPr>
          <p:cNvPr id="7" name="Shape 4"/>
          <p:cNvSpPr/>
          <p:nvPr/>
        </p:nvSpPr>
        <p:spPr>
          <a:xfrm>
            <a:off x="685800" y="3794760"/>
            <a:ext cx="2011680" cy="0"/>
          </a:xfrm>
          <a:prstGeom prst="line">
            <a:avLst/>
          </a:prstGeom>
          <a:noFill/>
          <a:ln w="25400">
            <a:solidFill>
              <a:srgbClr val="D98E1F"/>
            </a:solidFill>
            <a:prstDash val="solid"/>
          </a:ln>
        </p:spPr>
        <p:txBody>
          <a:bodyPr/>
          <a:lstStyle/>
          <a:p>
            <a:endParaRPr lang="en-GB" dirty="0"/>
          </a:p>
        </p:txBody>
      </p:sp>
      <p:sp>
        <p:nvSpPr>
          <p:cNvPr id="8" name="Text 5"/>
          <p:cNvSpPr/>
          <p:nvPr/>
        </p:nvSpPr>
        <p:spPr>
          <a:xfrm>
            <a:off x="685800" y="6263640"/>
            <a:ext cx="10789920" cy="256032"/>
          </a:xfrm>
          <a:prstGeom prst="rect">
            <a:avLst/>
          </a:prstGeom>
          <a:noFill/>
          <a:ln/>
        </p:spPr>
        <p:txBody>
          <a:bodyPr wrap="square" lIns="0" tIns="0" rIns="0" bIns="0" rtlCol="0" anchor="ctr"/>
          <a:lstStyle/>
          <a:p>
            <a:pPr marL="0" indent="0">
              <a:buNone/>
            </a:pPr>
            <a:r>
              <a:rPr lang="en-GB" sz="1000" kern="0" spc="20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15 AUGUST 2026</a:t>
            </a:r>
            <a:endParaRPr lang="en-GB"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MOTIVATION</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The problem lives outside the code</a:t>
            </a:r>
            <a:endParaRPr lang="en-GB"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GB"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GB" sz="1500" dirty="0"/>
          </a:p>
          <a:p>
            <a:pPr marL="177800" indent="-177800">
              <a:lnSpc>
                <a:spcPct val="112000"/>
              </a:lnSpc>
              <a:spcAft>
                <a:spcPts val="1200"/>
              </a:spcAft>
              <a:buSzPct val="100000"/>
              <a:buChar char="•"/>
            </a:pPr>
            <a:r>
              <a:rPr lang="en-GB"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GB" sz="1500" dirty="0"/>
          </a:p>
          <a:p>
            <a:pPr marL="177800" indent="-177800">
              <a:lnSpc>
                <a:spcPct val="112000"/>
              </a:lnSpc>
              <a:spcAft>
                <a:spcPts val="1200"/>
              </a:spcAft>
              <a:buSzPct val="100000"/>
              <a:buChar char="•"/>
            </a:pPr>
            <a:r>
              <a:rPr lang="en-GB"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GB" sz="1500" dirty="0"/>
          </a:p>
        </p:txBody>
      </p:sp>
      <p:sp>
        <p:nvSpPr>
          <p:cNvPr id="5" name="Shape 3"/>
          <p:cNvSpPr/>
          <p:nvPr/>
        </p:nvSpPr>
        <p:spPr>
          <a:xfrm>
            <a:off x="6812280" y="178308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GB" dirty="0"/>
          </a:p>
        </p:txBody>
      </p:sp>
      <p:sp>
        <p:nvSpPr>
          <p:cNvPr id="6" name="Text 4"/>
          <p:cNvSpPr/>
          <p:nvPr/>
        </p:nvSpPr>
        <p:spPr>
          <a:xfrm>
            <a:off x="7040880" y="1892808"/>
            <a:ext cx="2103120" cy="502920"/>
          </a:xfrm>
          <a:prstGeom prst="rect">
            <a:avLst/>
          </a:prstGeom>
          <a:noFill/>
          <a:ln/>
        </p:spPr>
        <p:txBody>
          <a:bodyPr wrap="square" lIns="0" tIns="0" rIns="0" bIns="0" rtlCol="0" anchor="ctr"/>
          <a:lstStyle/>
          <a:p>
            <a:pPr marL="0" indent="0">
              <a:buNone/>
            </a:pPr>
            <a:r>
              <a:rPr lang="en-GB" sz="2600" b="1" dirty="0">
                <a:solidFill>
                  <a:srgbClr val="D98E1F"/>
                </a:solidFill>
                <a:latin typeface="Courier New" pitchFamily="34" charset="0"/>
                <a:ea typeface="Courier New" pitchFamily="34" charset="-122"/>
                <a:cs typeface="Courier New" pitchFamily="34" charset="-120"/>
              </a:rPr>
              <a:t>−16%</a:t>
            </a:r>
            <a:endParaRPr lang="en-GB"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r>
              <a:rPr lang="en-GB" sz="1100" dirty="0">
                <a:solidFill>
                  <a:srgbClr val="2A3F55"/>
                </a:solidFill>
                <a:latin typeface="Arial" pitchFamily="34" charset="0"/>
                <a:ea typeface="Arial" pitchFamily="34" charset="-122"/>
                <a:cs typeface="Arial" pitchFamily="34" charset="-120"/>
              </a:rPr>
              <a:t>gross return on assets per 10% more technical debt in COTS platforms (Banker, Liang and </a:t>
            </a:r>
            <a:r>
              <a:rPr lang="en-GB" sz="1100" dirty="0" err="1">
                <a:solidFill>
                  <a:srgbClr val="2A3F55"/>
                </a:solidFill>
                <a:latin typeface="Arial" pitchFamily="34" charset="0"/>
                <a:ea typeface="Arial" pitchFamily="34" charset="-122"/>
                <a:cs typeface="Arial" pitchFamily="34" charset="-120"/>
              </a:rPr>
              <a:t>Ramasubbu</a:t>
            </a:r>
            <a:r>
              <a:rPr lang="en-GB" sz="1100" dirty="0">
                <a:solidFill>
                  <a:srgbClr val="2A3F55"/>
                </a:solidFill>
                <a:latin typeface="Arial" pitchFamily="34" charset="0"/>
                <a:ea typeface="Arial" pitchFamily="34" charset="-122"/>
                <a:cs typeface="Arial" pitchFamily="34" charset="-120"/>
              </a:rPr>
              <a:t>, 2020)</a:t>
            </a:r>
            <a:endParaRPr lang="en-GB" sz="1100" dirty="0"/>
          </a:p>
        </p:txBody>
      </p:sp>
      <p:sp>
        <p:nvSpPr>
          <p:cNvPr id="8" name="Shape 6"/>
          <p:cNvSpPr/>
          <p:nvPr/>
        </p:nvSpPr>
        <p:spPr>
          <a:xfrm>
            <a:off x="6812280" y="310896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GB" dirty="0"/>
          </a:p>
        </p:txBody>
      </p:sp>
      <p:sp>
        <p:nvSpPr>
          <p:cNvPr id="9" name="Text 7"/>
          <p:cNvSpPr/>
          <p:nvPr/>
        </p:nvSpPr>
        <p:spPr>
          <a:xfrm>
            <a:off x="7040880" y="3218688"/>
            <a:ext cx="2375682" cy="502920"/>
          </a:xfrm>
          <a:prstGeom prst="rect">
            <a:avLst/>
          </a:prstGeom>
          <a:noFill/>
          <a:ln/>
        </p:spPr>
        <p:txBody>
          <a:bodyPr wrap="square" lIns="0" tIns="0" rIns="0" bIns="0" rtlCol="0" anchor="ctr"/>
          <a:lstStyle/>
          <a:p>
            <a:pPr marL="0" indent="0">
              <a:buNone/>
            </a:pPr>
            <a:r>
              <a:rPr lang="en-GB" sz="2600" b="1" dirty="0">
                <a:solidFill>
                  <a:srgbClr val="D98E1F"/>
                </a:solidFill>
                <a:latin typeface="Courier New" pitchFamily="34" charset="0"/>
                <a:ea typeface="Courier New" pitchFamily="34" charset="-122"/>
                <a:cs typeface="Courier New" pitchFamily="34" charset="-120"/>
              </a:rPr>
              <a:t>4.9× / 9.1×</a:t>
            </a:r>
            <a:endParaRPr lang="en-GB"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r>
              <a:rPr lang="en-GB" sz="1100" dirty="0">
                <a:solidFill>
                  <a:srgbClr val="2A3F55"/>
                </a:solidFill>
                <a:latin typeface="Arial" pitchFamily="34" charset="0"/>
                <a:ea typeface="Arial" pitchFamily="34" charset="-122"/>
                <a:cs typeface="Arial" pitchFamily="34" charset="-120"/>
              </a:rPr>
              <a:t>higher odds of compromise after one / three months of patch delay (Tizio, Armellini and </a:t>
            </a:r>
            <a:r>
              <a:rPr lang="en-GB" sz="1100" dirty="0" err="1">
                <a:solidFill>
                  <a:srgbClr val="2A3F55"/>
                </a:solidFill>
                <a:latin typeface="Arial" pitchFamily="34" charset="0"/>
                <a:ea typeface="Arial" pitchFamily="34" charset="-122"/>
                <a:cs typeface="Arial" pitchFamily="34" charset="-120"/>
              </a:rPr>
              <a:t>Massacci</a:t>
            </a:r>
            <a:r>
              <a:rPr lang="en-GB" sz="1100" dirty="0">
                <a:solidFill>
                  <a:srgbClr val="2A3F55"/>
                </a:solidFill>
                <a:latin typeface="Arial" pitchFamily="34" charset="0"/>
                <a:ea typeface="Arial" pitchFamily="34" charset="-122"/>
                <a:cs typeface="Arial" pitchFamily="34" charset="-120"/>
              </a:rPr>
              <a:t>, 2023)</a:t>
            </a:r>
            <a:endParaRPr lang="en-GB" sz="1100" dirty="0"/>
          </a:p>
        </p:txBody>
      </p:sp>
      <p:sp>
        <p:nvSpPr>
          <p:cNvPr id="11" name="Shape 9"/>
          <p:cNvSpPr/>
          <p:nvPr/>
        </p:nvSpPr>
        <p:spPr>
          <a:xfrm>
            <a:off x="6812280" y="4434840"/>
            <a:ext cx="4663440" cy="1170432"/>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GB" dirty="0"/>
          </a:p>
        </p:txBody>
      </p:sp>
      <p:sp>
        <p:nvSpPr>
          <p:cNvPr id="12" name="Text 10"/>
          <p:cNvSpPr/>
          <p:nvPr/>
        </p:nvSpPr>
        <p:spPr>
          <a:xfrm>
            <a:off x="7040880" y="4544568"/>
            <a:ext cx="2103120" cy="502920"/>
          </a:xfrm>
          <a:prstGeom prst="rect">
            <a:avLst/>
          </a:prstGeom>
          <a:noFill/>
          <a:ln/>
        </p:spPr>
        <p:txBody>
          <a:bodyPr wrap="square" lIns="0" tIns="0" rIns="0" bIns="0" rtlCol="0" anchor="ctr"/>
          <a:lstStyle/>
          <a:p>
            <a:pPr marL="0" indent="0">
              <a:buNone/>
            </a:pPr>
            <a:r>
              <a:rPr lang="en-GB" sz="2600" b="1" dirty="0">
                <a:solidFill>
                  <a:srgbClr val="1E7F82"/>
                </a:solidFill>
                <a:latin typeface="Courier New" pitchFamily="34" charset="0"/>
                <a:ea typeface="Courier New" pitchFamily="34" charset="-122"/>
                <a:cs typeface="Courier New" pitchFamily="34" charset="-120"/>
              </a:rPr>
              <a:t>−84%</a:t>
            </a:r>
            <a:endParaRPr lang="en-GB"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marL="0" indent="0">
              <a:buNone/>
            </a:pPr>
            <a:r>
              <a:rPr lang="en-GB" sz="1100" dirty="0">
                <a:solidFill>
                  <a:srgbClr val="2A3F55"/>
                </a:solidFill>
                <a:latin typeface="Arial" pitchFamily="34" charset="0"/>
                <a:ea typeface="Arial" pitchFamily="34" charset="-122"/>
                <a:cs typeface="Arial" pitchFamily="34" charset="-120"/>
              </a:rPr>
              <a:t>incidents after targeted architectural debt repayment (de Toledo </a:t>
            </a:r>
            <a:r>
              <a:rPr lang="en-GB" sz="1100" i="1" dirty="0">
                <a:solidFill>
                  <a:srgbClr val="2A3F55"/>
                </a:solidFill>
                <a:latin typeface="Arial" pitchFamily="34" charset="0"/>
                <a:ea typeface="Arial" pitchFamily="34" charset="-122"/>
                <a:cs typeface="Arial" pitchFamily="34" charset="-120"/>
              </a:rPr>
              <a:t>et al.</a:t>
            </a:r>
            <a:r>
              <a:rPr lang="en-GB" sz="1100" dirty="0">
                <a:solidFill>
                  <a:srgbClr val="2A3F55"/>
                </a:solidFill>
                <a:latin typeface="Arial" pitchFamily="34" charset="0"/>
                <a:ea typeface="Arial" pitchFamily="34" charset="-122"/>
                <a:cs typeface="Arial" pitchFamily="34" charset="-120"/>
              </a:rPr>
              <a:t>, 2021)</a:t>
            </a:r>
            <a:endParaRPr lang="en-GB" sz="1100" dirty="0"/>
          </a:p>
        </p:txBody>
      </p:sp>
      <p:sp>
        <p:nvSpPr>
          <p:cNvPr id="14" name="Shape 12"/>
          <p:cNvSpPr/>
          <p:nvPr/>
        </p:nvSpPr>
        <p:spPr>
          <a:xfrm>
            <a:off x="685800" y="5806440"/>
            <a:ext cx="10789920" cy="713232"/>
          </a:xfrm>
          <a:prstGeom prst="rect">
            <a:avLst/>
          </a:prstGeom>
          <a:solidFill>
            <a:srgbClr val="F2F7F6"/>
          </a:solidFill>
          <a:ln/>
        </p:spPr>
        <p:txBody>
          <a:bodyPr/>
          <a:lstStyle/>
          <a:p>
            <a:endParaRPr lang="en-GB" dirty="0"/>
          </a:p>
        </p:txBody>
      </p:sp>
      <p:sp>
        <p:nvSpPr>
          <p:cNvPr id="15" name="Text 13"/>
          <p:cNvSpPr/>
          <p:nvPr/>
        </p:nvSpPr>
        <p:spPr>
          <a:xfrm>
            <a:off x="886968" y="5879592"/>
            <a:ext cx="53949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6" name="Text 14"/>
          <p:cNvSpPr/>
          <p:nvPr/>
        </p:nvSpPr>
        <p:spPr>
          <a:xfrm>
            <a:off x="886967" y="6080760"/>
            <a:ext cx="9145055"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GB"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RESEARCH QUESTIONS · CHAPTERS 1–2</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The gap and the research questions</a:t>
            </a:r>
            <a:endParaRPr lang="en-GB"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marL="0" indent="0">
              <a:lnSpc>
                <a:spcPct val="115000"/>
              </a:lnSpc>
              <a:buNone/>
            </a:pPr>
            <a:r>
              <a:rPr lang="en-GB"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a:t>
            </a:r>
            <a:r>
              <a:rPr lang="en-GB" sz="1500" i="1" dirty="0">
                <a:solidFill>
                  <a:srgbClr val="14283C"/>
                </a:solidFill>
                <a:latin typeface="Arial" pitchFamily="34" charset="0"/>
                <a:ea typeface="Arial" pitchFamily="34" charset="-122"/>
                <a:cs typeface="Arial" pitchFamily="34" charset="-120"/>
              </a:rPr>
              <a:t>et al.</a:t>
            </a:r>
            <a:r>
              <a:rPr lang="en-GB" sz="1500" dirty="0">
                <a:solidFill>
                  <a:srgbClr val="14283C"/>
                </a:solidFill>
                <a:latin typeface="Arial" pitchFamily="34" charset="0"/>
                <a:ea typeface="Arial" pitchFamily="34" charset="-122"/>
                <a:cs typeface="Arial" pitchFamily="34" charset="-120"/>
              </a:rPr>
              <a:t>, 2021). </a:t>
            </a:r>
            <a:r>
              <a:rPr lang="en-GB" sz="1500" b="1" dirty="0">
                <a:solidFill>
                  <a:srgbClr val="14283C"/>
                </a:solidFill>
                <a:latin typeface="Arial" pitchFamily="34" charset="0"/>
                <a:ea typeface="Arial" pitchFamily="34" charset="-122"/>
                <a:cs typeface="Arial" pitchFamily="34" charset="-120"/>
              </a:rPr>
              <a:t>No reviewed study combines</a:t>
            </a:r>
            <a:r>
              <a:rPr lang="en-GB"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GB" sz="1500" dirty="0"/>
          </a:p>
        </p:txBody>
      </p:sp>
      <p:sp>
        <p:nvSpPr>
          <p:cNvPr id="5" name="Shape 3"/>
          <p:cNvSpPr/>
          <p:nvPr/>
        </p:nvSpPr>
        <p:spPr>
          <a:xfrm>
            <a:off x="685800" y="2880360"/>
            <a:ext cx="10789920" cy="868680"/>
          </a:xfrm>
          <a:prstGeom prst="rect">
            <a:avLst/>
          </a:prstGeom>
          <a:solidFill>
            <a:srgbClr val="F7F9FA"/>
          </a:solidFill>
          <a:ln/>
        </p:spPr>
        <p:txBody>
          <a:bodyPr/>
          <a:lstStyle/>
          <a:p>
            <a:endParaRPr lang="en-GB" dirty="0"/>
          </a:p>
        </p:txBody>
      </p:sp>
      <p:sp>
        <p:nvSpPr>
          <p:cNvPr id="6" name="Text 4"/>
          <p:cNvSpPr/>
          <p:nvPr/>
        </p:nvSpPr>
        <p:spPr>
          <a:xfrm>
            <a:off x="914400" y="3044952"/>
            <a:ext cx="822960" cy="548640"/>
          </a:xfrm>
          <a:prstGeom prst="rect">
            <a:avLst/>
          </a:prstGeom>
          <a:noFill/>
          <a:ln/>
        </p:spPr>
        <p:txBody>
          <a:bodyPr wrap="square" lIns="0" tIns="0" rIns="0" bIns="0" rtlCol="0" anchor="ctr"/>
          <a:lstStyle/>
          <a:p>
            <a:pPr marL="0" indent="0">
              <a:buNone/>
            </a:pPr>
            <a:r>
              <a:rPr lang="en-GB" sz="1800" b="1" dirty="0">
                <a:solidFill>
                  <a:srgbClr val="D98E1F"/>
                </a:solidFill>
                <a:latin typeface="Courier New" pitchFamily="34" charset="0"/>
                <a:ea typeface="Courier New" pitchFamily="34" charset="-122"/>
                <a:cs typeface="Courier New" pitchFamily="34" charset="-120"/>
              </a:rPr>
              <a:t>RQ1</a:t>
            </a:r>
            <a:endParaRPr lang="en-GB"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marL="0" indent="0">
              <a:buNone/>
            </a:pPr>
            <a:r>
              <a:rPr lang="en-GB" sz="140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GB" sz="1400" dirty="0"/>
          </a:p>
        </p:txBody>
      </p:sp>
      <p:sp>
        <p:nvSpPr>
          <p:cNvPr id="8" name="Shape 6"/>
          <p:cNvSpPr/>
          <p:nvPr/>
        </p:nvSpPr>
        <p:spPr>
          <a:xfrm>
            <a:off x="685800" y="3904488"/>
            <a:ext cx="10789920" cy="868680"/>
          </a:xfrm>
          <a:prstGeom prst="rect">
            <a:avLst/>
          </a:prstGeom>
          <a:solidFill>
            <a:srgbClr val="FBF4E8"/>
          </a:solidFill>
          <a:ln/>
        </p:spPr>
        <p:txBody>
          <a:bodyPr/>
          <a:lstStyle/>
          <a:p>
            <a:endParaRPr lang="en-GB" dirty="0"/>
          </a:p>
        </p:txBody>
      </p:sp>
      <p:sp>
        <p:nvSpPr>
          <p:cNvPr id="9" name="Text 7"/>
          <p:cNvSpPr/>
          <p:nvPr/>
        </p:nvSpPr>
        <p:spPr>
          <a:xfrm>
            <a:off x="914400" y="4069080"/>
            <a:ext cx="822960" cy="548640"/>
          </a:xfrm>
          <a:prstGeom prst="rect">
            <a:avLst/>
          </a:prstGeom>
          <a:noFill/>
          <a:ln/>
        </p:spPr>
        <p:txBody>
          <a:bodyPr wrap="square" lIns="0" tIns="0" rIns="0" bIns="0" rtlCol="0" anchor="ctr"/>
          <a:lstStyle/>
          <a:p>
            <a:pPr marL="0" indent="0">
              <a:buNone/>
            </a:pPr>
            <a:r>
              <a:rPr lang="en-GB" sz="1800" b="1" dirty="0">
                <a:solidFill>
                  <a:srgbClr val="D98E1F"/>
                </a:solidFill>
                <a:latin typeface="Courier New" pitchFamily="34" charset="0"/>
                <a:ea typeface="Courier New" pitchFamily="34" charset="-122"/>
                <a:cs typeface="Courier New" pitchFamily="34" charset="-120"/>
              </a:rPr>
              <a:t>RQ2</a:t>
            </a:r>
            <a:endParaRPr lang="en-GB"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marL="0" indent="0">
              <a:buNone/>
            </a:pPr>
            <a:r>
              <a:rPr lang="en-GB" sz="140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GB" sz="1400" dirty="0"/>
          </a:p>
        </p:txBody>
      </p:sp>
      <p:sp>
        <p:nvSpPr>
          <p:cNvPr id="11" name="Shape 9"/>
          <p:cNvSpPr/>
          <p:nvPr/>
        </p:nvSpPr>
        <p:spPr>
          <a:xfrm>
            <a:off x="685800" y="4928616"/>
            <a:ext cx="10789920" cy="868680"/>
          </a:xfrm>
          <a:prstGeom prst="rect">
            <a:avLst/>
          </a:prstGeom>
          <a:solidFill>
            <a:srgbClr val="F7F9FA"/>
          </a:solidFill>
          <a:ln/>
        </p:spPr>
        <p:txBody>
          <a:bodyPr/>
          <a:lstStyle/>
          <a:p>
            <a:endParaRPr lang="en-GB" dirty="0"/>
          </a:p>
        </p:txBody>
      </p:sp>
      <p:sp>
        <p:nvSpPr>
          <p:cNvPr id="12" name="Text 10"/>
          <p:cNvSpPr/>
          <p:nvPr/>
        </p:nvSpPr>
        <p:spPr>
          <a:xfrm>
            <a:off x="914400" y="5093208"/>
            <a:ext cx="822960" cy="548640"/>
          </a:xfrm>
          <a:prstGeom prst="rect">
            <a:avLst/>
          </a:prstGeom>
          <a:noFill/>
          <a:ln/>
        </p:spPr>
        <p:txBody>
          <a:bodyPr wrap="square" lIns="0" tIns="0" rIns="0" bIns="0" rtlCol="0" anchor="ctr"/>
          <a:lstStyle/>
          <a:p>
            <a:pPr marL="0" indent="0">
              <a:buNone/>
            </a:pPr>
            <a:r>
              <a:rPr lang="en-GB" sz="1800" b="1" dirty="0">
                <a:solidFill>
                  <a:srgbClr val="D98E1F"/>
                </a:solidFill>
                <a:latin typeface="Courier New" pitchFamily="34" charset="0"/>
                <a:ea typeface="Courier New" pitchFamily="34" charset="-122"/>
                <a:cs typeface="Courier New" pitchFamily="34" charset="-120"/>
              </a:rPr>
              <a:t>RQ3</a:t>
            </a:r>
            <a:endParaRPr lang="en-GB"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marL="0" indent="0">
              <a:buNone/>
            </a:pPr>
            <a:r>
              <a:rPr lang="en-GB" sz="140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GB"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METHOD · DESIGN SCIENCE RESEARCH</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Five indicators, one auditable instrument</a:t>
            </a:r>
            <a:endParaRPr lang="en-GB"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marL="0" indent="0">
              <a:buNone/>
            </a:pPr>
            <a:r>
              <a:rPr lang="en-GB" sz="1500" dirty="0">
                <a:solidFill>
                  <a:srgbClr val="2A3F55"/>
                </a:solidFill>
                <a:latin typeface="Arial" pitchFamily="34" charset="0"/>
                <a:ea typeface="Arial" pitchFamily="34" charset="-122"/>
                <a:cs typeface="Arial" pitchFamily="34" charset="-120"/>
              </a:rPr>
              <a:t>DSR (Hevner </a:t>
            </a:r>
            <a:r>
              <a:rPr lang="en-GB" sz="1500" i="1" dirty="0">
                <a:solidFill>
                  <a:srgbClr val="2A3F55"/>
                </a:solidFill>
                <a:latin typeface="Arial" pitchFamily="34" charset="0"/>
                <a:ea typeface="Arial" pitchFamily="34" charset="-122"/>
                <a:cs typeface="Arial" pitchFamily="34" charset="-120"/>
              </a:rPr>
              <a:t>et al.</a:t>
            </a:r>
            <a:r>
              <a:rPr lang="en-GB" sz="1500" dirty="0">
                <a:solidFill>
                  <a:srgbClr val="2A3F55"/>
                </a:solidFill>
                <a:latin typeface="Arial" pitchFamily="34" charset="0"/>
                <a:ea typeface="Arial" pitchFamily="34" charset="-122"/>
                <a:cs typeface="Arial" pitchFamily="34" charset="-120"/>
              </a:rPr>
              <a:t>, 2004) · single-organisation embedded case study · unit of analysis: the IT service as a configuration item</a:t>
            </a:r>
            <a:endParaRPr lang="en-GB" sz="1500" dirty="0"/>
          </a:p>
        </p:txBody>
      </p:sp>
      <p:graphicFrame>
        <p:nvGraphicFramePr>
          <p:cNvPr id="5" name="Table 0"/>
          <p:cNvGraphicFramePr>
            <a:graphicFrameLocks noGrp="1"/>
          </p:cNvGraphicFramePr>
          <p:nvPr>
            <p:extLst>
              <p:ext uri="{D42A27DB-BD31-4B8C-83A1-F6EECF244321}">
                <p14:modId xmlns:p14="http://schemas.microsoft.com/office/powerpoint/2010/main" val="4203699828"/>
              </p:ext>
            </p:extLst>
          </p:nvPr>
        </p:nvGraphicFramePr>
        <p:xfrm>
          <a:off x="685800" y="2286000"/>
          <a:ext cx="10789920" cy="2743200"/>
        </p:xfrm>
        <a:graphic>
          <a:graphicData uri="http://schemas.openxmlformats.org/drawingml/2006/table">
            <a:tbl>
              <a:tblPr/>
              <a:tblGrid>
                <a:gridCol w="42062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57200">
                <a:tc>
                  <a:txBody>
                    <a:bodyPr/>
                    <a:lstStyle/>
                    <a:p>
                      <a:pPr marL="0" indent="0">
                        <a:buNone/>
                      </a:pPr>
                      <a:r>
                        <a:rPr lang="en-GB" sz="1400" b="1" dirty="0">
                          <a:solidFill>
                            <a:srgbClr val="14283C"/>
                          </a:solidFill>
                          <a:latin typeface="Arial" pitchFamily="34" charset="0"/>
                          <a:ea typeface="Arial" pitchFamily="34" charset="-122"/>
                          <a:cs typeface="Arial" pitchFamily="34" charset="-120"/>
                        </a:rPr>
                        <a:t>INDICATOR</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b="1" dirty="0">
                          <a:solidFill>
                            <a:srgbClr val="14283C"/>
                          </a:solidFill>
                          <a:latin typeface="Arial" pitchFamily="34" charset="0"/>
                          <a:ea typeface="Arial" pitchFamily="34" charset="-122"/>
                          <a:cs typeface="Arial" pitchFamily="34" charset="-120"/>
                        </a:rPr>
                        <a:t>SOURCE</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b="1" dirty="0">
                          <a:solidFill>
                            <a:srgbClr val="14283C"/>
                          </a:solidFill>
                          <a:latin typeface="Arial" pitchFamily="34" charset="0"/>
                          <a:ea typeface="Arial" pitchFamily="34" charset="-122"/>
                          <a:cs typeface="Arial" pitchFamily="34" charset="-120"/>
                        </a:rPr>
                        <a:t>DEBT DIMENSION (TABLE 2.3)</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57200">
                <a:tc>
                  <a:txBody>
                    <a:bodyPr/>
                    <a:lstStyle/>
                    <a:p>
                      <a:pPr marL="0" indent="0">
                        <a:buNone/>
                      </a:pPr>
                      <a:r>
                        <a:rPr lang="en-GB" sz="1400" dirty="0">
                          <a:solidFill>
                            <a:srgbClr val="14283C"/>
                          </a:solidFill>
                          <a:latin typeface="Arial" pitchFamily="34" charset="0"/>
                          <a:ea typeface="Arial" pitchFamily="34" charset="-122"/>
                          <a:cs typeface="Arial" pitchFamily="34" charset="-120"/>
                        </a:rPr>
                        <a:t>Incident frequency</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ITSM</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Architectural</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GB" sz="1400" dirty="0">
                          <a:solidFill>
                            <a:srgbClr val="14283C"/>
                          </a:solidFill>
                          <a:latin typeface="Arial" pitchFamily="34" charset="0"/>
                          <a:ea typeface="Arial" pitchFamily="34" charset="-122"/>
                          <a:cs typeface="Arial" pitchFamily="34" charset="-120"/>
                        </a:rPr>
                        <a:t>Mean time to restore (MTTR)</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ITSM</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Infrastructure / platform</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GB" sz="1400" dirty="0">
                          <a:solidFill>
                            <a:srgbClr val="14283C"/>
                          </a:solidFill>
                          <a:latin typeface="Arial" pitchFamily="34" charset="0"/>
                          <a:ea typeface="Arial" pitchFamily="34" charset="-122"/>
                          <a:cs typeface="Arial" pitchFamily="34" charset="-120"/>
                        </a:rPr>
                        <a:t>Change failure rate (CFR)</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ITSM</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Process</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GB" sz="1400" dirty="0">
                          <a:solidFill>
                            <a:srgbClr val="14283C"/>
                          </a:solidFill>
                          <a:latin typeface="Arial" pitchFamily="34" charset="0"/>
                          <a:ea typeface="Arial" pitchFamily="34" charset="-122"/>
                          <a:cs typeface="Arial" pitchFamily="34" charset="-120"/>
                        </a:rPr>
                        <a:t>Patch recency</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CMDB</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Vulnerability</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GB" sz="1400" dirty="0">
                          <a:solidFill>
                            <a:srgbClr val="14283C"/>
                          </a:solidFill>
                          <a:latin typeface="Arial" pitchFamily="34" charset="0"/>
                          <a:ea typeface="Arial" pitchFamily="34" charset="-122"/>
                          <a:cs typeface="Arial" pitchFamily="34" charset="-120"/>
                        </a:rPr>
                        <a:t>Unsupported component months</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CMDB</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Infrastructure lifecycle</a:t>
                      </a:r>
                      <a:endParaRPr lang="en-GB" sz="1400" dirty="0">
                        <a:latin typeface="Arial" charset="0"/>
                        <a:ea typeface="Arial" charset="0"/>
                        <a:cs typeface="Arial" charset="0"/>
                      </a:endParaRPr>
                    </a:p>
                  </a:txBody>
                  <a:tcPr marL="54864" marR="54864" marT="54864" marB="54864"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marL="0" indent="0">
              <a:buNone/>
            </a:pPr>
            <a:r>
              <a:rPr lang="en-GB"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GB"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METHOD · TOPSIS</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From records to ranking</a:t>
            </a:r>
            <a:endParaRPr lang="en-GB"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Pipeline</a:t>
            </a:r>
            <a:endParaRPr lang="en-GB" sz="1600" dirty="0"/>
          </a:p>
        </p:txBody>
      </p:sp>
      <p:sp>
        <p:nvSpPr>
          <p:cNvPr id="5" name="Shape 3"/>
          <p:cNvSpPr/>
          <p:nvPr/>
        </p:nvSpPr>
        <p:spPr>
          <a:xfrm>
            <a:off x="685800" y="2267712"/>
            <a:ext cx="384048" cy="384048"/>
          </a:xfrm>
          <a:prstGeom prst="ellipse">
            <a:avLst/>
          </a:prstGeom>
          <a:solidFill>
            <a:srgbClr val="14283C"/>
          </a:solidFill>
          <a:ln/>
        </p:spPr>
        <p:txBody>
          <a:bodyPr/>
          <a:lstStyle/>
          <a:p>
            <a:endParaRPr lang="en-GB" dirty="0"/>
          </a:p>
        </p:txBody>
      </p:sp>
      <p:sp>
        <p:nvSpPr>
          <p:cNvPr id="6" name="Text 4"/>
          <p:cNvSpPr/>
          <p:nvPr/>
        </p:nvSpPr>
        <p:spPr>
          <a:xfrm>
            <a:off x="685800" y="2267712"/>
            <a:ext cx="384048" cy="384048"/>
          </a:xfrm>
          <a:prstGeom prst="rect">
            <a:avLst/>
          </a:prstGeom>
          <a:noFill/>
          <a:ln/>
        </p:spPr>
        <p:txBody>
          <a:bodyPr wrap="square" lIns="0" tIns="0" rIns="0" bIns="0" rtlCol="0" anchor="ctr"/>
          <a:lstStyle/>
          <a:p>
            <a:pPr marL="0" indent="0" algn="ctr">
              <a:buNone/>
            </a:pPr>
            <a:r>
              <a:rPr lang="en-GB" sz="1400" b="1" dirty="0">
                <a:solidFill>
                  <a:srgbClr val="FFFFFF"/>
                </a:solidFill>
                <a:latin typeface="Courier New" pitchFamily="34" charset="0"/>
                <a:ea typeface="Courier New" pitchFamily="34" charset="-122"/>
                <a:cs typeface="Courier New" pitchFamily="34" charset="-120"/>
              </a:rPr>
              <a:t>1</a:t>
            </a:r>
            <a:endParaRPr lang="en-GB"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Extract indicators from live ITSM / CMDB records</a:t>
            </a:r>
            <a:endParaRPr lang="en-GB" sz="1500" dirty="0"/>
          </a:p>
        </p:txBody>
      </p:sp>
      <p:sp>
        <p:nvSpPr>
          <p:cNvPr id="8" name="Shape 6"/>
          <p:cNvSpPr/>
          <p:nvPr/>
        </p:nvSpPr>
        <p:spPr>
          <a:xfrm>
            <a:off x="685800" y="2980944"/>
            <a:ext cx="384048" cy="384048"/>
          </a:xfrm>
          <a:prstGeom prst="ellipse">
            <a:avLst/>
          </a:prstGeom>
          <a:solidFill>
            <a:srgbClr val="14283C"/>
          </a:solidFill>
          <a:ln/>
        </p:spPr>
        <p:txBody>
          <a:bodyPr/>
          <a:lstStyle/>
          <a:p>
            <a:endParaRPr lang="en-GB" dirty="0"/>
          </a:p>
        </p:txBody>
      </p:sp>
      <p:sp>
        <p:nvSpPr>
          <p:cNvPr id="9" name="Text 7"/>
          <p:cNvSpPr/>
          <p:nvPr/>
        </p:nvSpPr>
        <p:spPr>
          <a:xfrm>
            <a:off x="685800" y="2980944"/>
            <a:ext cx="384048" cy="384048"/>
          </a:xfrm>
          <a:prstGeom prst="rect">
            <a:avLst/>
          </a:prstGeom>
          <a:noFill/>
          <a:ln/>
        </p:spPr>
        <p:txBody>
          <a:bodyPr wrap="square" lIns="0" tIns="0" rIns="0" bIns="0" rtlCol="0" anchor="ctr"/>
          <a:lstStyle/>
          <a:p>
            <a:pPr marL="0" indent="0" algn="ctr">
              <a:buNone/>
            </a:pPr>
            <a:r>
              <a:rPr lang="en-GB" sz="1400" b="1" dirty="0">
                <a:solidFill>
                  <a:srgbClr val="FFFFFF"/>
                </a:solidFill>
                <a:latin typeface="Courier New" pitchFamily="34" charset="0"/>
                <a:ea typeface="Courier New" pitchFamily="34" charset="-122"/>
                <a:cs typeface="Courier New" pitchFamily="34" charset="-120"/>
              </a:rPr>
              <a:t>2</a:t>
            </a:r>
            <a:endParaRPr lang="en-GB"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Vector normalisation (preserves extreme observations)</a:t>
            </a:r>
            <a:endParaRPr lang="en-GB" sz="1500" dirty="0"/>
          </a:p>
        </p:txBody>
      </p:sp>
      <p:sp>
        <p:nvSpPr>
          <p:cNvPr id="11" name="Shape 9"/>
          <p:cNvSpPr/>
          <p:nvPr/>
        </p:nvSpPr>
        <p:spPr>
          <a:xfrm>
            <a:off x="685800" y="3694176"/>
            <a:ext cx="384048" cy="384048"/>
          </a:xfrm>
          <a:prstGeom prst="ellipse">
            <a:avLst/>
          </a:prstGeom>
          <a:solidFill>
            <a:srgbClr val="14283C"/>
          </a:solidFill>
          <a:ln/>
        </p:spPr>
        <p:txBody>
          <a:bodyPr/>
          <a:lstStyle/>
          <a:p>
            <a:endParaRPr lang="en-GB" dirty="0"/>
          </a:p>
        </p:txBody>
      </p:sp>
      <p:sp>
        <p:nvSpPr>
          <p:cNvPr id="12" name="Text 10"/>
          <p:cNvSpPr/>
          <p:nvPr/>
        </p:nvSpPr>
        <p:spPr>
          <a:xfrm>
            <a:off x="685800" y="3694176"/>
            <a:ext cx="384048" cy="384048"/>
          </a:xfrm>
          <a:prstGeom prst="rect">
            <a:avLst/>
          </a:prstGeom>
          <a:noFill/>
          <a:ln/>
        </p:spPr>
        <p:txBody>
          <a:bodyPr wrap="square" lIns="0" tIns="0" rIns="0" bIns="0" rtlCol="0" anchor="ctr"/>
          <a:lstStyle/>
          <a:p>
            <a:pPr marL="0" indent="0" algn="ctr">
              <a:buNone/>
            </a:pPr>
            <a:r>
              <a:rPr lang="en-GB" sz="1400" b="1" dirty="0">
                <a:solidFill>
                  <a:srgbClr val="FFFFFF"/>
                </a:solidFill>
                <a:latin typeface="Courier New" pitchFamily="34" charset="0"/>
                <a:ea typeface="Courier New" pitchFamily="34" charset="-122"/>
                <a:cs typeface="Courier New" pitchFamily="34" charset="-120"/>
              </a:rPr>
              <a:t>3</a:t>
            </a:r>
            <a:endParaRPr lang="en-GB"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Weighting: equal (0.20 each) and differential (0.30 MTTR &amp; patch recency)</a:t>
            </a:r>
            <a:endParaRPr lang="en-GB" sz="1500" dirty="0"/>
          </a:p>
        </p:txBody>
      </p:sp>
      <p:sp>
        <p:nvSpPr>
          <p:cNvPr id="14" name="Shape 12"/>
          <p:cNvSpPr/>
          <p:nvPr/>
        </p:nvSpPr>
        <p:spPr>
          <a:xfrm>
            <a:off x="685800" y="4407408"/>
            <a:ext cx="384048" cy="384048"/>
          </a:xfrm>
          <a:prstGeom prst="ellipse">
            <a:avLst/>
          </a:prstGeom>
          <a:solidFill>
            <a:srgbClr val="D98E1F"/>
          </a:solidFill>
          <a:ln/>
        </p:spPr>
        <p:txBody>
          <a:bodyPr/>
          <a:lstStyle/>
          <a:p>
            <a:endParaRPr lang="en-GB" dirty="0"/>
          </a:p>
        </p:txBody>
      </p:sp>
      <p:sp>
        <p:nvSpPr>
          <p:cNvPr id="15" name="Text 13"/>
          <p:cNvSpPr/>
          <p:nvPr/>
        </p:nvSpPr>
        <p:spPr>
          <a:xfrm>
            <a:off x="685800" y="4407408"/>
            <a:ext cx="384048" cy="384048"/>
          </a:xfrm>
          <a:prstGeom prst="rect">
            <a:avLst/>
          </a:prstGeom>
          <a:noFill/>
          <a:ln/>
        </p:spPr>
        <p:txBody>
          <a:bodyPr wrap="square" lIns="0" tIns="0" rIns="0" bIns="0" rtlCol="0" anchor="ctr"/>
          <a:lstStyle/>
          <a:p>
            <a:pPr marL="0" indent="0" algn="ctr">
              <a:buNone/>
            </a:pPr>
            <a:r>
              <a:rPr lang="en-GB" sz="1400" b="1" dirty="0">
                <a:solidFill>
                  <a:srgbClr val="FFFFFF"/>
                </a:solidFill>
                <a:latin typeface="Courier New" pitchFamily="34" charset="0"/>
                <a:ea typeface="Courier New" pitchFamily="34" charset="-122"/>
                <a:cs typeface="Courier New" pitchFamily="34" charset="-120"/>
              </a:rPr>
              <a:t>4</a:t>
            </a:r>
            <a:endParaRPr lang="en-GB"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TOPSIS closeness coefficient Ci ∈ [0, 1]</a:t>
            </a:r>
            <a:endParaRPr lang="en-GB" sz="1500" dirty="0"/>
          </a:p>
        </p:txBody>
      </p:sp>
      <p:sp>
        <p:nvSpPr>
          <p:cNvPr id="17" name="Shape 15"/>
          <p:cNvSpPr/>
          <p:nvPr/>
        </p:nvSpPr>
        <p:spPr>
          <a:xfrm>
            <a:off x="685800" y="5120640"/>
            <a:ext cx="384048" cy="384048"/>
          </a:xfrm>
          <a:prstGeom prst="ellipse">
            <a:avLst/>
          </a:prstGeom>
          <a:solidFill>
            <a:srgbClr val="14283C"/>
          </a:solidFill>
          <a:ln/>
        </p:spPr>
        <p:txBody>
          <a:bodyPr/>
          <a:lstStyle/>
          <a:p>
            <a:endParaRPr lang="en-GB" dirty="0"/>
          </a:p>
        </p:txBody>
      </p:sp>
      <p:sp>
        <p:nvSpPr>
          <p:cNvPr id="18" name="Text 16"/>
          <p:cNvSpPr/>
          <p:nvPr/>
        </p:nvSpPr>
        <p:spPr>
          <a:xfrm>
            <a:off x="685800" y="5120640"/>
            <a:ext cx="384048" cy="384048"/>
          </a:xfrm>
          <a:prstGeom prst="rect">
            <a:avLst/>
          </a:prstGeom>
          <a:noFill/>
          <a:ln/>
        </p:spPr>
        <p:txBody>
          <a:bodyPr wrap="square" lIns="0" tIns="0" rIns="0" bIns="0" rtlCol="0" anchor="ctr"/>
          <a:lstStyle/>
          <a:p>
            <a:pPr marL="0" indent="0" algn="ctr">
              <a:buNone/>
            </a:pPr>
            <a:r>
              <a:rPr lang="en-GB" sz="1400" b="1" dirty="0">
                <a:solidFill>
                  <a:srgbClr val="FFFFFF"/>
                </a:solidFill>
                <a:latin typeface="Courier New" pitchFamily="34" charset="0"/>
                <a:ea typeface="Courier New" pitchFamily="34" charset="-122"/>
                <a:cs typeface="Courier New" pitchFamily="34" charset="-120"/>
              </a:rPr>
              <a:t>5</a:t>
            </a:r>
            <a:endParaRPr lang="en-GB"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Rank: lowest Ci = highest debt priority</a:t>
            </a:r>
            <a:endParaRPr lang="en-GB" sz="150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Why TOPSIS</a:t>
            </a:r>
            <a:endParaRPr lang="en-GB"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GB" sz="1500" dirty="0"/>
          </a:p>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Produces a full ranking, unlike VIKOR's compromise set or AHP alone</a:t>
            </a:r>
            <a:endParaRPr lang="en-GB" sz="1500" dirty="0"/>
          </a:p>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Precedent: </a:t>
            </a:r>
            <a:r>
              <a:rPr lang="en-GB" sz="1500" dirty="0" err="1">
                <a:solidFill>
                  <a:srgbClr val="14283C"/>
                </a:solidFill>
                <a:latin typeface="Arial" pitchFamily="34" charset="0"/>
                <a:ea typeface="Arial" pitchFamily="34" charset="-122"/>
                <a:cs typeface="Arial" pitchFamily="34" charset="-120"/>
              </a:rPr>
              <a:t>Albarak</a:t>
            </a:r>
            <a:r>
              <a:rPr lang="en-GB" sz="1500" dirty="0">
                <a:solidFill>
                  <a:srgbClr val="14283C"/>
                </a:solidFill>
                <a:latin typeface="Arial" pitchFamily="34" charset="0"/>
                <a:ea typeface="Arial" pitchFamily="34" charset="-122"/>
                <a:cs typeface="Arial" pitchFamily="34" charset="-120"/>
              </a:rPr>
              <a:t> </a:t>
            </a:r>
            <a:r>
              <a:rPr lang="en-GB" sz="1500" i="1" dirty="0">
                <a:solidFill>
                  <a:srgbClr val="14283C"/>
                </a:solidFill>
                <a:latin typeface="Arial" pitchFamily="34" charset="0"/>
                <a:ea typeface="Arial" pitchFamily="34" charset="-122"/>
                <a:cs typeface="Arial" pitchFamily="34" charset="-120"/>
              </a:rPr>
              <a:t>et al.</a:t>
            </a:r>
            <a:r>
              <a:rPr lang="en-GB" sz="1500" dirty="0">
                <a:solidFill>
                  <a:srgbClr val="14283C"/>
                </a:solidFill>
                <a:latin typeface="Arial" pitchFamily="34" charset="0"/>
                <a:ea typeface="Arial" pitchFamily="34" charset="-122"/>
                <a:cs typeface="Arial" pitchFamily="34" charset="-120"/>
              </a:rPr>
              <a:t> (2022) for TD, but on controlled data</a:t>
            </a:r>
            <a:endParaRPr lang="en-GB" sz="1500" dirty="0"/>
          </a:p>
          <a:p>
            <a:pPr marL="177800" indent="-177800">
              <a:lnSpc>
                <a:spcPct val="112000"/>
              </a:lnSpc>
              <a:spcAft>
                <a:spcPts val="1000"/>
              </a:spcAft>
              <a:buSzPct val="100000"/>
              <a:buChar char="•"/>
            </a:pPr>
            <a:r>
              <a:rPr lang="en-GB" sz="150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GB" sz="1500" dirty="0"/>
          </a:p>
        </p:txBody>
      </p:sp>
      <p:sp>
        <p:nvSpPr>
          <p:cNvPr id="22" name="Shape 20"/>
          <p:cNvSpPr/>
          <p:nvPr/>
        </p:nvSpPr>
        <p:spPr>
          <a:xfrm>
            <a:off x="685800" y="5806440"/>
            <a:ext cx="10789920" cy="713232"/>
          </a:xfrm>
          <a:prstGeom prst="rect">
            <a:avLst/>
          </a:prstGeom>
          <a:solidFill>
            <a:srgbClr val="F2F7F6"/>
          </a:solidFill>
          <a:ln/>
        </p:spPr>
        <p:txBody>
          <a:bodyPr/>
          <a:lstStyle/>
          <a:p>
            <a:endParaRPr lang="en-GB" dirty="0"/>
          </a:p>
        </p:txBody>
      </p:sp>
      <p:sp>
        <p:nvSpPr>
          <p:cNvPr id="23" name="Text 21"/>
          <p:cNvSpPr/>
          <p:nvPr/>
        </p:nvSpPr>
        <p:spPr>
          <a:xfrm>
            <a:off x="886968" y="5879592"/>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GB"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DATA · CHAPTER 4</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The data, and its honest limits</a:t>
            </a:r>
            <a:endParaRPr lang="en-GB"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Dataset</a:t>
            </a:r>
            <a:endParaRPr lang="en-GB"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Portfolio of 108 services; 53 small vendor GUIs excluded; 6 selected for demonstration on data completeness over the full window</a:t>
            </a:r>
            <a:endParaRPr lang="en-GB" sz="1500" dirty="0">
              <a:latin typeface="Arial" panose="020B0604020202020204" pitchFamily="34" charset="0"/>
              <a:cs typeface="Arial" panose="020B0604020202020204" pitchFamily="34" charset="0"/>
            </a:endParaRPr>
          </a:p>
          <a:p>
            <a:pPr marL="177800" indent="-177800">
              <a:lnSpc>
                <a:spcPct val="112000"/>
              </a:lnSpc>
              <a:spcAft>
                <a:spcPts val="11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Jan 2024 – Dec 2025, production records only, anonymised at source</a:t>
            </a:r>
            <a:endParaRPr lang="en-GB" sz="1500" dirty="0">
              <a:latin typeface="Arial" panose="020B0604020202020204" pitchFamily="34" charset="0"/>
              <a:cs typeface="Arial" panose="020B0604020202020204" pitchFamily="34" charset="0"/>
            </a:endParaRPr>
          </a:p>
          <a:p>
            <a:pPr marL="177800" indent="-177800">
              <a:lnSpc>
                <a:spcPct val="112000"/>
              </a:lnSpc>
              <a:spcAft>
                <a:spcPts val="11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Quality filters: alarm-storm consolidation, &lt;0.1 h auto-closures removed, 98th percentile MTTR cap</a:t>
            </a:r>
            <a:endParaRPr lang="en-GB" sz="1500" dirty="0">
              <a:latin typeface="Arial" panose="020B0604020202020204" pitchFamily="34" charset="0"/>
              <a:cs typeface="Arial" panose="020B0604020202020204" pitchFamily="34" charset="0"/>
            </a:endParaRPr>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GB" sz="1600" b="1" dirty="0">
                <a:solidFill>
                  <a:srgbClr val="D98E1F"/>
                </a:solidFill>
                <a:latin typeface="Arial" pitchFamily="34" charset="0"/>
                <a:ea typeface="Arial" pitchFamily="34" charset="-122"/>
                <a:cs typeface="Arial" pitchFamily="34" charset="-120"/>
              </a:rPr>
              <a:t>Declared limitations</a:t>
            </a:r>
            <a:endParaRPr lang="en-GB"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Recording practices vary by team → scores are ordinal signals, not measurements</a:t>
            </a:r>
            <a:endParaRPr lang="en-GB" sz="1500" dirty="0">
              <a:latin typeface="Arial" panose="020B0604020202020204" pitchFamily="34" charset="0"/>
              <a:cs typeface="Arial" panose="020B0604020202020204" pitchFamily="34" charset="0"/>
            </a:endParaRPr>
          </a:p>
          <a:p>
            <a:pPr marL="177800" indent="-177800">
              <a:lnSpc>
                <a:spcPct val="112000"/>
              </a:lnSpc>
              <a:spcAft>
                <a:spcPts val="11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CFR shares its numerator with incident frequency (bounded by sensitivity analysis)</a:t>
            </a:r>
            <a:endParaRPr lang="en-GB" sz="1500" dirty="0">
              <a:latin typeface="Arial" panose="020B0604020202020204" pitchFamily="34" charset="0"/>
              <a:cs typeface="Arial" panose="020B0604020202020204" pitchFamily="34" charset="0"/>
            </a:endParaRPr>
          </a:p>
          <a:p>
            <a:pPr marL="177800" indent="-177800">
              <a:lnSpc>
                <a:spcPct val="112000"/>
              </a:lnSpc>
              <a:spcAft>
                <a:spcPts val="11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Demonstration set, not a portfolio ranking; the contribution is the instrument and its evaluation logic</a:t>
            </a:r>
            <a:endParaRPr lang="en-GB" sz="1500" dirty="0">
              <a:latin typeface="Arial" panose="020B0604020202020204" pitchFamily="34" charset="0"/>
              <a:cs typeface="Arial" panose="020B0604020202020204" pitchFamily="34" charset="0"/>
            </a:endParaRPr>
          </a:p>
        </p:txBody>
      </p:sp>
      <p:sp>
        <p:nvSpPr>
          <p:cNvPr id="8" name="Shape 6"/>
          <p:cNvSpPr/>
          <p:nvPr/>
        </p:nvSpPr>
        <p:spPr>
          <a:xfrm>
            <a:off x="685800" y="5806440"/>
            <a:ext cx="10789920" cy="713232"/>
          </a:xfrm>
          <a:prstGeom prst="rect">
            <a:avLst/>
          </a:prstGeom>
          <a:solidFill>
            <a:srgbClr val="F2F7F6"/>
          </a:solidFill>
          <a:ln/>
        </p:spPr>
        <p:txBody>
          <a:bodyPr/>
          <a:lstStyle/>
          <a:p>
            <a:endParaRPr lang="en-GB" dirty="0"/>
          </a:p>
        </p:txBody>
      </p:sp>
      <p:sp>
        <p:nvSpPr>
          <p:cNvPr id="9" name="Text 7"/>
          <p:cNvSpPr/>
          <p:nvPr/>
        </p:nvSpPr>
        <p:spPr>
          <a:xfrm>
            <a:off x="886968" y="5879592"/>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GB"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RESULTS · 2025, EQUAL WEIGHTS</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The priority ranking</a:t>
            </a:r>
            <a:endParaRPr lang="en-GB"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marL="0" indent="0">
              <a:buNone/>
            </a:pPr>
            <a:r>
              <a:rPr lang="en-GB" sz="1200" b="1" dirty="0">
                <a:solidFill>
                  <a:srgbClr val="14283C"/>
                </a:solidFill>
                <a:latin typeface="Courier New" pitchFamily="34" charset="0"/>
                <a:ea typeface="Courier New" pitchFamily="34" charset="-122"/>
                <a:cs typeface="Courier New" pitchFamily="34" charset="-120"/>
              </a:rPr>
              <a:t>SVC-04</a:t>
            </a:r>
            <a:endParaRPr lang="en-GB" sz="1200" dirty="0"/>
          </a:p>
        </p:txBody>
      </p:sp>
      <p:sp>
        <p:nvSpPr>
          <p:cNvPr id="5" name="Shape 3"/>
          <p:cNvSpPr/>
          <p:nvPr/>
        </p:nvSpPr>
        <p:spPr>
          <a:xfrm>
            <a:off x="1737360" y="1847088"/>
            <a:ext cx="4663440" cy="182880"/>
          </a:xfrm>
          <a:prstGeom prst="rect">
            <a:avLst/>
          </a:prstGeom>
          <a:solidFill>
            <a:srgbClr val="E9EDF1"/>
          </a:solidFill>
          <a:ln/>
        </p:spPr>
        <p:txBody>
          <a:bodyPr/>
          <a:lstStyle/>
          <a:p>
            <a:endParaRPr lang="en-GB" dirty="0"/>
          </a:p>
        </p:txBody>
      </p:sp>
      <p:sp>
        <p:nvSpPr>
          <p:cNvPr id="6" name="Shape 4"/>
          <p:cNvSpPr/>
          <p:nvPr/>
        </p:nvSpPr>
        <p:spPr>
          <a:xfrm>
            <a:off x="1737360" y="1847088"/>
            <a:ext cx="2424989" cy="182880"/>
          </a:xfrm>
          <a:prstGeom prst="rect">
            <a:avLst/>
          </a:prstGeom>
          <a:solidFill>
            <a:srgbClr val="D98E1F"/>
          </a:solidFill>
          <a:ln/>
        </p:spPr>
        <p:txBody>
          <a:bodyPr/>
          <a:lstStyle/>
          <a:p>
            <a:endParaRPr lang="en-GB" dirty="0"/>
          </a:p>
        </p:txBody>
      </p:sp>
      <p:sp>
        <p:nvSpPr>
          <p:cNvPr id="7" name="Text 5"/>
          <p:cNvSpPr/>
          <p:nvPr/>
        </p:nvSpPr>
        <p:spPr>
          <a:xfrm>
            <a:off x="6446520" y="1828800"/>
            <a:ext cx="685800" cy="237744"/>
          </a:xfrm>
          <a:prstGeom prst="rect">
            <a:avLst/>
          </a:prstGeom>
          <a:noFill/>
          <a:ln/>
        </p:spPr>
        <p:txBody>
          <a:bodyPr wrap="square" lIns="0" tIns="0" rIns="0" bIns="0" rtlCol="0" anchor="ctr"/>
          <a:lstStyle/>
          <a:p>
            <a:pPr marL="0" indent="0" algn="r">
              <a:buNone/>
            </a:pPr>
            <a:r>
              <a:rPr lang="en-GB" sz="1100" dirty="0">
                <a:solidFill>
                  <a:srgbClr val="5C7186"/>
                </a:solidFill>
                <a:latin typeface="Courier New" pitchFamily="34" charset="0"/>
                <a:ea typeface="Courier New" pitchFamily="34" charset="-122"/>
                <a:cs typeface="Courier New" pitchFamily="34" charset="-120"/>
              </a:rPr>
              <a:t>0.478</a:t>
            </a:r>
            <a:endParaRPr lang="en-GB"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marL="0" indent="0">
              <a:buNone/>
            </a:pPr>
            <a:r>
              <a:rPr lang="en-GB" sz="1200" b="1" dirty="0">
                <a:solidFill>
                  <a:srgbClr val="14283C"/>
                </a:solidFill>
                <a:latin typeface="Courier New" pitchFamily="34" charset="0"/>
                <a:ea typeface="Courier New" pitchFamily="34" charset="-122"/>
                <a:cs typeface="Courier New" pitchFamily="34" charset="-120"/>
              </a:rPr>
              <a:t>SVC-06</a:t>
            </a:r>
            <a:endParaRPr lang="en-GB" sz="1200" dirty="0"/>
          </a:p>
        </p:txBody>
      </p:sp>
      <p:sp>
        <p:nvSpPr>
          <p:cNvPr id="9" name="Shape 7"/>
          <p:cNvSpPr/>
          <p:nvPr/>
        </p:nvSpPr>
        <p:spPr>
          <a:xfrm>
            <a:off x="1737360" y="2258568"/>
            <a:ext cx="4663440" cy="182880"/>
          </a:xfrm>
          <a:prstGeom prst="rect">
            <a:avLst/>
          </a:prstGeom>
          <a:solidFill>
            <a:srgbClr val="E9EDF1"/>
          </a:solidFill>
          <a:ln/>
        </p:spPr>
        <p:txBody>
          <a:bodyPr/>
          <a:lstStyle/>
          <a:p>
            <a:endParaRPr lang="en-GB" dirty="0"/>
          </a:p>
        </p:txBody>
      </p:sp>
      <p:sp>
        <p:nvSpPr>
          <p:cNvPr id="10" name="Shape 8"/>
          <p:cNvSpPr/>
          <p:nvPr/>
        </p:nvSpPr>
        <p:spPr>
          <a:xfrm>
            <a:off x="1737360" y="2258568"/>
            <a:ext cx="2285086" cy="182880"/>
          </a:xfrm>
          <a:prstGeom prst="rect">
            <a:avLst/>
          </a:prstGeom>
          <a:solidFill>
            <a:srgbClr val="D98E1F"/>
          </a:solidFill>
          <a:ln/>
        </p:spPr>
        <p:txBody>
          <a:bodyPr/>
          <a:lstStyle/>
          <a:p>
            <a:endParaRPr lang="en-GB" dirty="0"/>
          </a:p>
        </p:txBody>
      </p:sp>
      <p:sp>
        <p:nvSpPr>
          <p:cNvPr id="11" name="Text 9"/>
          <p:cNvSpPr/>
          <p:nvPr/>
        </p:nvSpPr>
        <p:spPr>
          <a:xfrm>
            <a:off x="6446520" y="2240280"/>
            <a:ext cx="685800" cy="237744"/>
          </a:xfrm>
          <a:prstGeom prst="rect">
            <a:avLst/>
          </a:prstGeom>
          <a:noFill/>
          <a:ln/>
        </p:spPr>
        <p:txBody>
          <a:bodyPr wrap="square" lIns="0" tIns="0" rIns="0" bIns="0" rtlCol="0" anchor="ctr"/>
          <a:lstStyle/>
          <a:p>
            <a:pPr marL="0" indent="0" algn="r">
              <a:buNone/>
            </a:pPr>
            <a:r>
              <a:rPr lang="en-GB" sz="1100" dirty="0">
                <a:solidFill>
                  <a:srgbClr val="5C7186"/>
                </a:solidFill>
                <a:latin typeface="Courier New" pitchFamily="34" charset="0"/>
                <a:ea typeface="Courier New" pitchFamily="34" charset="-122"/>
                <a:cs typeface="Courier New" pitchFamily="34" charset="-120"/>
              </a:rPr>
              <a:t>0.510</a:t>
            </a:r>
            <a:endParaRPr lang="en-GB"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marL="0" indent="0">
              <a:buNone/>
            </a:pPr>
            <a:r>
              <a:rPr lang="en-GB" sz="1200" b="1" dirty="0">
                <a:solidFill>
                  <a:srgbClr val="14283C"/>
                </a:solidFill>
                <a:latin typeface="Courier New" pitchFamily="34" charset="0"/>
                <a:ea typeface="Courier New" pitchFamily="34" charset="-122"/>
                <a:cs typeface="Courier New" pitchFamily="34" charset="-120"/>
              </a:rPr>
              <a:t>SVC-02</a:t>
            </a:r>
            <a:endParaRPr lang="en-GB" sz="1200" dirty="0"/>
          </a:p>
        </p:txBody>
      </p:sp>
      <p:sp>
        <p:nvSpPr>
          <p:cNvPr id="13" name="Shape 11"/>
          <p:cNvSpPr/>
          <p:nvPr/>
        </p:nvSpPr>
        <p:spPr>
          <a:xfrm>
            <a:off x="1737360" y="2670048"/>
            <a:ext cx="4663440" cy="182880"/>
          </a:xfrm>
          <a:prstGeom prst="rect">
            <a:avLst/>
          </a:prstGeom>
          <a:solidFill>
            <a:srgbClr val="E9EDF1"/>
          </a:solidFill>
          <a:ln/>
        </p:spPr>
        <p:txBody>
          <a:bodyPr/>
          <a:lstStyle/>
          <a:p>
            <a:endParaRPr lang="en-GB" dirty="0"/>
          </a:p>
        </p:txBody>
      </p:sp>
      <p:sp>
        <p:nvSpPr>
          <p:cNvPr id="14" name="Shape 12"/>
          <p:cNvSpPr/>
          <p:nvPr/>
        </p:nvSpPr>
        <p:spPr>
          <a:xfrm>
            <a:off x="1737360" y="2670048"/>
            <a:ext cx="2238451" cy="182880"/>
          </a:xfrm>
          <a:prstGeom prst="rect">
            <a:avLst/>
          </a:prstGeom>
          <a:solidFill>
            <a:srgbClr val="D98E1F"/>
          </a:solidFill>
          <a:ln/>
        </p:spPr>
        <p:txBody>
          <a:bodyPr/>
          <a:lstStyle/>
          <a:p>
            <a:endParaRPr lang="en-GB" dirty="0"/>
          </a:p>
        </p:txBody>
      </p:sp>
      <p:sp>
        <p:nvSpPr>
          <p:cNvPr id="15" name="Text 13"/>
          <p:cNvSpPr/>
          <p:nvPr/>
        </p:nvSpPr>
        <p:spPr>
          <a:xfrm>
            <a:off x="6446520" y="2651760"/>
            <a:ext cx="685800" cy="237744"/>
          </a:xfrm>
          <a:prstGeom prst="rect">
            <a:avLst/>
          </a:prstGeom>
          <a:noFill/>
          <a:ln/>
        </p:spPr>
        <p:txBody>
          <a:bodyPr wrap="square" lIns="0" tIns="0" rIns="0" bIns="0" rtlCol="0" anchor="ctr"/>
          <a:lstStyle/>
          <a:p>
            <a:pPr marL="0" indent="0" algn="r">
              <a:buNone/>
            </a:pPr>
            <a:r>
              <a:rPr lang="en-GB" sz="1100" dirty="0">
                <a:solidFill>
                  <a:srgbClr val="5C7186"/>
                </a:solidFill>
                <a:latin typeface="Courier New" pitchFamily="34" charset="0"/>
                <a:ea typeface="Courier New" pitchFamily="34" charset="-122"/>
                <a:cs typeface="Courier New" pitchFamily="34" charset="-120"/>
              </a:rPr>
              <a:t>0.524</a:t>
            </a:r>
            <a:endParaRPr lang="en-GB"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marL="0" indent="0">
              <a:buNone/>
            </a:pPr>
            <a:r>
              <a:rPr lang="en-GB" sz="1200" b="1" dirty="0">
                <a:solidFill>
                  <a:srgbClr val="14283C"/>
                </a:solidFill>
                <a:latin typeface="Courier New" pitchFamily="34" charset="0"/>
                <a:ea typeface="Courier New" pitchFamily="34" charset="-122"/>
                <a:cs typeface="Courier New" pitchFamily="34" charset="-120"/>
              </a:rPr>
              <a:t>SVC-01</a:t>
            </a:r>
            <a:endParaRPr lang="en-GB" sz="1200" dirty="0"/>
          </a:p>
        </p:txBody>
      </p:sp>
      <p:sp>
        <p:nvSpPr>
          <p:cNvPr id="17" name="Shape 15"/>
          <p:cNvSpPr/>
          <p:nvPr/>
        </p:nvSpPr>
        <p:spPr>
          <a:xfrm>
            <a:off x="1737360" y="3081528"/>
            <a:ext cx="4663440" cy="182880"/>
          </a:xfrm>
          <a:prstGeom prst="rect">
            <a:avLst/>
          </a:prstGeom>
          <a:solidFill>
            <a:srgbClr val="E9EDF1"/>
          </a:solidFill>
          <a:ln/>
        </p:spPr>
        <p:txBody>
          <a:bodyPr/>
          <a:lstStyle/>
          <a:p>
            <a:endParaRPr lang="en-GB" dirty="0"/>
          </a:p>
        </p:txBody>
      </p:sp>
      <p:sp>
        <p:nvSpPr>
          <p:cNvPr id="18" name="Shape 16"/>
          <p:cNvSpPr/>
          <p:nvPr/>
        </p:nvSpPr>
        <p:spPr>
          <a:xfrm>
            <a:off x="1737360" y="3081528"/>
            <a:ext cx="1212494" cy="182880"/>
          </a:xfrm>
          <a:prstGeom prst="rect">
            <a:avLst/>
          </a:prstGeom>
          <a:solidFill>
            <a:srgbClr val="5C7186"/>
          </a:solidFill>
          <a:ln/>
        </p:spPr>
        <p:txBody>
          <a:bodyPr/>
          <a:lstStyle/>
          <a:p>
            <a:endParaRPr lang="en-GB" dirty="0"/>
          </a:p>
        </p:txBody>
      </p:sp>
      <p:sp>
        <p:nvSpPr>
          <p:cNvPr id="19" name="Text 17"/>
          <p:cNvSpPr/>
          <p:nvPr/>
        </p:nvSpPr>
        <p:spPr>
          <a:xfrm>
            <a:off x="6446520" y="3063240"/>
            <a:ext cx="685800" cy="237744"/>
          </a:xfrm>
          <a:prstGeom prst="rect">
            <a:avLst/>
          </a:prstGeom>
          <a:noFill/>
          <a:ln/>
        </p:spPr>
        <p:txBody>
          <a:bodyPr wrap="square" lIns="0" tIns="0" rIns="0" bIns="0" rtlCol="0" anchor="ctr"/>
          <a:lstStyle/>
          <a:p>
            <a:pPr marL="0" indent="0" algn="r">
              <a:buNone/>
            </a:pPr>
            <a:r>
              <a:rPr lang="en-GB" sz="1100" dirty="0">
                <a:solidFill>
                  <a:srgbClr val="5C7186"/>
                </a:solidFill>
                <a:latin typeface="Courier New" pitchFamily="34" charset="0"/>
                <a:ea typeface="Courier New" pitchFamily="34" charset="-122"/>
                <a:cs typeface="Courier New" pitchFamily="34" charset="-120"/>
              </a:rPr>
              <a:t>0.743</a:t>
            </a:r>
            <a:endParaRPr lang="en-GB"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marL="0" indent="0">
              <a:buNone/>
            </a:pPr>
            <a:r>
              <a:rPr lang="en-GB" sz="1200" b="1" dirty="0">
                <a:solidFill>
                  <a:srgbClr val="14283C"/>
                </a:solidFill>
                <a:latin typeface="Courier New" pitchFamily="34" charset="0"/>
                <a:ea typeface="Courier New" pitchFamily="34" charset="-122"/>
                <a:cs typeface="Courier New" pitchFamily="34" charset="-120"/>
              </a:rPr>
              <a:t>SVC-05</a:t>
            </a:r>
            <a:endParaRPr lang="en-GB" sz="1200" dirty="0"/>
          </a:p>
        </p:txBody>
      </p:sp>
      <p:sp>
        <p:nvSpPr>
          <p:cNvPr id="21" name="Shape 19"/>
          <p:cNvSpPr/>
          <p:nvPr/>
        </p:nvSpPr>
        <p:spPr>
          <a:xfrm>
            <a:off x="1737360" y="3493008"/>
            <a:ext cx="4663440" cy="182880"/>
          </a:xfrm>
          <a:prstGeom prst="rect">
            <a:avLst/>
          </a:prstGeom>
          <a:solidFill>
            <a:srgbClr val="E9EDF1"/>
          </a:solidFill>
          <a:ln/>
        </p:spPr>
        <p:txBody>
          <a:bodyPr/>
          <a:lstStyle/>
          <a:p>
            <a:endParaRPr lang="en-GB" dirty="0"/>
          </a:p>
        </p:txBody>
      </p:sp>
      <p:sp>
        <p:nvSpPr>
          <p:cNvPr id="22" name="Shape 20"/>
          <p:cNvSpPr/>
          <p:nvPr/>
        </p:nvSpPr>
        <p:spPr>
          <a:xfrm>
            <a:off x="1737360" y="3493008"/>
            <a:ext cx="1025957" cy="182880"/>
          </a:xfrm>
          <a:prstGeom prst="rect">
            <a:avLst/>
          </a:prstGeom>
          <a:solidFill>
            <a:srgbClr val="5C7186"/>
          </a:solidFill>
          <a:ln/>
        </p:spPr>
        <p:txBody>
          <a:bodyPr/>
          <a:lstStyle/>
          <a:p>
            <a:endParaRPr lang="en-GB" dirty="0"/>
          </a:p>
        </p:txBody>
      </p:sp>
      <p:sp>
        <p:nvSpPr>
          <p:cNvPr id="23" name="Text 21"/>
          <p:cNvSpPr/>
          <p:nvPr/>
        </p:nvSpPr>
        <p:spPr>
          <a:xfrm>
            <a:off x="6446520" y="3474720"/>
            <a:ext cx="685800" cy="237744"/>
          </a:xfrm>
          <a:prstGeom prst="rect">
            <a:avLst/>
          </a:prstGeom>
          <a:noFill/>
          <a:ln/>
        </p:spPr>
        <p:txBody>
          <a:bodyPr wrap="square" lIns="0" tIns="0" rIns="0" bIns="0" rtlCol="0" anchor="ctr"/>
          <a:lstStyle/>
          <a:p>
            <a:pPr marL="0" indent="0" algn="r">
              <a:buNone/>
            </a:pPr>
            <a:r>
              <a:rPr lang="en-GB" sz="1100" dirty="0">
                <a:solidFill>
                  <a:srgbClr val="5C7186"/>
                </a:solidFill>
                <a:latin typeface="Courier New" pitchFamily="34" charset="0"/>
                <a:ea typeface="Courier New" pitchFamily="34" charset="-122"/>
                <a:cs typeface="Courier New" pitchFamily="34" charset="-120"/>
              </a:rPr>
              <a:t>0.779</a:t>
            </a:r>
            <a:endParaRPr lang="en-GB"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marL="0" indent="0">
              <a:buNone/>
            </a:pPr>
            <a:r>
              <a:rPr lang="en-GB" sz="1200" b="1" dirty="0">
                <a:solidFill>
                  <a:srgbClr val="14283C"/>
                </a:solidFill>
                <a:latin typeface="Courier New" pitchFamily="34" charset="0"/>
                <a:ea typeface="Courier New" pitchFamily="34" charset="-122"/>
                <a:cs typeface="Courier New" pitchFamily="34" charset="-120"/>
              </a:rPr>
              <a:t>SVC-03</a:t>
            </a:r>
            <a:endParaRPr lang="en-GB" sz="1200" dirty="0"/>
          </a:p>
        </p:txBody>
      </p:sp>
      <p:sp>
        <p:nvSpPr>
          <p:cNvPr id="25" name="Shape 23"/>
          <p:cNvSpPr/>
          <p:nvPr/>
        </p:nvSpPr>
        <p:spPr>
          <a:xfrm>
            <a:off x="1737360" y="3904488"/>
            <a:ext cx="4663440" cy="182880"/>
          </a:xfrm>
          <a:prstGeom prst="rect">
            <a:avLst/>
          </a:prstGeom>
          <a:solidFill>
            <a:srgbClr val="E9EDF1"/>
          </a:solidFill>
          <a:ln/>
        </p:spPr>
        <p:txBody>
          <a:bodyPr/>
          <a:lstStyle/>
          <a:p>
            <a:endParaRPr lang="en-GB" dirty="0"/>
          </a:p>
        </p:txBody>
      </p:sp>
      <p:sp>
        <p:nvSpPr>
          <p:cNvPr id="26" name="Shape 24"/>
          <p:cNvSpPr/>
          <p:nvPr/>
        </p:nvSpPr>
        <p:spPr>
          <a:xfrm>
            <a:off x="1737360" y="3904488"/>
            <a:ext cx="93269" cy="182880"/>
          </a:xfrm>
          <a:prstGeom prst="rect">
            <a:avLst/>
          </a:prstGeom>
          <a:solidFill>
            <a:srgbClr val="5C7186"/>
          </a:solidFill>
          <a:ln/>
        </p:spPr>
        <p:txBody>
          <a:bodyPr/>
          <a:lstStyle/>
          <a:p>
            <a:endParaRPr lang="en-GB" dirty="0"/>
          </a:p>
        </p:txBody>
      </p:sp>
      <p:sp>
        <p:nvSpPr>
          <p:cNvPr id="27" name="Text 25"/>
          <p:cNvSpPr/>
          <p:nvPr/>
        </p:nvSpPr>
        <p:spPr>
          <a:xfrm>
            <a:off x="6446520" y="3886200"/>
            <a:ext cx="685800" cy="237744"/>
          </a:xfrm>
          <a:prstGeom prst="rect">
            <a:avLst/>
          </a:prstGeom>
          <a:noFill/>
          <a:ln/>
        </p:spPr>
        <p:txBody>
          <a:bodyPr wrap="square" lIns="0" tIns="0" rIns="0" bIns="0" rtlCol="0" anchor="ctr"/>
          <a:lstStyle/>
          <a:p>
            <a:pPr marL="0" indent="0" algn="r">
              <a:buNone/>
            </a:pPr>
            <a:r>
              <a:rPr lang="en-GB" sz="1100" dirty="0">
                <a:solidFill>
                  <a:srgbClr val="5C7186"/>
                </a:solidFill>
                <a:latin typeface="Courier New" pitchFamily="34" charset="0"/>
                <a:ea typeface="Courier New" pitchFamily="34" charset="-122"/>
                <a:cs typeface="Courier New" pitchFamily="34" charset="-120"/>
              </a:rPr>
              <a:t>0.977</a:t>
            </a:r>
            <a:endParaRPr lang="en-GB" sz="1100" dirty="0"/>
          </a:p>
        </p:txBody>
      </p:sp>
      <p:sp>
        <p:nvSpPr>
          <p:cNvPr id="28" name="Shape 26"/>
          <p:cNvSpPr/>
          <p:nvPr/>
        </p:nvSpPr>
        <p:spPr>
          <a:xfrm>
            <a:off x="7726680" y="1783080"/>
            <a:ext cx="3749040" cy="1225296"/>
          </a:xfrm>
          <a:prstGeom prst="rect">
            <a:avLst/>
          </a:prstGeom>
          <a:solidFill>
            <a:srgbClr val="F7F9FA"/>
          </a:solidFill>
          <a:ln/>
        </p:spPr>
        <p:txBody>
          <a:bodyPr/>
          <a:lstStyle/>
          <a:p>
            <a:endParaRPr lang="en-GB" dirty="0"/>
          </a:p>
        </p:txBody>
      </p:sp>
      <p:sp>
        <p:nvSpPr>
          <p:cNvPr id="29" name="Text 27"/>
          <p:cNvSpPr/>
          <p:nvPr/>
        </p:nvSpPr>
        <p:spPr>
          <a:xfrm>
            <a:off x="7909560" y="1874520"/>
            <a:ext cx="3429000" cy="274320"/>
          </a:xfrm>
          <a:prstGeom prst="rect">
            <a:avLst/>
          </a:prstGeom>
          <a:noFill/>
          <a:ln/>
        </p:spPr>
        <p:txBody>
          <a:bodyPr wrap="square" lIns="0" tIns="0" rIns="0" bIns="0" rtlCol="0" anchor="ctr"/>
          <a:lstStyle/>
          <a:p>
            <a:pPr marL="0" indent="0">
              <a:buNone/>
            </a:pPr>
            <a:r>
              <a:rPr lang="en-GB" sz="1400" b="1" dirty="0">
                <a:solidFill>
                  <a:srgbClr val="14283C"/>
                </a:solidFill>
                <a:latin typeface="Courier New" pitchFamily="34" charset="0"/>
                <a:ea typeface="Courier New" pitchFamily="34" charset="-122"/>
                <a:cs typeface="Courier New" pitchFamily="34" charset="-120"/>
              </a:rPr>
              <a:t>SVC-04 · rank 1</a:t>
            </a:r>
            <a:endParaRPr lang="en-GB" sz="140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574 incidents/yr, MTTR 41.9 h, CFR 3.38, yet a clean lifecycle record → architectural, platform &amp; process debt</a:t>
            </a:r>
            <a:endParaRPr lang="en-GB" sz="1400" dirty="0"/>
          </a:p>
        </p:txBody>
      </p:sp>
      <p:sp>
        <p:nvSpPr>
          <p:cNvPr id="31" name="Shape 29"/>
          <p:cNvSpPr/>
          <p:nvPr/>
        </p:nvSpPr>
        <p:spPr>
          <a:xfrm>
            <a:off x="7726680" y="3112368"/>
            <a:ext cx="3749040" cy="1225296"/>
          </a:xfrm>
          <a:prstGeom prst="rect">
            <a:avLst/>
          </a:prstGeom>
          <a:solidFill>
            <a:srgbClr val="FBF4E8"/>
          </a:solidFill>
          <a:ln/>
        </p:spPr>
        <p:txBody>
          <a:bodyPr/>
          <a:lstStyle/>
          <a:p>
            <a:endParaRPr lang="en-GB" dirty="0"/>
          </a:p>
        </p:txBody>
      </p:sp>
      <p:sp>
        <p:nvSpPr>
          <p:cNvPr id="32" name="Text 30"/>
          <p:cNvSpPr/>
          <p:nvPr/>
        </p:nvSpPr>
        <p:spPr>
          <a:xfrm>
            <a:off x="7909560" y="3203808"/>
            <a:ext cx="3429000" cy="274320"/>
          </a:xfrm>
          <a:prstGeom prst="rect">
            <a:avLst/>
          </a:prstGeom>
          <a:noFill/>
          <a:ln/>
        </p:spPr>
        <p:txBody>
          <a:bodyPr wrap="square" lIns="0" tIns="0" rIns="0" bIns="0" rtlCol="0" anchor="ctr"/>
          <a:lstStyle/>
          <a:p>
            <a:pPr marL="0" indent="0">
              <a:buNone/>
            </a:pPr>
            <a:r>
              <a:rPr lang="en-GB" sz="1400" b="1" dirty="0">
                <a:solidFill>
                  <a:srgbClr val="D98E1F"/>
                </a:solidFill>
                <a:latin typeface="Courier New" pitchFamily="34" charset="0"/>
                <a:ea typeface="Courier New" pitchFamily="34" charset="-122"/>
                <a:cs typeface="Courier New" pitchFamily="34" charset="-120"/>
              </a:rPr>
              <a:t>SVC-02 · rank 3</a:t>
            </a:r>
            <a:endParaRPr lang="en-GB" sz="1400" dirty="0"/>
          </a:p>
        </p:txBody>
      </p:sp>
      <p:sp>
        <p:nvSpPr>
          <p:cNvPr id="33" name="Text 31"/>
          <p:cNvSpPr/>
          <p:nvPr/>
        </p:nvSpPr>
        <p:spPr>
          <a:xfrm>
            <a:off x="7909560" y="3496416"/>
            <a:ext cx="3429000" cy="777240"/>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Only 30 incidents/yr, but 1,221 unsupported component months → the debt an incident count cannot see</a:t>
            </a:r>
            <a:endParaRPr lang="en-GB" sz="1400" dirty="0"/>
          </a:p>
        </p:txBody>
      </p:sp>
      <p:sp>
        <p:nvSpPr>
          <p:cNvPr id="34" name="Shape 32"/>
          <p:cNvSpPr/>
          <p:nvPr/>
        </p:nvSpPr>
        <p:spPr>
          <a:xfrm>
            <a:off x="7726680" y="4429847"/>
            <a:ext cx="3749040" cy="1347826"/>
          </a:xfrm>
          <a:prstGeom prst="rect">
            <a:avLst/>
          </a:prstGeom>
          <a:solidFill>
            <a:srgbClr val="F7F9FA"/>
          </a:solidFill>
          <a:ln/>
        </p:spPr>
        <p:txBody>
          <a:bodyPr/>
          <a:lstStyle/>
          <a:p>
            <a:endParaRPr lang="en-GB" dirty="0"/>
          </a:p>
        </p:txBody>
      </p:sp>
      <p:sp>
        <p:nvSpPr>
          <p:cNvPr id="35" name="Text 33"/>
          <p:cNvSpPr/>
          <p:nvPr/>
        </p:nvSpPr>
        <p:spPr>
          <a:xfrm>
            <a:off x="7909560" y="4568836"/>
            <a:ext cx="3429000" cy="301752"/>
          </a:xfrm>
          <a:prstGeom prst="rect">
            <a:avLst/>
          </a:prstGeom>
          <a:noFill/>
          <a:ln/>
        </p:spPr>
        <p:txBody>
          <a:bodyPr wrap="square" lIns="0" tIns="0" rIns="0" bIns="0" rtlCol="0" anchor="ctr"/>
          <a:lstStyle/>
          <a:p>
            <a:pPr marL="0" indent="0">
              <a:buNone/>
            </a:pPr>
            <a:r>
              <a:rPr lang="en-GB" sz="1400" b="1" dirty="0">
                <a:solidFill>
                  <a:srgbClr val="14283C"/>
                </a:solidFill>
                <a:latin typeface="Courier New" pitchFamily="34" charset="0"/>
                <a:ea typeface="Courier New" pitchFamily="34" charset="-122"/>
                <a:cs typeface="Courier New" pitchFamily="34" charset="-120"/>
              </a:rPr>
              <a:t>SVC-03 · rank 6</a:t>
            </a:r>
            <a:endParaRPr lang="en-GB" sz="1400" dirty="0"/>
          </a:p>
        </p:txBody>
      </p:sp>
      <p:sp>
        <p:nvSpPr>
          <p:cNvPr id="36" name="Text 34"/>
          <p:cNvSpPr/>
          <p:nvPr/>
        </p:nvSpPr>
        <p:spPr>
          <a:xfrm>
            <a:off x="7909560" y="4836298"/>
            <a:ext cx="3429000" cy="854964"/>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The portfolio's reference for a well-maintained service</a:t>
            </a:r>
            <a:endParaRPr lang="en-GB" sz="1400" dirty="0"/>
          </a:p>
        </p:txBody>
      </p:sp>
      <p:sp>
        <p:nvSpPr>
          <p:cNvPr id="37" name="Shape 35"/>
          <p:cNvSpPr/>
          <p:nvPr/>
        </p:nvSpPr>
        <p:spPr>
          <a:xfrm>
            <a:off x="685800" y="5838094"/>
            <a:ext cx="10789920" cy="713232"/>
          </a:xfrm>
          <a:prstGeom prst="rect">
            <a:avLst/>
          </a:prstGeom>
          <a:solidFill>
            <a:srgbClr val="F2F7F6"/>
          </a:solidFill>
          <a:ln/>
        </p:spPr>
        <p:txBody>
          <a:bodyPr/>
          <a:lstStyle/>
          <a:p>
            <a:endParaRPr lang="en-GB" dirty="0"/>
          </a:p>
        </p:txBody>
      </p:sp>
      <p:sp>
        <p:nvSpPr>
          <p:cNvPr id="38" name="Text 36"/>
          <p:cNvSpPr/>
          <p:nvPr/>
        </p:nvSpPr>
        <p:spPr>
          <a:xfrm>
            <a:off x="886968" y="5911246"/>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39" name="Text 37"/>
          <p:cNvSpPr/>
          <p:nvPr/>
        </p:nvSpPr>
        <p:spPr>
          <a:xfrm>
            <a:off x="886968" y="6112414"/>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GB"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EVALUATION · CHAPTER 5</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Five strands, no single point of trust</a:t>
            </a:r>
            <a:endParaRPr lang="en-GB" sz="3000" dirty="0"/>
          </a:p>
        </p:txBody>
      </p:sp>
      <p:sp>
        <p:nvSpPr>
          <p:cNvPr id="4" name="Shape 2"/>
          <p:cNvSpPr/>
          <p:nvPr/>
        </p:nvSpPr>
        <p:spPr>
          <a:xfrm>
            <a:off x="685800"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GB" dirty="0"/>
          </a:p>
        </p:txBody>
      </p:sp>
      <p:sp>
        <p:nvSpPr>
          <p:cNvPr id="5" name="Text 3"/>
          <p:cNvSpPr/>
          <p:nvPr/>
        </p:nvSpPr>
        <p:spPr>
          <a:xfrm>
            <a:off x="868680" y="1984248"/>
            <a:ext cx="3154680" cy="292608"/>
          </a:xfrm>
          <a:prstGeom prst="rect">
            <a:avLst/>
          </a:prstGeom>
          <a:noFill/>
          <a:ln/>
        </p:spPr>
        <p:txBody>
          <a:bodyPr wrap="square" lIns="0" tIns="0" rIns="0" bIns="0" rtlCol="0" anchor="ctr"/>
          <a:lstStyle/>
          <a:p>
            <a:pPr marL="0" indent="0">
              <a:buNone/>
            </a:pPr>
            <a:r>
              <a:rPr lang="en-GB" sz="1500" b="1" dirty="0">
                <a:solidFill>
                  <a:srgbClr val="14283C"/>
                </a:solidFill>
                <a:latin typeface="Arial" pitchFamily="34" charset="0"/>
                <a:ea typeface="Arial" pitchFamily="34" charset="-122"/>
                <a:cs typeface="Arial" pitchFamily="34" charset="-120"/>
              </a:rPr>
              <a:t>Stability</a:t>
            </a:r>
            <a:endParaRPr lang="en-GB"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Weight &amp; temporal variation, Kendall's </a:t>
            </a:r>
            <a:r>
              <a:rPr lang="en-GB" sz="1400" dirty="0" err="1">
                <a:solidFill>
                  <a:srgbClr val="2A3F55"/>
                </a:solidFill>
                <a:latin typeface="Arial" pitchFamily="34" charset="0"/>
                <a:ea typeface="Arial" pitchFamily="34" charset="-122"/>
                <a:cs typeface="Arial" pitchFamily="34" charset="-120"/>
              </a:rPr>
              <a:t>τ</a:t>
            </a:r>
            <a:r>
              <a:rPr lang="en-GB" sz="1400" dirty="0">
                <a:solidFill>
                  <a:srgbClr val="2A3F55"/>
                </a:solidFill>
                <a:latin typeface="Arial" pitchFamily="34" charset="0"/>
                <a:ea typeface="Arial" pitchFamily="34" charset="-122"/>
                <a:cs typeface="Arial" pitchFamily="34" charset="-120"/>
              </a:rPr>
              <a:t>, exact p over 720 permutations</a:t>
            </a:r>
            <a:endParaRPr lang="en-GB" sz="14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marL="0" indent="0">
              <a:buNone/>
            </a:pPr>
            <a:r>
              <a:rPr lang="en-GB" sz="1400" b="1" dirty="0" err="1">
                <a:solidFill>
                  <a:srgbClr val="1E7F82"/>
                </a:solidFill>
                <a:latin typeface="Courier New" pitchFamily="34" charset="0"/>
                <a:ea typeface="Courier New" pitchFamily="34" charset="-122"/>
                <a:cs typeface="Courier New" pitchFamily="34" charset="-120"/>
              </a:rPr>
              <a:t>τ</a:t>
            </a:r>
            <a:r>
              <a:rPr lang="en-GB" sz="1400" b="1" dirty="0">
                <a:solidFill>
                  <a:srgbClr val="1E7F82"/>
                </a:solidFill>
                <a:latin typeface="Courier New" pitchFamily="34" charset="0"/>
                <a:ea typeface="Courier New" pitchFamily="34" charset="-122"/>
                <a:cs typeface="Courier New" pitchFamily="34" charset="-120"/>
              </a:rPr>
              <a:t> = 0.73–1.00</a:t>
            </a:r>
            <a:endParaRPr lang="en-GB" sz="1400" dirty="0"/>
          </a:p>
        </p:txBody>
      </p:sp>
      <p:sp>
        <p:nvSpPr>
          <p:cNvPr id="8" name="Shape 6"/>
          <p:cNvSpPr/>
          <p:nvPr/>
        </p:nvSpPr>
        <p:spPr>
          <a:xfrm>
            <a:off x="4498848"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GB" dirty="0"/>
          </a:p>
        </p:txBody>
      </p:sp>
      <p:sp>
        <p:nvSpPr>
          <p:cNvPr id="9" name="Text 7"/>
          <p:cNvSpPr/>
          <p:nvPr/>
        </p:nvSpPr>
        <p:spPr>
          <a:xfrm>
            <a:off x="4681728" y="1984248"/>
            <a:ext cx="3154680" cy="292608"/>
          </a:xfrm>
          <a:prstGeom prst="rect">
            <a:avLst/>
          </a:prstGeom>
          <a:noFill/>
          <a:ln/>
        </p:spPr>
        <p:txBody>
          <a:bodyPr wrap="square" lIns="0" tIns="0" rIns="0" bIns="0" rtlCol="0" anchor="ctr"/>
          <a:lstStyle/>
          <a:p>
            <a:pPr marL="0" indent="0">
              <a:buNone/>
            </a:pPr>
            <a:r>
              <a:rPr lang="en-GB" sz="1500" b="1" dirty="0">
                <a:solidFill>
                  <a:srgbClr val="14283C"/>
                </a:solidFill>
                <a:latin typeface="Arial" pitchFamily="34" charset="0"/>
                <a:ea typeface="Arial" pitchFamily="34" charset="-122"/>
                <a:cs typeface="Arial" pitchFamily="34" charset="-120"/>
              </a:rPr>
              <a:t>Weight space</a:t>
            </a:r>
            <a:endParaRPr lang="en-GB"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20,000 Dirichlet-sampled weightings, rank-acceptability analysis</a:t>
            </a:r>
            <a:endParaRPr lang="en-GB" sz="14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marL="0" indent="0">
              <a:buNone/>
            </a:pPr>
            <a:r>
              <a:rPr lang="en-GB" sz="1400" b="1" dirty="0">
                <a:solidFill>
                  <a:srgbClr val="1E7F82"/>
                </a:solidFill>
                <a:latin typeface="Courier New" pitchFamily="34" charset="0"/>
                <a:ea typeface="Courier New" pitchFamily="34" charset="-122"/>
                <a:cs typeface="Courier New" pitchFamily="34" charset="-120"/>
              </a:rPr>
              <a:t>extremes robust</a:t>
            </a:r>
            <a:endParaRPr lang="en-GB" sz="1400" dirty="0"/>
          </a:p>
        </p:txBody>
      </p:sp>
      <p:sp>
        <p:nvSpPr>
          <p:cNvPr id="12" name="Shape 10"/>
          <p:cNvSpPr/>
          <p:nvPr/>
        </p:nvSpPr>
        <p:spPr>
          <a:xfrm>
            <a:off x="8311896" y="187452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GB" dirty="0"/>
          </a:p>
        </p:txBody>
      </p:sp>
      <p:sp>
        <p:nvSpPr>
          <p:cNvPr id="13" name="Text 11"/>
          <p:cNvSpPr/>
          <p:nvPr/>
        </p:nvSpPr>
        <p:spPr>
          <a:xfrm>
            <a:off x="8494776" y="1984248"/>
            <a:ext cx="3154680" cy="292608"/>
          </a:xfrm>
          <a:prstGeom prst="rect">
            <a:avLst/>
          </a:prstGeom>
          <a:noFill/>
          <a:ln/>
        </p:spPr>
        <p:txBody>
          <a:bodyPr wrap="square" lIns="0" tIns="0" rIns="0" bIns="0" rtlCol="0" anchor="ctr"/>
          <a:lstStyle/>
          <a:p>
            <a:pPr marL="0" indent="0">
              <a:buNone/>
            </a:pPr>
            <a:r>
              <a:rPr lang="en-GB" sz="1500" b="1" dirty="0">
                <a:solidFill>
                  <a:srgbClr val="14283C"/>
                </a:solidFill>
                <a:latin typeface="Arial" pitchFamily="34" charset="0"/>
                <a:ea typeface="Arial" pitchFamily="34" charset="-122"/>
                <a:cs typeface="Arial" pitchFamily="34" charset="-120"/>
              </a:rPr>
              <a:t>Convergent</a:t>
            </a:r>
            <a:endParaRPr lang="en-GB"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Re-ranked with SAW &amp; VIKOR</a:t>
            </a:r>
            <a:endParaRPr lang="en-GB" sz="14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marL="0" indent="0">
              <a:buNone/>
            </a:pPr>
            <a:r>
              <a:rPr lang="en-GB" sz="1400" b="1" dirty="0" err="1">
                <a:solidFill>
                  <a:srgbClr val="1E7F82"/>
                </a:solidFill>
                <a:latin typeface="Courier New" pitchFamily="34" charset="0"/>
                <a:ea typeface="Courier New" pitchFamily="34" charset="-122"/>
                <a:cs typeface="Courier New" pitchFamily="34" charset="-120"/>
              </a:rPr>
              <a:t>τ</a:t>
            </a:r>
            <a:r>
              <a:rPr lang="en-GB" sz="1400" b="1" dirty="0">
                <a:solidFill>
                  <a:srgbClr val="1E7F82"/>
                </a:solidFill>
                <a:latin typeface="Courier New" pitchFamily="34" charset="0"/>
                <a:ea typeface="Courier New" pitchFamily="34" charset="-122"/>
                <a:cs typeface="Courier New" pitchFamily="34" charset="-120"/>
              </a:rPr>
              <a:t> = 0.60–0.87</a:t>
            </a:r>
            <a:endParaRPr lang="en-GB" sz="1400" dirty="0"/>
          </a:p>
        </p:txBody>
      </p:sp>
      <p:sp>
        <p:nvSpPr>
          <p:cNvPr id="16" name="Shape 14"/>
          <p:cNvSpPr/>
          <p:nvPr/>
        </p:nvSpPr>
        <p:spPr>
          <a:xfrm>
            <a:off x="2592324" y="3794760"/>
            <a:ext cx="3520440" cy="16002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GB" dirty="0"/>
          </a:p>
        </p:txBody>
      </p:sp>
      <p:sp>
        <p:nvSpPr>
          <p:cNvPr id="17" name="Text 15"/>
          <p:cNvSpPr/>
          <p:nvPr/>
        </p:nvSpPr>
        <p:spPr>
          <a:xfrm>
            <a:off x="2775204" y="3904488"/>
            <a:ext cx="3154680" cy="292608"/>
          </a:xfrm>
          <a:prstGeom prst="rect">
            <a:avLst/>
          </a:prstGeom>
          <a:noFill/>
          <a:ln/>
        </p:spPr>
        <p:txBody>
          <a:bodyPr wrap="square" lIns="0" tIns="0" rIns="0" bIns="0" rtlCol="0" anchor="ctr"/>
          <a:lstStyle/>
          <a:p>
            <a:pPr marL="0" indent="0">
              <a:buNone/>
            </a:pPr>
            <a:r>
              <a:rPr lang="en-GB" sz="1500" b="1" dirty="0">
                <a:solidFill>
                  <a:srgbClr val="14283C"/>
                </a:solidFill>
                <a:latin typeface="Arial" pitchFamily="34" charset="0"/>
                <a:ea typeface="Arial" pitchFamily="34" charset="-122"/>
                <a:cs typeface="Arial" pitchFamily="34" charset="-120"/>
              </a:rPr>
              <a:t>Discriminant</a:t>
            </a:r>
            <a:endParaRPr lang="en-GB"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Against an incident-only baseline</a:t>
            </a:r>
            <a:endParaRPr lang="en-GB" sz="14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marL="0" indent="0">
              <a:buNone/>
            </a:pPr>
            <a:r>
              <a:rPr lang="en-GB" sz="1400" b="1" dirty="0" err="1">
                <a:solidFill>
                  <a:srgbClr val="1E7F82"/>
                </a:solidFill>
                <a:latin typeface="Courier New" pitchFamily="34" charset="0"/>
                <a:ea typeface="Courier New" pitchFamily="34" charset="-122"/>
                <a:cs typeface="Courier New" pitchFamily="34" charset="-120"/>
              </a:rPr>
              <a:t>τ</a:t>
            </a:r>
            <a:r>
              <a:rPr lang="en-GB" sz="1400" b="1" dirty="0">
                <a:solidFill>
                  <a:srgbClr val="1E7F82"/>
                </a:solidFill>
                <a:latin typeface="Courier New" pitchFamily="34" charset="0"/>
                <a:ea typeface="Courier New" pitchFamily="34" charset="-122"/>
                <a:cs typeface="Courier New" pitchFamily="34" charset="-120"/>
              </a:rPr>
              <a:t> = 0.60 / 0.20</a:t>
            </a:r>
            <a:endParaRPr lang="en-GB" sz="1400" dirty="0"/>
          </a:p>
        </p:txBody>
      </p:sp>
      <p:sp>
        <p:nvSpPr>
          <p:cNvPr id="20" name="Shape 18"/>
          <p:cNvSpPr/>
          <p:nvPr/>
        </p:nvSpPr>
        <p:spPr>
          <a:xfrm>
            <a:off x="6405372" y="3794760"/>
            <a:ext cx="3520440" cy="16002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en-GB" dirty="0"/>
          </a:p>
        </p:txBody>
      </p:sp>
      <p:sp>
        <p:nvSpPr>
          <p:cNvPr id="21" name="Text 19"/>
          <p:cNvSpPr/>
          <p:nvPr/>
        </p:nvSpPr>
        <p:spPr>
          <a:xfrm>
            <a:off x="6588252" y="3904488"/>
            <a:ext cx="3154680" cy="292608"/>
          </a:xfrm>
          <a:prstGeom prst="rect">
            <a:avLst/>
          </a:prstGeom>
          <a:noFill/>
          <a:ln/>
        </p:spPr>
        <p:txBody>
          <a:bodyPr wrap="square" lIns="0" tIns="0" rIns="0" bIns="0" rtlCol="0" anchor="ctr"/>
          <a:lstStyle/>
          <a:p>
            <a:pPr marL="0" indent="0">
              <a:buNone/>
            </a:pPr>
            <a:r>
              <a:rPr lang="en-GB" sz="1500" b="1" dirty="0">
                <a:solidFill>
                  <a:srgbClr val="14283C"/>
                </a:solidFill>
                <a:latin typeface="Arial" pitchFamily="34" charset="0"/>
                <a:ea typeface="Arial" pitchFamily="34" charset="-122"/>
                <a:cs typeface="Arial" pitchFamily="34" charset="-120"/>
              </a:rPr>
              <a:t>Structural</a:t>
            </a:r>
            <a:endParaRPr lang="en-GB"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marL="0" indent="0">
              <a:buNone/>
            </a:pPr>
            <a:r>
              <a:rPr lang="en-GB" sz="1400" dirty="0">
                <a:solidFill>
                  <a:srgbClr val="2A3F55"/>
                </a:solidFill>
                <a:latin typeface="Arial" pitchFamily="34" charset="0"/>
                <a:ea typeface="Arial" pitchFamily="34" charset="-122"/>
                <a:cs typeface="Arial" pitchFamily="34" charset="-120"/>
              </a:rPr>
              <a:t>Leave-one-out rank reversal; absolute-mode variant</a:t>
            </a:r>
            <a:endParaRPr lang="en-GB" sz="14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marL="0" indent="0">
              <a:buNone/>
            </a:pPr>
            <a:r>
              <a:rPr lang="en-GB" sz="1400" b="1" dirty="0">
                <a:solidFill>
                  <a:srgbClr val="D98E1F"/>
                </a:solidFill>
                <a:latin typeface="Courier New" pitchFamily="34" charset="0"/>
                <a:ea typeface="Courier New" pitchFamily="34" charset="-122"/>
                <a:cs typeface="Courier New" pitchFamily="34" charset="-120"/>
              </a:rPr>
              <a:t>reversal-free by construction</a:t>
            </a:r>
            <a:endParaRPr lang="en-GB" sz="1400" dirty="0"/>
          </a:p>
        </p:txBody>
      </p:sp>
      <p:sp>
        <p:nvSpPr>
          <p:cNvPr id="24" name="Shape 22"/>
          <p:cNvSpPr/>
          <p:nvPr/>
        </p:nvSpPr>
        <p:spPr>
          <a:xfrm>
            <a:off x="685800" y="5827544"/>
            <a:ext cx="10789920" cy="713232"/>
          </a:xfrm>
          <a:prstGeom prst="rect">
            <a:avLst/>
          </a:prstGeom>
          <a:solidFill>
            <a:srgbClr val="F2F7F6"/>
          </a:solidFill>
          <a:ln/>
        </p:spPr>
        <p:txBody>
          <a:bodyPr/>
          <a:lstStyle/>
          <a:p>
            <a:endParaRPr lang="en-GB" dirty="0"/>
          </a:p>
        </p:txBody>
      </p:sp>
      <p:sp>
        <p:nvSpPr>
          <p:cNvPr id="25" name="Text 23"/>
          <p:cNvSpPr/>
          <p:nvPr/>
        </p:nvSpPr>
        <p:spPr>
          <a:xfrm>
            <a:off x="886968" y="5900696"/>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26" name="Text 24"/>
          <p:cNvSpPr/>
          <p:nvPr/>
        </p:nvSpPr>
        <p:spPr>
          <a:xfrm>
            <a:off x="886968" y="6101864"/>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GB"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RQ3 · STABILITY</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Robust where it matters</a:t>
            </a:r>
            <a:endParaRPr lang="en-GB"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Discrete configurations</a:t>
            </a:r>
            <a:endParaRPr lang="en-GB" sz="1600" dirty="0"/>
          </a:p>
        </p:txBody>
      </p:sp>
      <mc:AlternateContent xmlns:mc="http://schemas.openxmlformats.org/markup-compatibility/2006">
        <mc:Choice xmlns:a14="http://schemas.microsoft.com/office/drawing/2010/main" Requires="a14">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Weight sensitivity 2025: </a:t>
                </a:r>
                <a14:m>
                  <m:oMath xmlns:m="http://schemas.openxmlformats.org/officeDocument/2006/math">
                    <m:r>
                      <a:rPr lang="en-GB" sz="1500" i="1" dirty="0" smtClean="0">
                        <a:solidFill>
                          <a:srgbClr val="14283C"/>
                        </a:solidFill>
                        <a:latin typeface="Cambria Math" panose="02040503050406030204" pitchFamily="18" charset="0"/>
                        <a:ea typeface="Cambria Math" panose="02040503050406030204" pitchFamily="18" charset="0"/>
                        <a:cs typeface="Arial" panose="020B0604020202020204" pitchFamily="34" charset="0"/>
                      </a:rPr>
                      <m:t>𝜏</m:t>
                    </m:r>
                  </m:oMath>
                </a14:m>
                <a:r>
                  <a:rPr lang="en-GB" sz="1500" dirty="0">
                    <a:solidFill>
                      <a:srgbClr val="14283C"/>
                    </a:solidFill>
                    <a:latin typeface="Arial" panose="020B0604020202020204" pitchFamily="34" charset="0"/>
                    <a:ea typeface="Arial" pitchFamily="34" charset="-122"/>
                    <a:cs typeface="Arial" panose="020B0604020202020204" pitchFamily="34" charset="0"/>
                  </a:rPr>
                  <a:t> = 0.867 (one adjacent swap)</a:t>
                </a:r>
                <a:endParaRPr lang="en-GB" sz="1500" dirty="0">
                  <a:latin typeface="Arial" panose="020B0604020202020204" pitchFamily="34" charset="0"/>
                  <a:cs typeface="Arial" panose="020B0604020202020204" pitchFamily="34" charset="0"/>
                </a:endParaRPr>
              </a:p>
              <a:p>
                <a:pPr marL="177800" indent="-177800">
                  <a:lnSpc>
                    <a:spcPct val="112000"/>
                  </a:lnSpc>
                  <a:spcAft>
                    <a:spcPts val="10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Temporal 2025 vs 2024: </a:t>
                </a:r>
                <a14:m>
                  <m:oMath xmlns:m="http://schemas.openxmlformats.org/officeDocument/2006/math">
                    <m:r>
                      <a:rPr lang="en-GB" sz="1500" i="1" dirty="0" smtClean="0">
                        <a:solidFill>
                          <a:srgbClr val="14283C"/>
                        </a:solidFill>
                        <a:latin typeface="Cambria Math" panose="02040503050406030204" pitchFamily="18" charset="0"/>
                        <a:ea typeface="Cambria Math" panose="02040503050406030204" pitchFamily="18" charset="0"/>
                        <a:cs typeface="Arial" panose="020B0604020202020204" pitchFamily="34" charset="0"/>
                      </a:rPr>
                      <m:t>𝜏</m:t>
                    </m:r>
                  </m:oMath>
                </a14:m>
                <a:r>
                  <a:rPr lang="en-GB" sz="1500" dirty="0">
                    <a:solidFill>
                      <a:srgbClr val="14283C"/>
                    </a:solidFill>
                    <a:latin typeface="Arial" panose="020B0604020202020204" pitchFamily="34" charset="0"/>
                    <a:ea typeface="Arial" pitchFamily="34" charset="-122"/>
                    <a:cs typeface="Arial" panose="020B0604020202020204" pitchFamily="34" charset="0"/>
                  </a:rPr>
                  <a:t> = 0.867 / 1.000</a:t>
                </a:r>
                <a:endParaRPr lang="en-GB" sz="1500" dirty="0">
                  <a:latin typeface="Arial" panose="020B0604020202020204" pitchFamily="34" charset="0"/>
                  <a:cs typeface="Arial" panose="020B0604020202020204" pitchFamily="34" charset="0"/>
                </a:endParaRPr>
              </a:p>
              <a:p>
                <a:pPr marL="177800" indent="-177800">
                  <a:lnSpc>
                    <a:spcPct val="112000"/>
                  </a:lnSpc>
                  <a:spcAft>
                    <a:spcPts val="1000"/>
                  </a:spcAft>
                  <a:buSzPct val="100000"/>
                  <a:buChar char="•"/>
                </a:pPr>
                <a:r>
                  <a:rPr lang="en-GB" sz="1500" dirty="0">
                    <a:solidFill>
                      <a:srgbClr val="14283C"/>
                    </a:solidFill>
                    <a:latin typeface="Arial" panose="020B0604020202020204" pitchFamily="34" charset="0"/>
                    <a:ea typeface="Arial" pitchFamily="34" charset="-122"/>
                    <a:cs typeface="Arial" panose="020B0604020202020204" pitchFamily="34" charset="0"/>
                  </a:rPr>
                  <a:t>Weakest: 2024 weights, </a:t>
                </a:r>
                <a14:m>
                  <m:oMath xmlns:m="http://schemas.openxmlformats.org/officeDocument/2006/math">
                    <m:r>
                      <a:rPr lang="en-GB" sz="1500" i="1" dirty="0" smtClean="0">
                        <a:solidFill>
                          <a:srgbClr val="14283C"/>
                        </a:solidFill>
                        <a:latin typeface="Cambria Math" panose="02040503050406030204" pitchFamily="18" charset="0"/>
                        <a:ea typeface="Cambria Math" panose="02040503050406030204" pitchFamily="18" charset="0"/>
                        <a:cs typeface="Arial" panose="020B0604020202020204" pitchFamily="34" charset="0"/>
                      </a:rPr>
                      <m:t>𝜏</m:t>
                    </m:r>
                  </m:oMath>
                </a14:m>
                <a:r>
                  <a:rPr lang="en-GB" sz="1500" dirty="0">
                    <a:solidFill>
                      <a:srgbClr val="14283C"/>
                    </a:solidFill>
                    <a:latin typeface="Arial" panose="020B0604020202020204" pitchFamily="34" charset="0"/>
                    <a:ea typeface="Arial" pitchFamily="34" charset="-122"/>
                    <a:cs typeface="Arial" panose="020B0604020202020204" pitchFamily="34" charset="0"/>
                  </a:rPr>
                  <a:t> = 0.733, tightly grouped mid-field profiles</a:t>
                </a:r>
                <a:endParaRPr lang="en-GB" sz="1500" dirty="0">
                  <a:latin typeface="Arial" panose="020B0604020202020204" pitchFamily="34" charset="0"/>
                  <a:cs typeface="Arial" panose="020B0604020202020204" pitchFamily="34" charset="0"/>
                </a:endParaRPr>
              </a:p>
              <a:p>
                <a:pPr marL="177800" indent="-177800">
                  <a:lnSpc>
                    <a:spcPct val="112000"/>
                  </a:lnSpc>
                  <a:spcAft>
                    <a:spcPts val="1000"/>
                  </a:spcAft>
                  <a:buSzPct val="100000"/>
                  <a:buChar char="•"/>
                </a:pPr>
                <a:r>
                  <a:rPr lang="en-GB" sz="1500" b="1" dirty="0">
                    <a:solidFill>
                      <a:srgbClr val="14283C"/>
                    </a:solidFill>
                    <a:latin typeface="Arial" panose="020B0604020202020204" pitchFamily="34" charset="0"/>
                    <a:ea typeface="Arial" pitchFamily="34" charset="-122"/>
                    <a:cs typeface="Arial" panose="020B0604020202020204" pitchFamily="34" charset="0"/>
                  </a:rPr>
                  <a:t>Top and bottom positions identical in every run</a:t>
                </a:r>
                <a:endParaRPr lang="en-GB" sz="1500" dirty="0">
                  <a:latin typeface="Arial" panose="020B0604020202020204" pitchFamily="34" charset="0"/>
                  <a:cs typeface="Arial" panose="020B0604020202020204" pitchFamily="34" charset="0"/>
                </a:endParaRPr>
              </a:p>
            </p:txBody>
          </p:sp>
        </mc:Choice>
        <mc:Fallback>
          <p:sp>
            <p:nvSpPr>
              <p:cNvPr id="5" name="Text 3"/>
              <p:cNvSpPr>
                <a:spLocks noRot="1" noChangeAspect="1" noMove="1" noResize="1" noEditPoints="1" noAdjustHandles="1" noChangeArrowheads="1" noChangeShapeType="1" noTextEdit="1"/>
              </p:cNvSpPr>
              <p:nvPr/>
            </p:nvSpPr>
            <p:spPr>
              <a:xfrm>
                <a:off x="685800" y="2240280"/>
                <a:ext cx="5212080" cy="3200400"/>
              </a:xfrm>
              <a:prstGeom prst="rect">
                <a:avLst/>
              </a:prstGeom>
              <a:blipFill>
                <a:blip r:embed="rId3"/>
                <a:stretch>
                  <a:fillRect l="-2190" t="-1976" r="-2433"/>
                </a:stretch>
              </a:blipFill>
              <a:ln/>
            </p:spPr>
            <p:txBody>
              <a:bodyPr/>
              <a:lstStyle/>
              <a:p>
                <a:r>
                  <a:rPr lang="en-CH">
                    <a:noFill/>
                  </a:rPr>
                  <a:t> </a:t>
                </a:r>
              </a:p>
            </p:txBody>
          </p:sp>
        </mc:Fallback>
      </mc:AlternateContent>
      <p:sp>
        <p:nvSpPr>
          <p:cNvPr id="6" name="Shape 4"/>
          <p:cNvSpPr/>
          <p:nvPr/>
        </p:nvSpPr>
        <p:spPr>
          <a:xfrm>
            <a:off x="6583680" y="1828800"/>
            <a:ext cx="4892040" cy="3383280"/>
          </a:xfrm>
          <a:prstGeom prst="rect">
            <a:avLst/>
          </a:prstGeom>
          <a:solidFill>
            <a:srgbClr val="F7F9FA"/>
          </a:solidFill>
          <a:ln/>
          <a:effectLst>
            <a:outerShdw blurRad="76200" dist="25400" dir="5400000" algn="bl" rotWithShape="0">
              <a:srgbClr val="9AA7B2">
                <a:alpha val="25000"/>
              </a:srgbClr>
            </a:outerShdw>
          </a:effectLst>
        </p:spPr>
        <p:txBody>
          <a:bodyPr/>
          <a:lstStyle/>
          <a:p>
            <a:endParaRPr lang="en-GB" dirty="0"/>
          </a:p>
        </p:txBody>
      </p:sp>
      <p:sp>
        <p:nvSpPr>
          <p:cNvPr id="7" name="Text 5"/>
          <p:cNvSpPr/>
          <p:nvPr/>
        </p:nvSpPr>
        <p:spPr>
          <a:xfrm>
            <a:off x="6858000" y="2057400"/>
            <a:ext cx="4389120" cy="274320"/>
          </a:xfrm>
          <a:prstGeom prst="rect">
            <a:avLst/>
          </a:prstGeom>
          <a:noFill/>
          <a:ln/>
        </p:spPr>
        <p:txBody>
          <a:bodyPr wrap="square" lIns="0" tIns="0" rIns="0" bIns="0" rtlCol="0" anchor="ctr"/>
          <a:lstStyle/>
          <a:p>
            <a:pPr marL="0" indent="0">
              <a:buNone/>
            </a:pPr>
            <a:r>
              <a:rPr lang="en-GB" sz="1400" b="1" kern="0" spc="200" dirty="0">
                <a:solidFill>
                  <a:srgbClr val="5C7186"/>
                </a:solidFill>
                <a:latin typeface="Courier New" pitchFamily="34" charset="0"/>
                <a:ea typeface="Courier New" pitchFamily="34" charset="-122"/>
                <a:cs typeface="Courier New" pitchFamily="34" charset="-120"/>
              </a:rPr>
              <a:t>FULL WEIGHT SPACE · 20,000 DRAWS</a:t>
            </a:r>
            <a:endParaRPr lang="en-GB" sz="14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marL="0" indent="0">
              <a:buNone/>
            </a:pPr>
            <a:r>
              <a:rPr lang="en-GB" sz="6000" b="1" dirty="0">
                <a:solidFill>
                  <a:srgbClr val="14283C"/>
                </a:solidFill>
                <a:latin typeface="Courier New" pitchFamily="34" charset="0"/>
                <a:ea typeface="Courier New" pitchFamily="34" charset="-122"/>
                <a:cs typeface="Courier New" pitchFamily="34" charset="-120"/>
              </a:rPr>
              <a:t>99.1%</a:t>
            </a:r>
            <a:endParaRPr lang="en-GB"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marL="0" indent="0">
              <a:lnSpc>
                <a:spcPct val="115000"/>
              </a:lnSpc>
              <a:buNone/>
            </a:pPr>
            <a:r>
              <a:rPr lang="en-GB" sz="1400" dirty="0">
                <a:solidFill>
                  <a:srgbClr val="2A3F55"/>
                </a:solidFill>
                <a:latin typeface="Arial" pitchFamily="34" charset="0"/>
                <a:ea typeface="Arial" pitchFamily="34" charset="-122"/>
                <a:cs typeface="Arial" pitchFamily="34" charset="-120"/>
              </a:rPr>
              <a:t>of all admissible weightings place SVC-03 last; the high-priority cluster {SVC-04, SVC-06, SVC-02} holds the top three in the large majority. Sensitivity is confined to the middle ranks.</a:t>
            </a:r>
            <a:endParaRPr lang="en-GB" sz="1400" dirty="0"/>
          </a:p>
        </p:txBody>
      </p:sp>
      <p:sp>
        <p:nvSpPr>
          <p:cNvPr id="10" name="Shape 8"/>
          <p:cNvSpPr/>
          <p:nvPr/>
        </p:nvSpPr>
        <p:spPr>
          <a:xfrm>
            <a:off x="685800" y="5806440"/>
            <a:ext cx="10789920" cy="713232"/>
          </a:xfrm>
          <a:prstGeom prst="rect">
            <a:avLst/>
          </a:prstGeom>
          <a:solidFill>
            <a:srgbClr val="F2F7F6"/>
          </a:solidFill>
          <a:ln/>
        </p:spPr>
        <p:txBody>
          <a:bodyPr/>
          <a:lstStyle/>
          <a:p>
            <a:endParaRPr lang="en-GB" dirty="0"/>
          </a:p>
        </p:txBody>
      </p:sp>
      <p:sp>
        <p:nvSpPr>
          <p:cNvPr id="11" name="Text 9"/>
          <p:cNvSpPr/>
          <p:nvPr/>
        </p:nvSpPr>
        <p:spPr>
          <a:xfrm>
            <a:off x="886968" y="5879592"/>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GB"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DISCRIMINANT VALUE</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Does it earn its complexity?</a:t>
            </a:r>
            <a:endParaRPr lang="en-GB"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Against a ranking by incident frequency alone:  </a:t>
            </a:r>
            <a:r>
              <a:rPr lang="en-GB" sz="1500" b="1" dirty="0" err="1">
                <a:solidFill>
                  <a:srgbClr val="14283C"/>
                </a:solidFill>
                <a:latin typeface="Courier New" pitchFamily="34" charset="0"/>
                <a:ea typeface="Courier New" pitchFamily="34" charset="-122"/>
                <a:cs typeface="Courier New" pitchFamily="34" charset="-120"/>
              </a:rPr>
              <a:t>τ</a:t>
            </a:r>
            <a:r>
              <a:rPr lang="en-GB" sz="1500" b="1" dirty="0">
                <a:solidFill>
                  <a:srgbClr val="14283C"/>
                </a:solidFill>
                <a:latin typeface="Courier New" pitchFamily="34" charset="0"/>
                <a:ea typeface="Courier New" pitchFamily="34" charset="-122"/>
                <a:cs typeface="Courier New" pitchFamily="34" charset="-120"/>
              </a:rPr>
              <a:t> = 0.600</a:t>
            </a:r>
            <a:r>
              <a:rPr lang="en-GB" sz="1500" dirty="0">
                <a:solidFill>
                  <a:srgbClr val="14283C"/>
                </a:solidFill>
                <a:latin typeface="Arial" pitchFamily="34" charset="0"/>
                <a:ea typeface="Arial" pitchFamily="34" charset="-122"/>
                <a:cs typeface="Arial" pitchFamily="34" charset="-120"/>
              </a:rPr>
              <a:t> (2025),  </a:t>
            </a:r>
            <a:r>
              <a:rPr lang="en-GB" sz="1500" b="1" dirty="0" err="1">
                <a:solidFill>
                  <a:srgbClr val="14283C"/>
                </a:solidFill>
                <a:latin typeface="Courier New" pitchFamily="34" charset="0"/>
                <a:ea typeface="Courier New" pitchFamily="34" charset="-122"/>
                <a:cs typeface="Courier New" pitchFamily="34" charset="-120"/>
              </a:rPr>
              <a:t>τ</a:t>
            </a:r>
            <a:r>
              <a:rPr lang="en-GB" sz="1500" b="1" dirty="0">
                <a:solidFill>
                  <a:srgbClr val="14283C"/>
                </a:solidFill>
                <a:latin typeface="Courier New" pitchFamily="34" charset="0"/>
                <a:ea typeface="Courier New" pitchFamily="34" charset="-122"/>
                <a:cs typeface="Courier New" pitchFamily="34" charset="-120"/>
              </a:rPr>
              <a:t> = 0.200</a:t>
            </a:r>
            <a:r>
              <a:rPr lang="en-GB" sz="1500" dirty="0">
                <a:solidFill>
                  <a:srgbClr val="14283C"/>
                </a:solidFill>
                <a:latin typeface="Arial" pitchFamily="34" charset="0"/>
                <a:ea typeface="Arial" pitchFamily="34" charset="-122"/>
                <a:cs typeface="Arial" pitchFamily="34" charset="-120"/>
              </a:rPr>
              <a:t> (2024).</a:t>
            </a:r>
            <a:endParaRPr lang="en-GB" sz="1500" dirty="0"/>
          </a:p>
        </p:txBody>
      </p:sp>
      <p:sp>
        <p:nvSpPr>
          <p:cNvPr id="5" name="Shape 3"/>
          <p:cNvSpPr/>
          <p:nvPr/>
        </p:nvSpPr>
        <p:spPr>
          <a:xfrm>
            <a:off x="685800" y="2423160"/>
            <a:ext cx="5257800" cy="2286000"/>
          </a:xfrm>
          <a:prstGeom prst="rect">
            <a:avLst/>
          </a:prstGeom>
          <a:solidFill>
            <a:srgbClr val="FBF4E8"/>
          </a:solidFill>
          <a:ln/>
          <a:effectLst>
            <a:outerShdw blurRad="63500" dist="25400" dir="5400000" algn="bl" rotWithShape="0">
              <a:srgbClr val="9AA7B2">
                <a:alpha val="22000"/>
              </a:srgbClr>
            </a:outerShdw>
          </a:effectLst>
        </p:spPr>
        <p:txBody>
          <a:bodyPr/>
          <a:lstStyle/>
          <a:p>
            <a:endParaRPr lang="en-GB" dirty="0"/>
          </a:p>
        </p:txBody>
      </p:sp>
      <p:sp>
        <p:nvSpPr>
          <p:cNvPr id="6" name="Text 4"/>
          <p:cNvSpPr/>
          <p:nvPr/>
        </p:nvSpPr>
        <p:spPr>
          <a:xfrm>
            <a:off x="914400" y="2606040"/>
            <a:ext cx="4800600" cy="320040"/>
          </a:xfrm>
          <a:prstGeom prst="rect">
            <a:avLst/>
          </a:prstGeom>
          <a:noFill/>
          <a:ln/>
        </p:spPr>
        <p:txBody>
          <a:bodyPr wrap="square" lIns="0" tIns="0" rIns="0" bIns="0" rtlCol="0" anchor="ctr"/>
          <a:lstStyle/>
          <a:p>
            <a:pPr marL="0" indent="0">
              <a:buNone/>
            </a:pPr>
            <a:r>
              <a:rPr lang="en-GB" sz="1600" b="1" dirty="0">
                <a:solidFill>
                  <a:srgbClr val="D98E1F"/>
                </a:solidFill>
                <a:latin typeface="Arial" pitchFamily="34" charset="0"/>
                <a:ea typeface="Arial" pitchFamily="34" charset="-122"/>
                <a:cs typeface="Arial" pitchFamily="34" charset="-120"/>
              </a:rPr>
              <a:t>SVC-02 rises</a:t>
            </a:r>
            <a:endParaRPr lang="en-GB" sz="16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marL="0" indent="0">
              <a:lnSpc>
                <a:spcPct val="115000"/>
              </a:lnSpc>
              <a:buNone/>
            </a:pPr>
            <a:r>
              <a:rPr lang="en-GB" sz="1400" dirty="0">
                <a:solidFill>
                  <a:srgbClr val="2A3F55"/>
                </a:solidFill>
                <a:latin typeface="Arial" pitchFamily="34" charset="0"/>
                <a:ea typeface="Arial" pitchFamily="34" charset="-122"/>
                <a:cs typeface="Arial" pitchFamily="34" charset="-120"/>
              </a:rPr>
              <a:t>Infrastructure lifecycle debt (1,221 unsupported component months, patch recency of 59.93, second lowest) is invisible to an incident count. This is precisely the signal the framework was built to surface.</a:t>
            </a:r>
            <a:endParaRPr lang="en-GB" sz="1400" dirty="0"/>
          </a:p>
        </p:txBody>
      </p:sp>
      <p:sp>
        <p:nvSpPr>
          <p:cNvPr id="8" name="Shape 6"/>
          <p:cNvSpPr/>
          <p:nvPr/>
        </p:nvSpPr>
        <p:spPr>
          <a:xfrm>
            <a:off x="6217920" y="2423160"/>
            <a:ext cx="5257800" cy="2286000"/>
          </a:xfrm>
          <a:prstGeom prst="rect">
            <a:avLst/>
          </a:prstGeom>
          <a:solidFill>
            <a:srgbClr val="F7F9FA"/>
          </a:solidFill>
          <a:ln/>
          <a:effectLst>
            <a:outerShdw blurRad="63500" dist="25400" dir="5400000" algn="bl" rotWithShape="0">
              <a:srgbClr val="9AA7B2">
                <a:alpha val="22000"/>
              </a:srgbClr>
            </a:outerShdw>
          </a:effectLst>
        </p:spPr>
        <p:txBody>
          <a:bodyPr/>
          <a:lstStyle/>
          <a:p>
            <a:endParaRPr lang="en-GB" dirty="0"/>
          </a:p>
        </p:txBody>
      </p:sp>
      <p:sp>
        <p:nvSpPr>
          <p:cNvPr id="9" name="Text 7"/>
          <p:cNvSpPr/>
          <p:nvPr/>
        </p:nvSpPr>
        <p:spPr>
          <a:xfrm>
            <a:off x="6446520" y="2606040"/>
            <a:ext cx="480060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SVC-05 falls</a:t>
            </a:r>
            <a:endParaRPr lang="en-GB" sz="16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marL="0" indent="0">
              <a:lnSpc>
                <a:spcPct val="115000"/>
              </a:lnSpc>
              <a:buNone/>
            </a:pPr>
            <a:r>
              <a:rPr lang="en-GB" sz="14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GB" sz="1400" dirty="0"/>
          </a:p>
        </p:txBody>
      </p:sp>
      <p:sp>
        <p:nvSpPr>
          <p:cNvPr id="11" name="Shape 9"/>
          <p:cNvSpPr/>
          <p:nvPr/>
        </p:nvSpPr>
        <p:spPr>
          <a:xfrm>
            <a:off x="685800" y="5815233"/>
            <a:ext cx="10789920" cy="713232"/>
          </a:xfrm>
          <a:prstGeom prst="rect">
            <a:avLst/>
          </a:prstGeom>
          <a:solidFill>
            <a:srgbClr val="F2F7F6"/>
          </a:solidFill>
          <a:ln/>
        </p:spPr>
        <p:txBody>
          <a:bodyPr/>
          <a:lstStyle/>
          <a:p>
            <a:endParaRPr lang="en-GB" dirty="0"/>
          </a:p>
        </p:txBody>
      </p:sp>
      <p:sp>
        <p:nvSpPr>
          <p:cNvPr id="12" name="Text 10"/>
          <p:cNvSpPr/>
          <p:nvPr/>
        </p:nvSpPr>
        <p:spPr>
          <a:xfrm>
            <a:off x="886968" y="5888385"/>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3" name="Text 11"/>
          <p:cNvSpPr/>
          <p:nvPr/>
        </p:nvSpPr>
        <p:spPr>
          <a:xfrm>
            <a:off x="886968" y="6089553"/>
            <a:ext cx="10424160" cy="384048"/>
          </a:xfrm>
          <a:prstGeom prst="rect">
            <a:avLst/>
          </a:prstGeom>
          <a:noFill/>
          <a:ln/>
        </p:spPr>
        <p:txBody>
          <a:bodyPr wrap="square" lIns="0" tIns="0" rIns="0" bIns="0" rtlCol="0" anchor="t"/>
          <a:lstStyle/>
          <a:p>
            <a:r>
              <a:rPr lang="en-GB"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t>
            </a:r>
            <a:r>
              <a:rPr lang="en-GB" sz="1250" dirty="0" err="1">
                <a:solidFill>
                  <a:srgbClr val="14283C"/>
                </a:solidFill>
                <a:latin typeface="Arial" pitchFamily="34" charset="0"/>
                <a:ea typeface="Arial" pitchFamily="34" charset="-122"/>
                <a:cs typeface="Arial" pitchFamily="34" charset="-120"/>
              </a:rPr>
              <a:t>Albarak</a:t>
            </a:r>
            <a:r>
              <a:rPr lang="en-GB" sz="1250" dirty="0">
                <a:solidFill>
                  <a:srgbClr val="14283C"/>
                </a:solidFill>
                <a:latin typeface="Arial" pitchFamily="34" charset="0"/>
                <a:ea typeface="Arial" pitchFamily="34" charset="-122"/>
                <a:cs typeface="Arial" pitchFamily="34" charset="-120"/>
              </a:rPr>
              <a:t> </a:t>
            </a:r>
            <a:r>
              <a:rPr lang="en-GB" sz="1250" i="1" dirty="0">
                <a:solidFill>
                  <a:srgbClr val="14283C"/>
                </a:solidFill>
                <a:latin typeface="Arial" pitchFamily="34" charset="0"/>
                <a:ea typeface="Arial" pitchFamily="34" charset="-122"/>
                <a:cs typeface="Arial" pitchFamily="34" charset="-120"/>
              </a:rPr>
              <a:t>et al.</a:t>
            </a:r>
            <a:r>
              <a:rPr lang="en-GB" sz="1250" dirty="0">
                <a:solidFill>
                  <a:srgbClr val="14283C"/>
                </a:solidFill>
                <a:latin typeface="Arial" pitchFamily="34" charset="0"/>
                <a:ea typeface="Arial" pitchFamily="34" charset="-122"/>
                <a:cs typeface="Arial" pitchFamily="34" charset="-120"/>
              </a:rPr>
              <a:t>, 2022).</a:t>
            </a:r>
            <a:endParaRPr lang="en-GB"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CONVERGENT VALIDITY · SECTION 5.6</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Where the methods disagree, and why that is a finding</a:t>
            </a:r>
            <a:endParaRPr lang="en-GB" sz="3000" dirty="0"/>
          </a:p>
        </p:txBody>
      </p:sp>
      <p:sp>
        <p:nvSpPr>
          <p:cNvPr id="4" name="Text 2"/>
          <p:cNvSpPr/>
          <p:nvPr/>
        </p:nvSpPr>
        <p:spPr>
          <a:xfrm>
            <a:off x="685800" y="1783079"/>
            <a:ext cx="10789920" cy="467751"/>
          </a:xfrm>
          <a:prstGeom prst="rect">
            <a:avLst/>
          </a:prstGeom>
          <a:noFill/>
          <a:ln/>
        </p:spPr>
        <p:txBody>
          <a:bodyPr wrap="square" lIns="0" tIns="0" rIns="0" bIns="0" rtlCol="0" anchor="ctr"/>
          <a:lstStyle/>
          <a:p>
            <a:pPr marL="0" indent="0">
              <a:buNone/>
            </a:pPr>
            <a:r>
              <a:rPr lang="en-GB" sz="1500" dirty="0">
                <a:solidFill>
                  <a:srgbClr val="14283C"/>
                </a:solidFill>
                <a:latin typeface="Arial" pitchFamily="34" charset="0"/>
                <a:ea typeface="Arial" pitchFamily="34" charset="-122"/>
                <a:cs typeface="Arial" pitchFamily="34" charset="-120"/>
              </a:rPr>
              <a:t>All methods agree on the portfolio halves and on SVC-03 last, in every year and configuration.</a:t>
            </a:r>
          </a:p>
          <a:p>
            <a:pPr marL="0" indent="0">
              <a:buNone/>
            </a:pPr>
            <a:r>
              <a:rPr lang="en-GB" sz="1500" dirty="0">
                <a:solidFill>
                  <a:srgbClr val="14283C"/>
                </a:solidFill>
                <a:latin typeface="Arial" pitchFamily="34" charset="0"/>
                <a:ea typeface="Arial" pitchFamily="34" charset="-122"/>
                <a:cs typeface="Arial" pitchFamily="34" charset="-120"/>
              </a:rPr>
              <a:t>They disagree on one thing: </a:t>
            </a:r>
            <a:r>
              <a:rPr lang="en-GB" sz="1500" b="1" dirty="0">
                <a:solidFill>
                  <a:srgbClr val="D98E1F"/>
                </a:solidFill>
                <a:latin typeface="Arial" pitchFamily="34" charset="0"/>
                <a:ea typeface="Arial" pitchFamily="34" charset="-122"/>
                <a:cs typeface="Arial" pitchFamily="34" charset="-120"/>
              </a:rPr>
              <a:t>SVC-06.</a:t>
            </a:r>
            <a:endParaRPr lang="en-GB" sz="1500" dirty="0"/>
          </a:p>
        </p:txBody>
      </p:sp>
      <mc:AlternateContent xmlns:mc="http://schemas.openxmlformats.org/markup-compatibility/2006">
        <mc:Choice xmlns:a14="http://schemas.microsoft.com/office/drawing/2010/main" Requires="a14">
          <p:graphicFrame>
            <p:nvGraphicFramePr>
              <p:cNvPr id="12" name="Table 0"/>
              <p:cNvGraphicFramePr>
                <a:graphicFrameLocks noGrp="1"/>
              </p:cNvGraphicFramePr>
              <p:nvPr>
                <p:extLst>
                  <p:ext uri="{D42A27DB-BD31-4B8C-83A1-F6EECF244321}">
                    <p14:modId xmlns:p14="http://schemas.microsoft.com/office/powerpoint/2010/main" val="4013289802"/>
                  </p:ext>
                </p:extLst>
              </p:nvPr>
            </p:nvGraphicFramePr>
            <p:xfrm>
              <a:off x="685800" y="2570870"/>
              <a:ext cx="7589520" cy="1920240"/>
            </p:xfrm>
            <a:graphic>
              <a:graphicData uri="http://schemas.openxmlformats.org/drawingml/2006/table">
                <a:tbl>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endParaRPr lang="en-GB"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GB" sz="1400" b="1" dirty="0">
                              <a:solidFill>
                                <a:srgbClr val="14283C"/>
                              </a:solidFill>
                              <a:latin typeface="Arial" pitchFamily="34" charset="0"/>
                              <a:ea typeface="Arial" pitchFamily="34" charset="-122"/>
                              <a:cs typeface="Arial" pitchFamily="34" charset="-120"/>
                            </a:rPr>
                            <a:t>SAW / VIKOR</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GB" sz="1400" b="1" dirty="0">
                              <a:solidFill>
                                <a:srgbClr val="14283C"/>
                              </a:solidFill>
                              <a:latin typeface="Arial" pitchFamily="34" charset="0"/>
                              <a:ea typeface="Arial" pitchFamily="34" charset="-122"/>
                              <a:cs typeface="Arial" pitchFamily="34" charset="-120"/>
                            </a:rPr>
                            <a:t>TOPSIS ABSOLUTE MODE</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2024 rank of SVC-06</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1st (VIKOR regret at maximum)</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5th (C* = 0.853)</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2025 rank of SVC-06</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1st</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1st (C* = 0.609)</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Agreement, 2024</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14:m>
                            <m:oMath xmlns:m="http://schemas.openxmlformats.org/officeDocument/2006/math">
                              <m:r>
                                <a:rPr lang="en-GB" sz="1400" i="1" dirty="0" smtClean="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GB" sz="1400" dirty="0">
                              <a:solidFill>
                                <a:srgbClr val="14283C"/>
                              </a:solidFill>
                              <a:latin typeface="Arial" pitchFamily="34" charset="0"/>
                              <a:ea typeface="Arial" pitchFamily="34" charset="-122"/>
                              <a:cs typeface="Arial" pitchFamily="34" charset="-120"/>
                            </a:rPr>
                            <a:t> = 0.20 / 0.33</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Agreement, 2025</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14:m>
                            <m:oMath xmlns:m="http://schemas.openxmlformats.org/officeDocument/2006/math">
                              <m:r>
                                <a:rPr lang="en-GB" sz="1400" i="1" dirty="0" smtClean="0">
                                  <a:solidFill>
                                    <a:srgbClr val="14283C"/>
                                  </a:solidFill>
                                  <a:latin typeface="Cambria Math" panose="02040503050406030204" pitchFamily="18" charset="0"/>
                                  <a:ea typeface="Cambria Math" panose="02040503050406030204" pitchFamily="18" charset="0"/>
                                  <a:cs typeface="Arial" pitchFamily="34" charset="-120"/>
                                </a:rPr>
                                <m:t>𝜏</m:t>
                              </m:r>
                            </m:oMath>
                          </a14:m>
                          <a:r>
                            <a:rPr lang="en-GB" sz="1400" dirty="0">
                              <a:solidFill>
                                <a:srgbClr val="14283C"/>
                              </a:solidFill>
                              <a:latin typeface="Arial" pitchFamily="34" charset="0"/>
                              <a:ea typeface="Arial" pitchFamily="34" charset="-122"/>
                              <a:cs typeface="Arial" pitchFamily="34" charset="-120"/>
                            </a:rPr>
                            <a:t> = 1.00</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Choice>
        <mc:Fallback>
          <p:graphicFrame>
            <p:nvGraphicFramePr>
              <p:cNvPr id="12" name="Table 0"/>
              <p:cNvGraphicFramePr>
                <a:graphicFrameLocks noGrp="1"/>
              </p:cNvGraphicFramePr>
              <p:nvPr>
                <p:extLst>
                  <p:ext uri="{D42A27DB-BD31-4B8C-83A1-F6EECF244321}">
                    <p14:modId xmlns:p14="http://schemas.microsoft.com/office/powerpoint/2010/main" val="4013289802"/>
                  </p:ext>
                </p:extLst>
              </p:nvPr>
            </p:nvGraphicFramePr>
            <p:xfrm>
              <a:off x="685800" y="2570870"/>
              <a:ext cx="7589520" cy="1920240"/>
            </p:xfrm>
            <a:graphic>
              <a:graphicData uri="http://schemas.openxmlformats.org/drawingml/2006/table">
                <a:tbl>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endParaRPr lang="en-GB"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GB" sz="1400" b="1" dirty="0">
                              <a:solidFill>
                                <a:srgbClr val="14283C"/>
                              </a:solidFill>
                              <a:latin typeface="Arial" pitchFamily="34" charset="0"/>
                              <a:ea typeface="Arial" pitchFamily="34" charset="-122"/>
                              <a:cs typeface="Arial" pitchFamily="34" charset="-120"/>
                            </a:rPr>
                            <a:t>SAW / VIKOR</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marL="0" indent="0">
                            <a:buNone/>
                          </a:pPr>
                          <a:r>
                            <a:rPr lang="en-GB" sz="1400" b="1" dirty="0">
                              <a:solidFill>
                                <a:srgbClr val="14283C"/>
                              </a:solidFill>
                              <a:latin typeface="Arial" pitchFamily="34" charset="0"/>
                              <a:ea typeface="Arial" pitchFamily="34" charset="-122"/>
                              <a:cs typeface="Arial" pitchFamily="34" charset="-120"/>
                            </a:rPr>
                            <a:t>TOPSIS ABSOLUTE MODE</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2024 rank of SVC-06</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1st (VIKOR regret at maximum)</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5th (C* = 0.853)</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2025 rank of SVC-06</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1st</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1st (C* = 0.609)</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Agreement, 2024</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endParaRPr lang="en-CH"/>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blipFill>
                          <a:blip r:embed="rId3"/>
                          <a:stretch>
                            <a:fillRect l="-186603" t="-293548" r="-478" b="-103226"/>
                          </a:stretch>
                        </a:blipFill>
                      </a:tcPr>
                    </a:tc>
                    <a:extLst>
                      <a:ext uri="{0D108BD9-81ED-4DB2-BD59-A6C34878D82A}">
                        <a16:rowId xmlns:a16="http://schemas.microsoft.com/office/drawing/2014/main" val="10003"/>
                      </a:ext>
                    </a:extLst>
                  </a:tr>
                  <a:tr h="384048">
                    <a:tc>
                      <a:txBody>
                        <a:bodyPr/>
                        <a:lstStyle/>
                        <a:p>
                          <a:pPr marL="0" indent="0">
                            <a:buNone/>
                          </a:pPr>
                          <a:r>
                            <a:rPr lang="en-GB" sz="1400" dirty="0">
                              <a:solidFill>
                                <a:srgbClr val="14283C"/>
                              </a:solidFill>
                              <a:latin typeface="Arial" pitchFamily="34" charset="0"/>
                              <a:ea typeface="Arial" pitchFamily="34" charset="-122"/>
                              <a:cs typeface="Arial" pitchFamily="34" charset="-120"/>
                            </a:rPr>
                            <a:t>Agreement, 2025</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pPr marL="0" indent="0">
                            <a:buNone/>
                          </a:pPr>
                          <a:r>
                            <a:rPr lang="en-GB" sz="1400" dirty="0">
                              <a:solidFill>
                                <a:srgbClr val="14283C"/>
                              </a:solidFill>
                              <a:latin typeface="Arial" pitchFamily="34" charset="0"/>
                              <a:ea typeface="Arial" pitchFamily="34" charset="-122"/>
                              <a:cs typeface="Arial" pitchFamily="34" charset="-120"/>
                            </a:rPr>
                            <a:t>—</a:t>
                          </a:r>
                          <a:endParaRPr lang="en-GB" sz="1400" dirty="0">
                            <a:latin typeface="Arial" charset="0"/>
                            <a:ea typeface="Arial" charset="0"/>
                            <a:cs typeface="Arial" charset="0"/>
                          </a:endParaRPr>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tcPr>
                    </a:tc>
                    <a:tc>
                      <a:txBody>
                        <a:bodyPr/>
                        <a:lstStyle/>
                        <a:p>
                          <a:endParaRPr lang="en-CH"/>
                        </a:p>
                      </a:txBody>
                      <a:tcPr marL="45720" marR="45720" anchor="ctr">
                        <a:lnL w="0" cap="flat" cmpd="sng" algn="ctr">
                          <a:noFill/>
                        </a:lnL>
                        <a:lnR w="0" cap="flat" cmpd="sng" algn="ctr">
                          <a:noFill/>
                        </a:lnR>
                        <a:lnT w="9525" cap="flat" cmpd="sng" algn="ctr">
                          <a:solidFill>
                            <a:srgbClr val="D8DFE5"/>
                          </a:solidFill>
                          <a:prstDash val="solid"/>
                          <a:round/>
                          <a:headEnd type="none" w="med" len="med"/>
                          <a:tailEnd type="none" w="med" len="med"/>
                        </a:lnT>
                        <a:lnB w="9525" cap="flat" cmpd="sng" algn="ctr">
                          <a:solidFill>
                            <a:srgbClr val="D8DFE5"/>
                          </a:solidFill>
                          <a:prstDash val="solid"/>
                          <a:round/>
                          <a:headEnd type="none" w="med" len="med"/>
                          <a:tailEnd type="none" w="med" len="med"/>
                        </a:lnB>
                        <a:blipFill>
                          <a:blip r:embed="rId3"/>
                          <a:stretch>
                            <a:fillRect l="-186603" t="-406667" r="-478" b="-6667"/>
                          </a:stretch>
                        </a:blipFill>
                      </a:tcPr>
                    </a:tc>
                    <a:extLst>
                      <a:ext uri="{0D108BD9-81ED-4DB2-BD59-A6C34878D82A}">
                        <a16:rowId xmlns:a16="http://schemas.microsoft.com/office/drawing/2014/main" val="10004"/>
                      </a:ext>
                    </a:extLst>
                  </a:tr>
                </a:tbl>
              </a:graphicData>
            </a:graphic>
          </p:graphicFrame>
        </mc:Fallback>
      </mc:AlternateContent>
      <p:sp>
        <p:nvSpPr>
          <p:cNvPr id="6" name="Shape 3"/>
          <p:cNvSpPr/>
          <p:nvPr/>
        </p:nvSpPr>
        <p:spPr>
          <a:xfrm>
            <a:off x="8549640" y="2570869"/>
            <a:ext cx="2926080" cy="2627143"/>
          </a:xfrm>
          <a:prstGeom prst="rect">
            <a:avLst/>
          </a:prstGeom>
          <a:solidFill>
            <a:srgbClr val="FBF4E8"/>
          </a:solidFill>
          <a:ln/>
        </p:spPr>
        <p:txBody>
          <a:bodyPr/>
          <a:lstStyle/>
          <a:p>
            <a:endParaRPr lang="en-GB" dirty="0"/>
          </a:p>
        </p:txBody>
      </p:sp>
      <p:sp>
        <p:nvSpPr>
          <p:cNvPr id="7" name="Text 4"/>
          <p:cNvSpPr/>
          <p:nvPr/>
        </p:nvSpPr>
        <p:spPr>
          <a:xfrm>
            <a:off x="8732520" y="2708030"/>
            <a:ext cx="2560320" cy="228600"/>
          </a:xfrm>
          <a:prstGeom prst="rect">
            <a:avLst/>
          </a:prstGeom>
          <a:noFill/>
          <a:ln/>
        </p:spPr>
        <p:txBody>
          <a:bodyPr wrap="square" lIns="0" tIns="0" rIns="0" bIns="0" rtlCol="0" anchor="ctr"/>
          <a:lstStyle/>
          <a:p>
            <a:pPr marL="0" indent="0">
              <a:buNone/>
            </a:pPr>
            <a:r>
              <a:rPr lang="en-GB" sz="1400" b="1" kern="0" spc="200" dirty="0">
                <a:solidFill>
                  <a:srgbClr val="D98E1F"/>
                </a:solidFill>
                <a:latin typeface="Courier New" pitchFamily="34" charset="0"/>
                <a:ea typeface="Courier New" pitchFamily="34" charset="-122"/>
                <a:cs typeface="Courier New" pitchFamily="34" charset="-120"/>
              </a:rPr>
              <a:t>MECHANISM</a:t>
            </a:r>
            <a:endParaRPr lang="en-GB" sz="1000" dirty="0"/>
          </a:p>
        </p:txBody>
      </p:sp>
      <p:sp>
        <p:nvSpPr>
          <p:cNvPr id="8" name="Text 5"/>
          <p:cNvSpPr/>
          <p:nvPr/>
        </p:nvSpPr>
        <p:spPr>
          <a:xfrm>
            <a:off x="8732520" y="2982350"/>
            <a:ext cx="2606040" cy="1874520"/>
          </a:xfrm>
          <a:prstGeom prst="rect">
            <a:avLst/>
          </a:prstGeom>
          <a:noFill/>
          <a:ln/>
        </p:spPr>
        <p:txBody>
          <a:bodyPr wrap="square" lIns="0" tIns="0" rIns="0" bIns="0" rtlCol="0" anchor="t"/>
          <a:lstStyle/>
          <a:p>
            <a:pPr marL="0" indent="0">
              <a:lnSpc>
                <a:spcPct val="112000"/>
              </a:lnSpc>
              <a:buNone/>
            </a:pPr>
            <a:r>
              <a:rPr lang="en-GB" sz="1400" dirty="0">
                <a:solidFill>
                  <a:srgbClr val="2A3F55"/>
                </a:solidFill>
                <a:latin typeface="Arial" pitchFamily="34" charset="0"/>
                <a:ea typeface="Arial" pitchFamily="34" charset="-122"/>
                <a:cs typeface="Arial" pitchFamily="34" charset="-120"/>
              </a:rPr>
              <a:t>Sample-relative methods punish a worst-in-portfolio value however moderate it is absolutely. Absolute-mode TOPSIS measures distance to fixed anchors, so squared aggregation lets strong criteria dilute one concentrated weakness.</a:t>
            </a:r>
            <a:endParaRPr lang="en-GB" sz="1400" dirty="0"/>
          </a:p>
        </p:txBody>
      </p:sp>
      <p:sp>
        <p:nvSpPr>
          <p:cNvPr id="9" name="Shape 6"/>
          <p:cNvSpPr/>
          <p:nvPr/>
        </p:nvSpPr>
        <p:spPr>
          <a:xfrm>
            <a:off x="685800" y="5778305"/>
            <a:ext cx="10789920" cy="713232"/>
          </a:xfrm>
          <a:prstGeom prst="rect">
            <a:avLst/>
          </a:prstGeom>
          <a:solidFill>
            <a:srgbClr val="F2F7F6"/>
          </a:solidFill>
          <a:ln/>
        </p:spPr>
        <p:txBody>
          <a:bodyPr/>
          <a:lstStyle/>
          <a:p>
            <a:endParaRPr lang="en-GB" dirty="0"/>
          </a:p>
        </p:txBody>
      </p:sp>
      <p:sp>
        <p:nvSpPr>
          <p:cNvPr id="10" name="Text 7"/>
          <p:cNvSpPr/>
          <p:nvPr/>
        </p:nvSpPr>
        <p:spPr>
          <a:xfrm>
            <a:off x="886968" y="5851457"/>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1" name="Text 8"/>
          <p:cNvSpPr/>
          <p:nvPr/>
        </p:nvSpPr>
        <p:spPr>
          <a:xfrm>
            <a:off x="886968" y="6052625"/>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SVC-06's 2024 debt was concentrated; by 2025 it had broadened in absolute magnitude (VIKOR utility 0.491 → 0.559, regret still capped) and every method converged. Two lenses, one coherent story.</a:t>
            </a:r>
            <a:endParaRPr lang="en-GB" sz="1250" dirty="0"/>
          </a:p>
        </p:txBody>
      </p:sp>
      <p:sp>
        <p:nvSpPr>
          <p:cNvPr id="5" name="TextBox 4">
            <a:extLst>
              <a:ext uri="{FF2B5EF4-FFF2-40B4-BE49-F238E27FC236}">
                <a16:creationId xmlns:a16="http://schemas.microsoft.com/office/drawing/2014/main" id="{3EDA4C9F-E553-53DC-7A41-B29EF92FD3C8}"/>
              </a:ext>
            </a:extLst>
          </p:cNvPr>
          <p:cNvSpPr txBox="1"/>
          <p:nvPr/>
        </p:nvSpPr>
        <p:spPr>
          <a:xfrm>
            <a:off x="5640265" y="2971800"/>
            <a:ext cx="65" cy="276999"/>
          </a:xfrm>
          <a:prstGeom prst="rect">
            <a:avLst/>
          </a:prstGeom>
          <a:noFill/>
        </p:spPr>
        <p:txBody>
          <a:bodyPr wrap="none" lIns="0" tIns="0" rIns="0" bIns="0" rtlCol="0">
            <a:spAutoFit/>
          </a:bodyPr>
          <a:lstStyle/>
          <a:p>
            <a:endParaRPr lang="en-CH"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METHODOLOGICAL CONTRIBUTION</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Division of labour, not a winner</a:t>
            </a:r>
            <a:endParaRPr lang="en-GB"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Standard TOPSIS + SAW / VIKOR</a:t>
            </a:r>
            <a:endParaRPr lang="en-GB"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Primary prioritisation signal</a:t>
            </a:r>
            <a:endParaRPr lang="en-GB" sz="1500" dirty="0"/>
          </a:p>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Non-compensatory regret catches concentrated deficiencies, often the signal that matters most in debt work</a:t>
            </a:r>
            <a:endParaRPr lang="en-GB" sz="150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marL="0" indent="0">
              <a:buNone/>
            </a:pPr>
            <a:r>
              <a:rPr lang="en-GB" sz="1600" b="1" dirty="0">
                <a:solidFill>
                  <a:srgbClr val="14283C"/>
                </a:solidFill>
                <a:latin typeface="Arial" pitchFamily="34" charset="0"/>
                <a:ea typeface="Arial" pitchFamily="34" charset="-122"/>
                <a:cs typeface="Arial" pitchFamily="34" charset="-120"/>
              </a:rPr>
              <a:t>Absolute-mode TOPSIS</a:t>
            </a:r>
            <a:endParaRPr lang="en-GB"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Rank-reversal free by construction: fixed bounds and anchors (García-</a:t>
            </a:r>
            <a:r>
              <a:rPr lang="en-GB" sz="1500" dirty="0" err="1">
                <a:solidFill>
                  <a:srgbClr val="14283C"/>
                </a:solidFill>
                <a:latin typeface="Arial" pitchFamily="34" charset="0"/>
                <a:ea typeface="Arial" pitchFamily="34" charset="-122"/>
                <a:cs typeface="Arial" pitchFamily="34" charset="-120"/>
              </a:rPr>
              <a:t>Cascales</a:t>
            </a:r>
            <a:r>
              <a:rPr lang="en-GB" sz="1500" dirty="0">
                <a:solidFill>
                  <a:srgbClr val="14283C"/>
                </a:solidFill>
                <a:latin typeface="Arial" pitchFamily="34" charset="0"/>
                <a:ea typeface="Arial" pitchFamily="34" charset="-122"/>
                <a:cs typeface="Arial" pitchFamily="34" charset="-120"/>
              </a:rPr>
              <a:t> and Lamata 2012; Yang 2020)</a:t>
            </a:r>
            <a:endParaRPr lang="en-GB" sz="1500" dirty="0"/>
          </a:p>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GB" sz="1500" dirty="0"/>
          </a:p>
          <a:p>
            <a:pPr marL="177800" indent="-177800">
              <a:lnSpc>
                <a:spcPct val="112000"/>
              </a:lnSpc>
              <a:spcAft>
                <a:spcPts val="1000"/>
              </a:spcAft>
              <a:buSzPct val="100000"/>
              <a:buChar char="•"/>
            </a:pPr>
            <a:r>
              <a:rPr lang="en-GB" sz="1500" dirty="0">
                <a:solidFill>
                  <a:srgbClr val="14283C"/>
                </a:solidFill>
                <a:latin typeface="Arial" pitchFamily="34" charset="0"/>
                <a:ea typeface="Arial" pitchFamily="34" charset="-122"/>
                <a:cs typeface="Arial" pitchFamily="34" charset="-120"/>
              </a:rPr>
              <a:t>Complementary perspective; also powers the Monte Carlo cleanly</a:t>
            </a:r>
            <a:endParaRPr lang="en-GB" sz="1500" dirty="0"/>
          </a:p>
        </p:txBody>
      </p:sp>
      <p:sp>
        <p:nvSpPr>
          <p:cNvPr id="8" name="Shape 6"/>
          <p:cNvSpPr/>
          <p:nvPr/>
        </p:nvSpPr>
        <p:spPr>
          <a:xfrm>
            <a:off x="685800" y="5831058"/>
            <a:ext cx="10789920" cy="713232"/>
          </a:xfrm>
          <a:prstGeom prst="rect">
            <a:avLst/>
          </a:prstGeom>
          <a:solidFill>
            <a:srgbClr val="F2F7F6"/>
          </a:solidFill>
          <a:ln/>
        </p:spPr>
        <p:txBody>
          <a:bodyPr/>
          <a:lstStyle/>
          <a:p>
            <a:endParaRPr lang="en-GB" dirty="0"/>
          </a:p>
        </p:txBody>
      </p:sp>
      <p:sp>
        <p:nvSpPr>
          <p:cNvPr id="9" name="Text 7"/>
          <p:cNvSpPr/>
          <p:nvPr/>
        </p:nvSpPr>
        <p:spPr>
          <a:xfrm>
            <a:off x="886968" y="5904210"/>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0" name="Text 8"/>
          <p:cNvSpPr/>
          <p:nvPr/>
        </p:nvSpPr>
        <p:spPr>
          <a:xfrm>
            <a:off x="886968" y="6105378"/>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Whether SVC-04 or SVC-06 deserves the first remediation slot is a judgement about whether debt dimensions are compensatory. The framework informs that judgement; it does not settle it, and saying so is a feature.</a:t>
            </a:r>
            <a:endParaRPr lang="en-GB"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ANTICIPATED QUESTIONS · 1 OF 2</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Anticipated questions</a:t>
            </a:r>
            <a:endParaRPr lang="en-GB"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GB" sz="1600" b="1" dirty="0">
                <a:solidFill>
                  <a:srgbClr val="D98E1F"/>
                </a:solidFill>
                <a:latin typeface="Courier New" pitchFamily="34" charset="0"/>
                <a:ea typeface="Courier New" pitchFamily="34" charset="-122"/>
                <a:cs typeface="Courier New" pitchFamily="34" charset="-120"/>
              </a:rPr>
              <a:t>Q  </a:t>
            </a:r>
            <a:r>
              <a:rPr lang="en-GB" sz="1600" b="1" dirty="0">
                <a:solidFill>
                  <a:srgbClr val="14283C"/>
                </a:solidFill>
                <a:latin typeface="Arial" pitchFamily="34" charset="0"/>
                <a:ea typeface="Arial" pitchFamily="34" charset="-122"/>
                <a:cs typeface="Arial" pitchFamily="34" charset="-120"/>
              </a:rPr>
              <a:t>Only six services: what can that prove?</a:t>
            </a:r>
            <a:endParaRPr lang="en-GB" sz="16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marL="0" indent="0">
              <a:lnSpc>
                <a:spcPct val="112000"/>
              </a:lnSpc>
              <a:buNone/>
            </a:pPr>
            <a:r>
              <a:rPr lang="en-GB" sz="150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GB" sz="1500" dirty="0"/>
          </a:p>
        </p:txBody>
      </p:sp>
      <p:sp>
        <p:nvSpPr>
          <p:cNvPr id="6" name="Text 4"/>
          <p:cNvSpPr/>
          <p:nvPr/>
        </p:nvSpPr>
        <p:spPr>
          <a:xfrm>
            <a:off x="685800" y="3120920"/>
            <a:ext cx="10789920" cy="347472"/>
          </a:xfrm>
          <a:prstGeom prst="rect">
            <a:avLst/>
          </a:prstGeom>
          <a:noFill/>
          <a:ln/>
        </p:spPr>
        <p:txBody>
          <a:bodyPr wrap="square" lIns="0" tIns="0" rIns="0" bIns="0" rtlCol="0" anchor="ctr"/>
          <a:lstStyle/>
          <a:p>
            <a:pPr marL="0" indent="0">
              <a:buNone/>
            </a:pPr>
            <a:r>
              <a:rPr lang="en-GB" sz="1600" b="1" dirty="0">
                <a:solidFill>
                  <a:srgbClr val="D98E1F"/>
                </a:solidFill>
                <a:latin typeface="Courier New" pitchFamily="34" charset="0"/>
                <a:ea typeface="Courier New" pitchFamily="34" charset="-122"/>
                <a:cs typeface="Courier New" pitchFamily="34" charset="-120"/>
              </a:rPr>
              <a:t>Q  </a:t>
            </a:r>
            <a:r>
              <a:rPr lang="en-GB" sz="1600" b="1" dirty="0">
                <a:solidFill>
                  <a:srgbClr val="14283C"/>
                </a:solidFill>
                <a:latin typeface="Arial" pitchFamily="34" charset="0"/>
                <a:ea typeface="Arial" pitchFamily="34" charset="-122"/>
                <a:cs typeface="Arial" pitchFamily="34" charset="-120"/>
              </a:rPr>
              <a:t>You built and evaluated on the same data. Circular?</a:t>
            </a:r>
            <a:endParaRPr lang="en-GB" sz="1600" dirty="0"/>
          </a:p>
        </p:txBody>
      </p:sp>
      <p:sp>
        <p:nvSpPr>
          <p:cNvPr id="7" name="Text 5"/>
          <p:cNvSpPr/>
          <p:nvPr/>
        </p:nvSpPr>
        <p:spPr>
          <a:xfrm>
            <a:off x="1188720" y="3504968"/>
            <a:ext cx="10149840" cy="862352"/>
          </a:xfrm>
          <a:prstGeom prst="rect">
            <a:avLst/>
          </a:prstGeom>
          <a:noFill/>
          <a:ln/>
        </p:spPr>
        <p:txBody>
          <a:bodyPr wrap="square" lIns="0" tIns="0" rIns="0" bIns="0" rtlCol="0" anchor="t"/>
          <a:lstStyle/>
          <a:p>
            <a:pPr marL="0" indent="0">
              <a:lnSpc>
                <a:spcPct val="112000"/>
              </a:lnSpc>
              <a:buNone/>
            </a:pPr>
            <a:r>
              <a:rPr lang="en-GB" sz="150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GB" sz="150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marL="0" indent="0">
              <a:buNone/>
            </a:pPr>
            <a:r>
              <a:rPr lang="en-GB" sz="1600" b="1" dirty="0">
                <a:solidFill>
                  <a:srgbClr val="D98E1F"/>
                </a:solidFill>
                <a:latin typeface="Courier New" pitchFamily="34" charset="0"/>
                <a:ea typeface="Courier New" pitchFamily="34" charset="-122"/>
                <a:cs typeface="Courier New" pitchFamily="34" charset="-120"/>
              </a:rPr>
              <a:t>Q  </a:t>
            </a:r>
            <a:r>
              <a:rPr lang="en-GB" sz="1600" b="1" dirty="0">
                <a:solidFill>
                  <a:srgbClr val="14283C"/>
                </a:solidFill>
                <a:latin typeface="Arial" pitchFamily="34" charset="0"/>
                <a:ea typeface="Arial" pitchFamily="34" charset="-122"/>
                <a:cs typeface="Arial" pitchFamily="34" charset="-120"/>
              </a:rPr>
              <a:t>Are DORA metrics really debt proxies?</a:t>
            </a:r>
            <a:endParaRPr lang="en-GB" sz="1600" dirty="0"/>
          </a:p>
        </p:txBody>
      </p:sp>
      <p:sp>
        <p:nvSpPr>
          <p:cNvPr id="9" name="Text 7"/>
          <p:cNvSpPr/>
          <p:nvPr/>
        </p:nvSpPr>
        <p:spPr>
          <a:xfrm>
            <a:off x="1188720" y="4892039"/>
            <a:ext cx="10149840" cy="847279"/>
          </a:xfrm>
          <a:prstGeom prst="rect">
            <a:avLst/>
          </a:prstGeom>
          <a:noFill/>
          <a:ln/>
        </p:spPr>
        <p:txBody>
          <a:bodyPr wrap="square" lIns="0" tIns="0" rIns="0" bIns="0" rtlCol="0" anchor="t"/>
          <a:lstStyle/>
          <a:p>
            <a:pPr>
              <a:lnSpc>
                <a:spcPct val="112000"/>
              </a:lnSpc>
            </a:pPr>
            <a:r>
              <a:rPr lang="en-GB" sz="1500" dirty="0">
                <a:solidFill>
                  <a:srgbClr val="2A3F55"/>
                </a:solidFill>
                <a:latin typeface="Arial" pitchFamily="34" charset="0"/>
                <a:ea typeface="Arial" pitchFamily="34" charset="-122"/>
                <a:cs typeface="Arial" pitchFamily="34" charset="-120"/>
              </a:rPr>
              <a:t>Treated as the central testable hypothesis, never a premise. Forsgren </a:t>
            </a:r>
            <a:r>
              <a:rPr lang="en-GB" sz="1500" i="1" dirty="0">
                <a:solidFill>
                  <a:srgbClr val="2A3F55"/>
                </a:solidFill>
                <a:latin typeface="Arial" pitchFamily="34" charset="0"/>
                <a:ea typeface="Arial" pitchFamily="34" charset="-122"/>
                <a:cs typeface="Arial" pitchFamily="34" charset="-120"/>
              </a:rPr>
              <a:t>et al. </a:t>
            </a:r>
            <a:r>
              <a:rPr lang="en-GB" sz="1500" dirty="0">
                <a:solidFill>
                  <a:srgbClr val="2A3F55"/>
                </a:solidFill>
                <a:latin typeface="Arial" pitchFamily="34" charset="0"/>
                <a:ea typeface="Arial" pitchFamily="34" charset="-122"/>
                <a:cs typeface="Arial" pitchFamily="34" charset="-120"/>
              </a:rPr>
              <a:t>(2018)</a:t>
            </a:r>
            <a:r>
              <a:rPr lang="en-GB" sz="1500" i="1" dirty="0">
                <a:solidFill>
                  <a:srgbClr val="2A3F55"/>
                </a:solidFill>
                <a:latin typeface="Arial" pitchFamily="34" charset="0"/>
                <a:ea typeface="Arial" pitchFamily="34" charset="-122"/>
                <a:cs typeface="Arial" pitchFamily="34" charset="-120"/>
              </a:rPr>
              <a:t> </a:t>
            </a:r>
            <a:r>
              <a:rPr lang="en-GB" sz="1500" dirty="0">
                <a:solidFill>
                  <a:srgbClr val="2A3F55"/>
                </a:solidFill>
                <a:latin typeface="Arial" pitchFamily="34" charset="0"/>
                <a:ea typeface="Arial" pitchFamily="34" charset="-122"/>
                <a:cs typeface="Arial" pitchFamily="34" charset="-120"/>
              </a:rPr>
              <a:t>validate the metrics; </a:t>
            </a:r>
            <a:r>
              <a:rPr lang="en-GB" sz="1600" dirty="0">
                <a:solidFill>
                  <a:srgbClr val="2A3F55"/>
                </a:solidFill>
                <a:latin typeface="Arial" pitchFamily="34" charset="0"/>
                <a:ea typeface="Arial" pitchFamily="34" charset="-122"/>
                <a:cs typeface="Arial" pitchFamily="34" charset="-120"/>
              </a:rPr>
              <a:t>Nord, </a:t>
            </a:r>
            <a:r>
              <a:rPr lang="en-GB" sz="1600" dirty="0" err="1">
                <a:solidFill>
                  <a:srgbClr val="2A3F55"/>
                </a:solidFill>
                <a:latin typeface="Arial" pitchFamily="34" charset="0"/>
                <a:ea typeface="Arial" pitchFamily="34" charset="-122"/>
                <a:cs typeface="Arial" pitchFamily="34" charset="-120"/>
              </a:rPr>
              <a:t>Ozkaya</a:t>
            </a:r>
            <a:r>
              <a:rPr lang="en-GB" sz="1600" dirty="0">
                <a:solidFill>
                  <a:srgbClr val="2A3F55"/>
                </a:solidFill>
                <a:latin typeface="Arial" pitchFamily="34" charset="0"/>
                <a:ea typeface="Arial" pitchFamily="34" charset="-122"/>
                <a:cs typeface="Arial" pitchFamily="34" charset="-120"/>
              </a:rPr>
              <a:t> and Woody (2021) </a:t>
            </a:r>
            <a:r>
              <a:rPr lang="en-GB" sz="1500" dirty="0">
                <a:solidFill>
                  <a:srgbClr val="2A3F55"/>
                </a:solidFill>
                <a:latin typeface="Arial" pitchFamily="34" charset="0"/>
                <a:ea typeface="Arial" pitchFamily="34" charset="-122"/>
                <a:cs typeface="Arial" pitchFamily="34" charset="-120"/>
              </a:rPr>
              <a:t>ground the diagnostic reading; the rankings match literature-predicted profiles. Longitudinal tracking would move it from plausible to evidenced.</a:t>
            </a:r>
            <a:endParaRPr lang="en-GB"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ANTICIPATED QUESTIONS · 2 OF 2</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Anticipated questions, continued</a:t>
            </a:r>
            <a:endParaRPr lang="en-GB"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marL="0" indent="0">
              <a:buNone/>
            </a:pPr>
            <a:r>
              <a:rPr lang="en-GB" sz="1600" b="1" dirty="0">
                <a:solidFill>
                  <a:srgbClr val="D98E1F"/>
                </a:solidFill>
                <a:latin typeface="Courier New" pitchFamily="34" charset="0"/>
                <a:ea typeface="Courier New" pitchFamily="34" charset="-122"/>
                <a:cs typeface="Courier New" pitchFamily="34" charset="-120"/>
              </a:rPr>
              <a:t>Q  </a:t>
            </a:r>
            <a:r>
              <a:rPr lang="en-GB" sz="1600" b="1" dirty="0">
                <a:solidFill>
                  <a:srgbClr val="14283C"/>
                </a:solidFill>
                <a:latin typeface="Arial" pitchFamily="34" charset="0"/>
                <a:ea typeface="Arial" pitchFamily="34" charset="-122"/>
                <a:cs typeface="Arial" pitchFamily="34" charset="-120"/>
              </a:rPr>
              <a:t>Aren't the differential weights arbitrary?</a:t>
            </a:r>
            <a:endParaRPr lang="en-GB" sz="16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marL="0" indent="0">
              <a:lnSpc>
                <a:spcPct val="112000"/>
              </a:lnSpc>
              <a:buNone/>
            </a:pPr>
            <a:r>
              <a:rPr lang="en-GB" sz="150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20,000 Dirichlet-sampled weightings show the extreme priorities hold under any admissible weighting.</a:t>
            </a:r>
            <a:endParaRPr lang="en-GB" sz="150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marL="0" indent="0">
              <a:buNone/>
            </a:pPr>
            <a:r>
              <a:rPr lang="en-GB" sz="1600" b="1" dirty="0">
                <a:solidFill>
                  <a:srgbClr val="D98E1F"/>
                </a:solidFill>
                <a:latin typeface="Courier New" pitchFamily="34" charset="0"/>
                <a:ea typeface="Courier New" pitchFamily="34" charset="-122"/>
                <a:cs typeface="Courier New" pitchFamily="34" charset="-120"/>
              </a:rPr>
              <a:t>Q  </a:t>
            </a:r>
            <a:r>
              <a:rPr lang="en-GB" sz="1600" b="1" dirty="0">
                <a:solidFill>
                  <a:srgbClr val="14283C"/>
                </a:solidFill>
                <a:latin typeface="Arial" pitchFamily="34" charset="0"/>
                <a:ea typeface="Arial" pitchFamily="34" charset="-122"/>
                <a:cs typeface="Arial" pitchFamily="34" charset="-120"/>
              </a:rPr>
              <a:t>Could this be misused to judge teams?</a:t>
            </a:r>
            <a:endParaRPr lang="en-GB" sz="16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marL="0" indent="0">
              <a:lnSpc>
                <a:spcPct val="112000"/>
              </a:lnSpc>
              <a:buNone/>
            </a:pPr>
            <a:r>
              <a:rPr lang="en-GB" sz="150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a:t>
            </a:r>
            <a:r>
              <a:rPr lang="en-GB" sz="1500" i="1" dirty="0">
                <a:solidFill>
                  <a:srgbClr val="2A3F55"/>
                </a:solidFill>
                <a:latin typeface="Arial" pitchFamily="34" charset="0"/>
                <a:ea typeface="Arial" pitchFamily="34" charset="-122"/>
                <a:cs typeface="Arial" pitchFamily="34" charset="-120"/>
              </a:rPr>
              <a:t>et al.</a:t>
            </a:r>
            <a:r>
              <a:rPr lang="en-GB" sz="1500" dirty="0">
                <a:solidFill>
                  <a:srgbClr val="2A3F55"/>
                </a:solidFill>
                <a:latin typeface="Arial" pitchFamily="34" charset="0"/>
                <a:ea typeface="Arial" pitchFamily="34" charset="-122"/>
                <a:cs typeface="Arial" pitchFamily="34" charset="-120"/>
              </a:rPr>
              <a:t>, 2026). No team, vendor or individual identifiers exist in the dataset.</a:t>
            </a:r>
            <a:endParaRPr lang="en-GB" sz="1500" dirty="0"/>
          </a:p>
        </p:txBody>
      </p:sp>
      <p:sp>
        <p:nvSpPr>
          <p:cNvPr id="8" name="Shape 6"/>
          <p:cNvSpPr/>
          <p:nvPr/>
        </p:nvSpPr>
        <p:spPr>
          <a:xfrm>
            <a:off x="685800" y="5807491"/>
            <a:ext cx="10789920" cy="713232"/>
          </a:xfrm>
          <a:prstGeom prst="rect">
            <a:avLst/>
          </a:prstGeom>
          <a:solidFill>
            <a:srgbClr val="F2F7F6"/>
          </a:solidFill>
          <a:ln/>
        </p:spPr>
        <p:txBody>
          <a:bodyPr/>
          <a:lstStyle/>
          <a:p>
            <a:endParaRPr lang="en-GB" dirty="0"/>
          </a:p>
        </p:txBody>
      </p:sp>
      <p:sp>
        <p:nvSpPr>
          <p:cNvPr id="9" name="Text 7"/>
          <p:cNvSpPr/>
          <p:nvPr/>
        </p:nvSpPr>
        <p:spPr>
          <a:xfrm>
            <a:off x="886968" y="5880643"/>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0" name="Text 8"/>
          <p:cNvSpPr/>
          <p:nvPr/>
        </p:nvSpPr>
        <p:spPr>
          <a:xfrm>
            <a:off x="886968" y="6081811"/>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GB"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CHAPTER 6</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Contributions</a:t>
            </a:r>
            <a:endParaRPr lang="en-GB" sz="3000" dirty="0"/>
          </a:p>
        </p:txBody>
      </p:sp>
      <p:sp>
        <p:nvSpPr>
          <p:cNvPr id="4" name="Shape 2"/>
          <p:cNvSpPr/>
          <p:nvPr/>
        </p:nvSpPr>
        <p:spPr>
          <a:xfrm>
            <a:off x="685800" y="1929384"/>
            <a:ext cx="457200" cy="457200"/>
          </a:xfrm>
          <a:prstGeom prst="ellipse">
            <a:avLst/>
          </a:prstGeom>
          <a:solidFill>
            <a:srgbClr val="14283C"/>
          </a:solidFill>
          <a:ln/>
        </p:spPr>
        <p:txBody>
          <a:bodyPr/>
          <a:lstStyle/>
          <a:p>
            <a:endParaRPr lang="en-GB" dirty="0"/>
          </a:p>
        </p:txBody>
      </p:sp>
      <p:sp>
        <p:nvSpPr>
          <p:cNvPr id="5" name="Text 3"/>
          <p:cNvSpPr/>
          <p:nvPr/>
        </p:nvSpPr>
        <p:spPr>
          <a:xfrm>
            <a:off x="685800" y="1929384"/>
            <a:ext cx="457200" cy="457200"/>
          </a:xfrm>
          <a:prstGeom prst="rect">
            <a:avLst/>
          </a:prstGeom>
          <a:noFill/>
          <a:ln/>
        </p:spPr>
        <p:txBody>
          <a:bodyPr wrap="square" lIns="0" tIns="0" rIns="0" bIns="0" rtlCol="0" anchor="ctr"/>
          <a:lstStyle/>
          <a:p>
            <a:pPr marL="0" indent="0" algn="ctr">
              <a:buNone/>
            </a:pPr>
            <a:r>
              <a:rPr lang="en-GB" sz="1700" b="1" dirty="0">
                <a:solidFill>
                  <a:srgbClr val="FFFFFF"/>
                </a:solidFill>
                <a:latin typeface="Courier New" pitchFamily="34" charset="0"/>
                <a:ea typeface="Courier New" pitchFamily="34" charset="-122"/>
                <a:cs typeface="Courier New" pitchFamily="34" charset="-120"/>
              </a:rPr>
              <a:t>1</a:t>
            </a:r>
            <a:endParaRPr lang="en-GB"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marL="0" indent="0">
              <a:lnSpc>
                <a:spcPct val="112000"/>
              </a:lnSpc>
              <a:buNone/>
            </a:pPr>
            <a:r>
              <a:rPr lang="en-GB" sz="1500" b="1" dirty="0">
                <a:solidFill>
                  <a:srgbClr val="14283C"/>
                </a:solidFill>
                <a:latin typeface="Arial" pitchFamily="34" charset="0"/>
                <a:ea typeface="Arial" pitchFamily="34" charset="-122"/>
                <a:cs typeface="Arial" pitchFamily="34" charset="-120"/>
              </a:rPr>
              <a:t>First application: </a:t>
            </a:r>
            <a:r>
              <a:rPr lang="en-GB" sz="15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a:t>
            </a:r>
            <a:r>
              <a:rPr lang="en-GB" sz="1500" i="1" dirty="0">
                <a:solidFill>
                  <a:srgbClr val="14283C"/>
                </a:solidFill>
                <a:latin typeface="Arial" pitchFamily="34" charset="0"/>
                <a:ea typeface="Arial" pitchFamily="34" charset="-122"/>
                <a:cs typeface="Arial" pitchFamily="34" charset="-120"/>
              </a:rPr>
              <a:t>et al. </a:t>
            </a:r>
            <a:r>
              <a:rPr lang="en-GB" sz="1500" dirty="0">
                <a:solidFill>
                  <a:srgbClr val="14283C"/>
                </a:solidFill>
                <a:latin typeface="Arial" pitchFamily="34" charset="0"/>
                <a:ea typeface="Arial" pitchFamily="34" charset="-122"/>
                <a:cs typeface="Arial" pitchFamily="34" charset="-120"/>
              </a:rPr>
              <a:t>(2021) identify field-wide</a:t>
            </a:r>
            <a:endParaRPr lang="en-GB" sz="1500" dirty="0"/>
          </a:p>
        </p:txBody>
      </p:sp>
      <p:sp>
        <p:nvSpPr>
          <p:cNvPr id="7" name="Shape 5"/>
          <p:cNvSpPr/>
          <p:nvPr/>
        </p:nvSpPr>
        <p:spPr>
          <a:xfrm>
            <a:off x="685800" y="3099816"/>
            <a:ext cx="457200" cy="457200"/>
          </a:xfrm>
          <a:prstGeom prst="ellipse">
            <a:avLst/>
          </a:prstGeom>
          <a:solidFill>
            <a:srgbClr val="14283C"/>
          </a:solidFill>
          <a:ln/>
        </p:spPr>
        <p:txBody>
          <a:bodyPr/>
          <a:lstStyle/>
          <a:p>
            <a:endParaRPr lang="en-GB" dirty="0"/>
          </a:p>
        </p:txBody>
      </p:sp>
      <p:sp>
        <p:nvSpPr>
          <p:cNvPr id="8" name="Text 6"/>
          <p:cNvSpPr/>
          <p:nvPr/>
        </p:nvSpPr>
        <p:spPr>
          <a:xfrm>
            <a:off x="685800" y="3099816"/>
            <a:ext cx="457200" cy="457200"/>
          </a:xfrm>
          <a:prstGeom prst="rect">
            <a:avLst/>
          </a:prstGeom>
          <a:noFill/>
          <a:ln/>
        </p:spPr>
        <p:txBody>
          <a:bodyPr wrap="square" lIns="0" tIns="0" rIns="0" bIns="0" rtlCol="0" anchor="ctr"/>
          <a:lstStyle/>
          <a:p>
            <a:pPr marL="0" indent="0" algn="ctr">
              <a:buNone/>
            </a:pPr>
            <a:r>
              <a:rPr lang="en-GB" sz="1700" b="1" dirty="0">
                <a:solidFill>
                  <a:srgbClr val="FFFFFF"/>
                </a:solidFill>
                <a:latin typeface="Courier New" pitchFamily="34" charset="0"/>
                <a:ea typeface="Courier New" pitchFamily="34" charset="-122"/>
                <a:cs typeface="Courier New" pitchFamily="34" charset="-120"/>
              </a:rPr>
              <a:t>2</a:t>
            </a:r>
            <a:endParaRPr lang="en-GB"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marL="0" indent="0">
              <a:lnSpc>
                <a:spcPct val="112000"/>
              </a:lnSpc>
              <a:buNone/>
            </a:pPr>
            <a:r>
              <a:rPr lang="en-GB" sz="1500" b="1" dirty="0">
                <a:solidFill>
                  <a:srgbClr val="14283C"/>
                </a:solidFill>
                <a:latin typeface="Arial" pitchFamily="34" charset="0"/>
                <a:ea typeface="Arial" pitchFamily="34" charset="-122"/>
                <a:cs typeface="Arial" pitchFamily="34" charset="-120"/>
              </a:rPr>
              <a:t>An operationally defined indicator set: </a:t>
            </a:r>
            <a:r>
              <a:rPr lang="en-GB" sz="15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GB" sz="1500" dirty="0"/>
          </a:p>
        </p:txBody>
      </p:sp>
      <p:sp>
        <p:nvSpPr>
          <p:cNvPr id="10" name="Shape 8"/>
          <p:cNvSpPr/>
          <p:nvPr/>
        </p:nvSpPr>
        <p:spPr>
          <a:xfrm>
            <a:off x="685800" y="4270248"/>
            <a:ext cx="457200" cy="457200"/>
          </a:xfrm>
          <a:prstGeom prst="ellipse">
            <a:avLst/>
          </a:prstGeom>
          <a:solidFill>
            <a:srgbClr val="D98E1F"/>
          </a:solidFill>
          <a:ln/>
        </p:spPr>
        <p:txBody>
          <a:bodyPr/>
          <a:lstStyle/>
          <a:p>
            <a:endParaRPr lang="en-GB" dirty="0"/>
          </a:p>
        </p:txBody>
      </p:sp>
      <p:sp>
        <p:nvSpPr>
          <p:cNvPr id="11" name="Text 9"/>
          <p:cNvSpPr/>
          <p:nvPr/>
        </p:nvSpPr>
        <p:spPr>
          <a:xfrm>
            <a:off x="685800" y="4270248"/>
            <a:ext cx="457200" cy="457200"/>
          </a:xfrm>
          <a:prstGeom prst="rect">
            <a:avLst/>
          </a:prstGeom>
          <a:noFill/>
          <a:ln/>
        </p:spPr>
        <p:txBody>
          <a:bodyPr wrap="square" lIns="0" tIns="0" rIns="0" bIns="0" rtlCol="0" anchor="ctr"/>
          <a:lstStyle/>
          <a:p>
            <a:pPr marL="0" indent="0" algn="ctr">
              <a:buNone/>
            </a:pPr>
            <a:r>
              <a:rPr lang="en-GB" sz="1700" b="1" dirty="0">
                <a:solidFill>
                  <a:srgbClr val="FFFFFF"/>
                </a:solidFill>
                <a:latin typeface="Courier New" pitchFamily="34" charset="0"/>
                <a:ea typeface="Courier New" pitchFamily="34" charset="-122"/>
                <a:cs typeface="Courier New" pitchFamily="34" charset="-120"/>
              </a:rPr>
              <a:t>3</a:t>
            </a:r>
            <a:endParaRPr lang="en-GB"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marL="0" indent="0">
              <a:lnSpc>
                <a:spcPct val="112000"/>
              </a:lnSpc>
              <a:buNone/>
            </a:pPr>
            <a:r>
              <a:rPr lang="en-GB" sz="1500" b="1" dirty="0">
                <a:solidFill>
                  <a:srgbClr val="14283C"/>
                </a:solidFill>
                <a:latin typeface="Arial" pitchFamily="34" charset="0"/>
                <a:ea typeface="Arial" pitchFamily="34" charset="-122"/>
                <a:cs typeface="Arial" pitchFamily="34" charset="-120"/>
              </a:rPr>
              <a:t>A methodological finding of independent interest: </a:t>
            </a:r>
            <a:r>
              <a:rPr lang="en-GB" sz="15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GB" sz="1500" dirty="0"/>
          </a:p>
        </p:txBody>
      </p:sp>
      <p:sp>
        <p:nvSpPr>
          <p:cNvPr id="13" name="Shape 11"/>
          <p:cNvSpPr/>
          <p:nvPr/>
        </p:nvSpPr>
        <p:spPr>
          <a:xfrm>
            <a:off x="685800" y="5824025"/>
            <a:ext cx="10789920" cy="713232"/>
          </a:xfrm>
          <a:prstGeom prst="rect">
            <a:avLst/>
          </a:prstGeom>
          <a:solidFill>
            <a:srgbClr val="F2F7F6"/>
          </a:solidFill>
          <a:ln/>
        </p:spPr>
        <p:txBody>
          <a:bodyPr/>
          <a:lstStyle/>
          <a:p>
            <a:endParaRPr lang="en-GB" dirty="0"/>
          </a:p>
        </p:txBody>
      </p:sp>
      <p:sp>
        <p:nvSpPr>
          <p:cNvPr id="14" name="Text 12"/>
          <p:cNvSpPr/>
          <p:nvPr/>
        </p:nvSpPr>
        <p:spPr>
          <a:xfrm>
            <a:off x="886968" y="5897177"/>
            <a:ext cx="10424160" cy="201168"/>
          </a:xfrm>
          <a:prstGeom prst="rect">
            <a:avLst/>
          </a:prstGeom>
          <a:noFill/>
          <a:ln/>
        </p:spPr>
        <p:txBody>
          <a:bodyPr wrap="square" lIns="0" tIns="0" rIns="0" bIns="0" rtlCol="0" anchor="ctr"/>
          <a:lstStyle/>
          <a:p>
            <a:pPr marL="0" indent="0">
              <a:buNone/>
            </a:pPr>
            <a:r>
              <a:rPr lang="en-GB" sz="950" b="1" kern="0" spc="300" dirty="0">
                <a:solidFill>
                  <a:srgbClr val="1E7F82"/>
                </a:solidFill>
                <a:latin typeface="Courier New" pitchFamily="34" charset="0"/>
                <a:ea typeface="Courier New" pitchFamily="34" charset="-122"/>
                <a:cs typeface="Courier New" pitchFamily="34" charset="-120"/>
              </a:rPr>
              <a:t>TAKEAWAY</a:t>
            </a:r>
            <a:endParaRPr lang="en-GB" sz="950" dirty="0"/>
          </a:p>
        </p:txBody>
      </p:sp>
      <p:sp>
        <p:nvSpPr>
          <p:cNvPr id="15" name="Text 13"/>
          <p:cNvSpPr/>
          <p:nvPr/>
        </p:nvSpPr>
        <p:spPr>
          <a:xfrm>
            <a:off x="886968" y="6098345"/>
            <a:ext cx="10424160" cy="384048"/>
          </a:xfrm>
          <a:prstGeom prst="rect">
            <a:avLst/>
          </a:prstGeom>
          <a:noFill/>
          <a:ln/>
        </p:spPr>
        <p:txBody>
          <a:bodyPr wrap="square" lIns="0" tIns="0" rIns="0" bIns="0" rtlCol="0" anchor="t"/>
          <a:lstStyle/>
          <a:p>
            <a:pPr marL="0" indent="0">
              <a:buNone/>
            </a:pPr>
            <a:r>
              <a:rPr lang="en-GB" sz="1250" dirty="0">
                <a:solidFill>
                  <a:srgbClr val="14283C"/>
                </a:solidFill>
                <a:latin typeface="Arial" pitchFamily="34" charset="0"/>
                <a:ea typeface="Arial" pitchFamily="34" charset="-122"/>
                <a:cs typeface="Arial" pitchFamily="34" charset="-120"/>
              </a:rPr>
              <a:t>Practically: an auditable priority ordering from data organisations already hold, aligned with FINMA 2023/1 operational-resilience expectations, surfacing exactly the debt current governance misses.</a:t>
            </a:r>
            <a:endParaRPr lang="en-GB"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a:effectLst/>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marL="0" indent="0">
              <a:buNone/>
            </a:pPr>
            <a:r>
              <a:rPr lang="en-GB" sz="1100" b="1" kern="0" spc="300" dirty="0">
                <a:solidFill>
                  <a:srgbClr val="D98E1F"/>
                </a:solidFill>
                <a:latin typeface="Courier New" pitchFamily="34" charset="0"/>
                <a:ea typeface="Courier New" pitchFamily="34" charset="-122"/>
                <a:cs typeface="Courier New" pitchFamily="34" charset="-120"/>
              </a:rPr>
              <a:t>CLOSE</a:t>
            </a:r>
            <a:endParaRPr lang="en-GB"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marL="0" indent="0">
              <a:lnSpc>
                <a:spcPct val="125000"/>
              </a:lnSpc>
              <a:buNone/>
            </a:pPr>
            <a:r>
              <a:rPr lang="en-GB" sz="2500" dirty="0">
                <a:solidFill>
                  <a:srgbClr val="FFFFFF"/>
                </a:solidFill>
                <a:latin typeface="Arial" pitchFamily="34" charset="0"/>
                <a:ea typeface="Arial" pitchFamily="34" charset="-122"/>
                <a:cs typeface="Arial" pitchFamily="34" charset="-120"/>
              </a:rPr>
              <a:t>The framework does not measure technical debt.
It orders services by the </a:t>
            </a:r>
            <a:r>
              <a:rPr lang="en-GB" sz="2500" b="1" dirty="0">
                <a:solidFill>
                  <a:srgbClr val="F0C67A"/>
                </a:solidFill>
                <a:latin typeface="Arial" pitchFamily="34" charset="0"/>
                <a:ea typeface="Arial" pitchFamily="34" charset="-122"/>
                <a:cs typeface="Arial" pitchFamily="34" charset="-120"/>
              </a:rPr>
              <a:t>operational shadow debt casts</a:t>
            </a:r>
            <a:r>
              <a:rPr lang="en-GB"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GB"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marL="0" indent="0">
              <a:buNone/>
            </a:pPr>
            <a:r>
              <a:rPr lang="en-GB" sz="1200" b="1" dirty="0">
                <a:solidFill>
                  <a:srgbClr val="FFFFFF"/>
                </a:solidFill>
                <a:latin typeface="Courier New" pitchFamily="34" charset="0"/>
                <a:ea typeface="Courier New" pitchFamily="34" charset="-122"/>
                <a:cs typeface="Courier New" pitchFamily="34" charset="-120"/>
              </a:rPr>
              <a:t>SVC-04</a:t>
            </a:r>
            <a:endParaRPr lang="en-GB" sz="1200" dirty="0"/>
          </a:p>
        </p:txBody>
      </p:sp>
      <p:sp>
        <p:nvSpPr>
          <p:cNvPr id="5" name="Shape 3"/>
          <p:cNvSpPr/>
          <p:nvPr/>
        </p:nvSpPr>
        <p:spPr>
          <a:xfrm>
            <a:off x="1737360" y="4133088"/>
            <a:ext cx="4663440" cy="182880"/>
          </a:xfrm>
          <a:prstGeom prst="rect">
            <a:avLst/>
          </a:prstGeom>
          <a:solidFill>
            <a:srgbClr val="24405C"/>
          </a:solidFill>
          <a:ln/>
        </p:spPr>
        <p:txBody>
          <a:bodyPr/>
          <a:lstStyle/>
          <a:p>
            <a:endParaRPr lang="en-GB" dirty="0"/>
          </a:p>
        </p:txBody>
      </p:sp>
      <p:sp>
        <p:nvSpPr>
          <p:cNvPr id="6" name="Shape 4"/>
          <p:cNvSpPr/>
          <p:nvPr/>
        </p:nvSpPr>
        <p:spPr>
          <a:xfrm>
            <a:off x="1737360" y="4133088"/>
            <a:ext cx="2424989" cy="182880"/>
          </a:xfrm>
          <a:prstGeom prst="rect">
            <a:avLst/>
          </a:prstGeom>
          <a:solidFill>
            <a:srgbClr val="D98E1F"/>
          </a:solidFill>
          <a:ln/>
        </p:spPr>
        <p:txBody>
          <a:bodyPr/>
          <a:lstStyle/>
          <a:p>
            <a:endParaRPr lang="en-GB" dirty="0"/>
          </a:p>
        </p:txBody>
      </p:sp>
      <p:sp>
        <p:nvSpPr>
          <p:cNvPr id="7" name="Text 5"/>
          <p:cNvSpPr/>
          <p:nvPr/>
        </p:nvSpPr>
        <p:spPr>
          <a:xfrm>
            <a:off x="6446520" y="4114800"/>
            <a:ext cx="685800" cy="237744"/>
          </a:xfrm>
          <a:prstGeom prst="rect">
            <a:avLst/>
          </a:prstGeom>
          <a:noFill/>
          <a:ln/>
        </p:spPr>
        <p:txBody>
          <a:bodyPr wrap="square" lIns="0" tIns="0" rIns="0" bIns="0" rtlCol="0" anchor="ctr"/>
          <a:lstStyle/>
          <a:p>
            <a:pPr marL="0" indent="0" algn="r">
              <a:buNone/>
            </a:pPr>
            <a:r>
              <a:rPr lang="en-GB" sz="1100" dirty="0">
                <a:solidFill>
                  <a:srgbClr val="9FB4C8"/>
                </a:solidFill>
                <a:latin typeface="Courier New" pitchFamily="34" charset="0"/>
                <a:ea typeface="Courier New" pitchFamily="34" charset="-122"/>
                <a:cs typeface="Courier New" pitchFamily="34" charset="-120"/>
              </a:rPr>
              <a:t>R1</a:t>
            </a:r>
            <a:endParaRPr lang="en-GB"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marL="0" indent="0">
              <a:buNone/>
            </a:pPr>
            <a:r>
              <a:rPr lang="en-GB" sz="1200" b="1" dirty="0">
                <a:solidFill>
                  <a:srgbClr val="FFFFFF"/>
                </a:solidFill>
                <a:latin typeface="Courier New" pitchFamily="34" charset="0"/>
                <a:ea typeface="Courier New" pitchFamily="34" charset="-122"/>
                <a:cs typeface="Courier New" pitchFamily="34" charset="-120"/>
              </a:rPr>
              <a:t>SVC-03</a:t>
            </a:r>
            <a:endParaRPr lang="en-GB" sz="1200" dirty="0"/>
          </a:p>
        </p:txBody>
      </p:sp>
      <p:sp>
        <p:nvSpPr>
          <p:cNvPr id="9" name="Shape 7"/>
          <p:cNvSpPr/>
          <p:nvPr/>
        </p:nvSpPr>
        <p:spPr>
          <a:xfrm>
            <a:off x="1737360" y="4572000"/>
            <a:ext cx="4663440" cy="182880"/>
          </a:xfrm>
          <a:prstGeom prst="rect">
            <a:avLst/>
          </a:prstGeom>
          <a:solidFill>
            <a:srgbClr val="24405C"/>
          </a:solidFill>
          <a:ln/>
        </p:spPr>
        <p:txBody>
          <a:bodyPr/>
          <a:lstStyle/>
          <a:p>
            <a:endParaRPr lang="en-GB" dirty="0"/>
          </a:p>
        </p:txBody>
      </p:sp>
      <p:sp>
        <p:nvSpPr>
          <p:cNvPr id="10" name="Shape 8"/>
          <p:cNvSpPr/>
          <p:nvPr/>
        </p:nvSpPr>
        <p:spPr>
          <a:xfrm>
            <a:off x="1737360" y="4572000"/>
            <a:ext cx="93269" cy="182880"/>
          </a:xfrm>
          <a:prstGeom prst="rect">
            <a:avLst/>
          </a:prstGeom>
          <a:solidFill>
            <a:srgbClr val="8FA6BC"/>
          </a:solidFill>
          <a:ln/>
        </p:spPr>
        <p:txBody>
          <a:bodyPr/>
          <a:lstStyle/>
          <a:p>
            <a:endParaRPr lang="en-GB" dirty="0"/>
          </a:p>
        </p:txBody>
      </p:sp>
      <p:sp>
        <p:nvSpPr>
          <p:cNvPr id="11" name="Text 9"/>
          <p:cNvSpPr/>
          <p:nvPr/>
        </p:nvSpPr>
        <p:spPr>
          <a:xfrm>
            <a:off x="6446520" y="4553712"/>
            <a:ext cx="685800" cy="237744"/>
          </a:xfrm>
          <a:prstGeom prst="rect">
            <a:avLst/>
          </a:prstGeom>
          <a:noFill/>
          <a:ln/>
        </p:spPr>
        <p:txBody>
          <a:bodyPr wrap="square" lIns="0" tIns="0" rIns="0" bIns="0" rtlCol="0" anchor="ctr"/>
          <a:lstStyle/>
          <a:p>
            <a:pPr marL="0" indent="0" algn="r">
              <a:buNone/>
            </a:pPr>
            <a:r>
              <a:rPr lang="en-GB" sz="1100" dirty="0">
                <a:solidFill>
                  <a:srgbClr val="9FB4C8"/>
                </a:solidFill>
                <a:latin typeface="Courier New" pitchFamily="34" charset="0"/>
                <a:ea typeface="Courier New" pitchFamily="34" charset="-122"/>
                <a:cs typeface="Courier New" pitchFamily="34" charset="-120"/>
              </a:rPr>
              <a:t>R6</a:t>
            </a:r>
            <a:endParaRPr lang="en-GB"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marL="0" indent="0">
              <a:buNone/>
            </a:pPr>
            <a:r>
              <a:rPr lang="en-GB" sz="1500" i="1" dirty="0">
                <a:solidFill>
                  <a:srgbClr val="AFC2D4"/>
                </a:solidFill>
                <a:latin typeface="Arial" pitchFamily="34" charset="0"/>
                <a:ea typeface="Arial" pitchFamily="34" charset="-122"/>
                <a:cs typeface="Arial" pitchFamily="34" charset="-120"/>
              </a:rPr>
              <a:t>Thank you. I welcome your questions.</a:t>
            </a:r>
            <a:endParaRPr lang="en-GB" sz="1500" dirty="0"/>
          </a:p>
        </p:txBody>
      </p:sp>
      <p:pic>
        <p:nvPicPr>
          <p:cNvPr id="13" name="Image 0" descr="logo_white.png"/>
          <p:cNvPicPr>
            <a:picLocks noChangeAspect="1"/>
          </p:cNvPicPr>
          <p:nvPr/>
        </p:nvPicPr>
        <p:blipFill>
          <a:blip r:embed="rId3"/>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marL="0" indent="0">
              <a:buNone/>
            </a:pPr>
            <a:r>
              <a:rPr lang="en-GB" sz="1000" kern="0" spc="200" dirty="0">
                <a:solidFill>
                  <a:srgbClr val="8FA6BC"/>
                </a:solidFill>
                <a:latin typeface="Courier New" pitchFamily="34" charset="0"/>
                <a:ea typeface="Courier New" pitchFamily="34" charset="-122"/>
                <a:cs typeface="Courier New" pitchFamily="34" charset="-120"/>
              </a:rPr>
              <a:t>Tobias Zeier · University of Essex</a:t>
            </a:r>
            <a:endParaRPr lang="en-GB"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marL="0" indent="0" algn="l">
              <a:buNone/>
            </a:pPr>
            <a:r>
              <a:rPr lang="en-GB" sz="1100" b="1" kern="0" spc="300" dirty="0">
                <a:solidFill>
                  <a:srgbClr val="5C7186"/>
                </a:solidFill>
                <a:latin typeface="Courier New" pitchFamily="34" charset="0"/>
                <a:ea typeface="Courier New" pitchFamily="34" charset="-122"/>
                <a:cs typeface="Courier New" pitchFamily="34" charset="-120"/>
              </a:rPr>
              <a:t>REFERENCES · CITE THEM RIGHT HARVARD</a:t>
            </a:r>
            <a:endParaRPr lang="en-GB"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marL="0" indent="0" algn="l">
              <a:buNone/>
            </a:pPr>
            <a:r>
              <a:rPr lang="en-GB" sz="3000" b="1" dirty="0">
                <a:solidFill>
                  <a:srgbClr val="14283C"/>
                </a:solidFill>
                <a:latin typeface="Arial" pitchFamily="34" charset="0"/>
                <a:ea typeface="Arial" pitchFamily="34" charset="-122"/>
                <a:cs typeface="Arial" pitchFamily="34" charset="-120"/>
              </a:rPr>
              <a:t>References</a:t>
            </a:r>
            <a:endParaRPr lang="en-GB" sz="3000" dirty="0"/>
          </a:p>
        </p:txBody>
      </p:sp>
      <p:sp>
        <p:nvSpPr>
          <p:cNvPr id="4" name="Text 2"/>
          <p:cNvSpPr/>
          <p:nvPr/>
        </p:nvSpPr>
        <p:spPr>
          <a:xfrm>
            <a:off x="685800" y="1828800"/>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Ahmad, M.O., Mandić, V., </a:t>
            </a:r>
            <a:r>
              <a:rPr lang="en-GB" sz="950" dirty="0" err="1">
                <a:solidFill>
                  <a:srgbClr val="2A3F55"/>
                </a:solidFill>
                <a:latin typeface="Arial" pitchFamily="34" charset="0"/>
                <a:ea typeface="Arial" pitchFamily="34" charset="-122"/>
                <a:cs typeface="Arial" pitchFamily="34" charset="-120"/>
              </a:rPr>
              <a:t>Taušan</a:t>
            </a:r>
            <a:r>
              <a:rPr lang="en-GB" sz="950" dirty="0">
                <a:solidFill>
                  <a:srgbClr val="2A3F55"/>
                </a:solidFill>
                <a:latin typeface="Arial" pitchFamily="34" charset="0"/>
                <a:ea typeface="Arial" pitchFamily="34" charset="-122"/>
                <a:cs typeface="Arial" pitchFamily="34" charset="-120"/>
              </a:rPr>
              <a:t>, N., Katin, A. and Herath, P. (2026) 'Technical debt is not just technical: An industrial case study in large agile software development', </a:t>
            </a:r>
            <a:r>
              <a:rPr lang="en-GB" sz="950" i="1" dirty="0">
                <a:solidFill>
                  <a:srgbClr val="2A3F55"/>
                </a:solidFill>
                <a:latin typeface="Arial" pitchFamily="34" charset="0"/>
                <a:ea typeface="Arial" pitchFamily="34" charset="-122"/>
                <a:cs typeface="Arial" pitchFamily="34" charset="-120"/>
              </a:rPr>
              <a:t>Journal of Systems and Software</a:t>
            </a:r>
            <a:r>
              <a:rPr lang="en-GB" sz="950" dirty="0">
                <a:solidFill>
                  <a:srgbClr val="2A3F55"/>
                </a:solidFill>
                <a:latin typeface="Arial" pitchFamily="34" charset="0"/>
                <a:ea typeface="Arial" pitchFamily="34" charset="-122"/>
                <a:cs typeface="Arial" pitchFamily="34" charset="-120"/>
              </a:rPr>
              <a:t>, 234, p. 112719.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/10.1016/j.jss.2025.112719.</a:t>
            </a:r>
            <a:endParaRPr lang="en-GB" sz="950" dirty="0"/>
          </a:p>
        </p:txBody>
      </p:sp>
      <p:sp>
        <p:nvSpPr>
          <p:cNvPr id="5" name="Text 3"/>
          <p:cNvSpPr/>
          <p:nvPr/>
        </p:nvSpPr>
        <p:spPr>
          <a:xfrm>
            <a:off x="685800" y="2455164"/>
            <a:ext cx="5303520" cy="498348"/>
          </a:xfrm>
          <a:prstGeom prst="rect">
            <a:avLst/>
          </a:prstGeom>
          <a:noFill/>
          <a:ln/>
        </p:spPr>
        <p:txBody>
          <a:bodyPr wrap="square" lIns="0" tIns="0" rIns="0" bIns="0" rtlCol="0" anchor="t"/>
          <a:lstStyle/>
          <a:p>
            <a:pPr marL="0" indent="0">
              <a:lnSpc>
                <a:spcPct val="105000"/>
              </a:lnSpc>
              <a:buNone/>
            </a:pPr>
            <a:r>
              <a:rPr lang="en-GB" sz="950" dirty="0" err="1">
                <a:solidFill>
                  <a:srgbClr val="2A3F55"/>
                </a:solidFill>
                <a:latin typeface="Arial" pitchFamily="34" charset="0"/>
                <a:ea typeface="Arial" pitchFamily="34" charset="-122"/>
                <a:cs typeface="Arial" pitchFamily="34" charset="-120"/>
              </a:rPr>
              <a:t>Albarak</a:t>
            </a:r>
            <a:r>
              <a:rPr lang="en-GB" sz="950" dirty="0">
                <a:solidFill>
                  <a:srgbClr val="2A3F55"/>
                </a:solidFill>
                <a:latin typeface="Arial" pitchFamily="34" charset="0"/>
                <a:ea typeface="Arial" pitchFamily="34" charset="-122"/>
                <a:cs typeface="Arial" pitchFamily="34" charset="-120"/>
              </a:rPr>
              <a:t>, M., </a:t>
            </a:r>
            <a:r>
              <a:rPr lang="en-GB" sz="950" dirty="0" err="1">
                <a:solidFill>
                  <a:srgbClr val="2A3F55"/>
                </a:solidFill>
                <a:latin typeface="Arial" pitchFamily="34" charset="0"/>
                <a:ea typeface="Arial" pitchFamily="34" charset="-122"/>
                <a:cs typeface="Arial" pitchFamily="34" charset="-120"/>
              </a:rPr>
              <a:t>Bahsoon</a:t>
            </a:r>
            <a:r>
              <a:rPr lang="en-GB" sz="950" dirty="0">
                <a:solidFill>
                  <a:srgbClr val="2A3F55"/>
                </a:solidFill>
                <a:latin typeface="Arial" pitchFamily="34" charset="0"/>
                <a:ea typeface="Arial" pitchFamily="34" charset="-122"/>
                <a:cs typeface="Arial" pitchFamily="34" charset="-120"/>
              </a:rPr>
              <a:t>, R., </a:t>
            </a:r>
            <a:r>
              <a:rPr lang="en-GB" sz="950" dirty="0" err="1">
                <a:solidFill>
                  <a:srgbClr val="2A3F55"/>
                </a:solidFill>
                <a:latin typeface="Arial" pitchFamily="34" charset="0"/>
                <a:ea typeface="Arial" pitchFamily="34" charset="-122"/>
                <a:cs typeface="Arial" pitchFamily="34" charset="-120"/>
              </a:rPr>
              <a:t>Ozkaya</a:t>
            </a:r>
            <a:r>
              <a:rPr lang="en-GB" sz="950" dirty="0">
                <a:solidFill>
                  <a:srgbClr val="2A3F55"/>
                </a:solidFill>
                <a:latin typeface="Arial" pitchFamily="34" charset="0"/>
                <a:ea typeface="Arial" pitchFamily="34" charset="-122"/>
                <a:cs typeface="Arial" pitchFamily="34" charset="-120"/>
              </a:rPr>
              <a:t>, I. and Nord, R.L. (2022) 'Managing Technical Debt in Database Normalization', </a:t>
            </a:r>
            <a:r>
              <a:rPr lang="en-GB" sz="950" i="1" dirty="0">
                <a:solidFill>
                  <a:srgbClr val="2A3F55"/>
                </a:solidFill>
                <a:latin typeface="Arial" pitchFamily="34" charset="0"/>
                <a:ea typeface="Arial" pitchFamily="34" charset="-122"/>
                <a:cs typeface="Arial" pitchFamily="34" charset="-120"/>
              </a:rPr>
              <a:t>IEEE Transactions on Software Engineering</a:t>
            </a:r>
            <a:r>
              <a:rPr lang="en-GB" sz="950" dirty="0">
                <a:solidFill>
                  <a:srgbClr val="2A3F55"/>
                </a:solidFill>
                <a:latin typeface="Arial" pitchFamily="34" charset="0"/>
                <a:ea typeface="Arial" pitchFamily="34" charset="-122"/>
                <a:cs typeface="Arial" pitchFamily="34" charset="-120"/>
              </a:rPr>
              <a:t>, 48(3), pp. 755–772.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/10.1109/TSE.2020.3001339.</a:t>
            </a:r>
            <a:endParaRPr lang="en-GB" sz="950" dirty="0"/>
          </a:p>
        </p:txBody>
      </p:sp>
      <p:sp>
        <p:nvSpPr>
          <p:cNvPr id="6" name="Text 4"/>
          <p:cNvSpPr/>
          <p:nvPr/>
        </p:nvSpPr>
        <p:spPr>
          <a:xfrm>
            <a:off x="685800" y="3081528"/>
            <a:ext cx="5303520" cy="347472"/>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Banker, R., Liang, Y. and </a:t>
            </a:r>
            <a:r>
              <a:rPr lang="en-GB" sz="950" dirty="0" err="1">
                <a:solidFill>
                  <a:srgbClr val="2A3F55"/>
                </a:solidFill>
                <a:latin typeface="Arial" pitchFamily="34" charset="0"/>
                <a:ea typeface="Arial" pitchFamily="34" charset="-122"/>
                <a:cs typeface="Arial" pitchFamily="34" charset="-120"/>
              </a:rPr>
              <a:t>Ramasubbu</a:t>
            </a:r>
            <a:r>
              <a:rPr lang="en-GB" sz="950" dirty="0">
                <a:solidFill>
                  <a:srgbClr val="2A3F55"/>
                </a:solidFill>
                <a:latin typeface="Arial" pitchFamily="34" charset="0"/>
                <a:ea typeface="Arial" pitchFamily="34" charset="-122"/>
                <a:cs typeface="Arial" pitchFamily="34" charset="-120"/>
              </a:rPr>
              <a:t>, N. (2020) 'Technical Debt and Firm Performance', </a:t>
            </a:r>
            <a:r>
              <a:rPr lang="en-GB" sz="950" i="1" dirty="0">
                <a:solidFill>
                  <a:srgbClr val="2A3F55"/>
                </a:solidFill>
                <a:latin typeface="Arial" pitchFamily="34" charset="0"/>
                <a:ea typeface="Arial" pitchFamily="34" charset="-122"/>
                <a:cs typeface="Arial" pitchFamily="34" charset="-120"/>
              </a:rPr>
              <a:t>Management Science</a:t>
            </a:r>
            <a:r>
              <a:rPr lang="en-GB" sz="950" dirty="0">
                <a:solidFill>
                  <a:srgbClr val="2A3F55"/>
                </a:solidFill>
                <a:latin typeface="Arial" pitchFamily="34" charset="0"/>
                <a:ea typeface="Arial" pitchFamily="34" charset="-122"/>
                <a:cs typeface="Arial" pitchFamily="34" charset="-120"/>
              </a:rPr>
              <a:t>, 67(5), pp. 3174–3194.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/10.1287/mnsc.2019.3542.</a:t>
            </a:r>
            <a:endParaRPr lang="en-GB" sz="950" dirty="0"/>
          </a:p>
        </p:txBody>
      </p:sp>
      <p:sp>
        <p:nvSpPr>
          <p:cNvPr id="7" name="Text 5"/>
          <p:cNvSpPr/>
          <p:nvPr/>
        </p:nvSpPr>
        <p:spPr>
          <a:xfrm>
            <a:off x="685800" y="3557016"/>
            <a:ext cx="5303520" cy="626364"/>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a:t>
            </a:r>
            <a:r>
              <a:rPr lang="en-GB" sz="950" i="1" dirty="0">
                <a:solidFill>
                  <a:srgbClr val="2A3F55"/>
                </a:solidFill>
                <a:latin typeface="Arial" pitchFamily="34" charset="0"/>
                <a:ea typeface="Arial" pitchFamily="34" charset="-122"/>
                <a:cs typeface="Arial" pitchFamily="34" charset="-120"/>
              </a:rPr>
              <a:t>2021 47th </a:t>
            </a:r>
            <a:r>
              <a:rPr lang="en-GB" sz="950" i="1" dirty="0" err="1">
                <a:solidFill>
                  <a:srgbClr val="2A3F55"/>
                </a:solidFill>
                <a:latin typeface="Arial" pitchFamily="34" charset="0"/>
                <a:ea typeface="Arial" pitchFamily="34" charset="-122"/>
                <a:cs typeface="Arial" pitchFamily="34" charset="-120"/>
              </a:rPr>
              <a:t>Euromicro</a:t>
            </a:r>
            <a:r>
              <a:rPr lang="en-GB" sz="950" i="1" dirty="0">
                <a:solidFill>
                  <a:srgbClr val="2A3F55"/>
                </a:solidFill>
                <a:latin typeface="Arial" pitchFamily="34" charset="0"/>
                <a:ea typeface="Arial" pitchFamily="34" charset="-122"/>
                <a:cs typeface="Arial" pitchFamily="34" charset="-120"/>
              </a:rPr>
              <a:t> Conference on Software Engineering and Advanced Applications (SEAA)</a:t>
            </a:r>
            <a:r>
              <a:rPr lang="en-GB" sz="950" dirty="0">
                <a:solidFill>
                  <a:srgbClr val="2A3F55"/>
                </a:solidFill>
                <a:latin typeface="Arial" pitchFamily="34" charset="0"/>
                <a:ea typeface="Arial" pitchFamily="34" charset="-122"/>
                <a:cs typeface="Arial" pitchFamily="34" charset="-120"/>
              </a:rPr>
              <a:t>, pp. 196–205.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/10.1109/SEAA53835.2021.00033.</a:t>
            </a:r>
            <a:endParaRPr lang="en-GB" sz="950" dirty="0"/>
          </a:p>
        </p:txBody>
      </p:sp>
      <p:sp>
        <p:nvSpPr>
          <p:cNvPr id="8" name="Text 6"/>
          <p:cNvSpPr/>
          <p:nvPr/>
        </p:nvSpPr>
        <p:spPr>
          <a:xfrm>
            <a:off x="685800" y="4311396"/>
            <a:ext cx="5303520" cy="498348"/>
          </a:xfrm>
          <a:prstGeom prst="rect">
            <a:avLst/>
          </a:prstGeom>
          <a:noFill/>
          <a:ln/>
        </p:spPr>
        <p:txBody>
          <a:bodyPr wrap="square" lIns="0" tIns="0" rIns="0" bIns="0" rtlCol="0" anchor="t"/>
          <a:lstStyle/>
          <a:p>
            <a:pPr marL="0" indent="0">
              <a:lnSpc>
                <a:spcPct val="105000"/>
              </a:lnSpc>
              <a:buNone/>
            </a:pPr>
            <a:r>
              <a:rPr lang="en-GB" sz="950" i="1" dirty="0">
                <a:solidFill>
                  <a:srgbClr val="2A3F55"/>
                </a:solidFill>
                <a:latin typeface="Arial" pitchFamily="34" charset="0"/>
                <a:ea typeface="Arial" pitchFamily="34" charset="-122"/>
                <a:cs typeface="Arial" pitchFamily="34" charset="-120"/>
              </a:rPr>
              <a:t>FINMA Circular 2023/1 - Operational risks and resilience – banks </a:t>
            </a:r>
            <a:r>
              <a:rPr lang="en-GB" sz="950" dirty="0">
                <a:solidFill>
                  <a:srgbClr val="2A3F55"/>
                </a:solidFill>
                <a:latin typeface="Arial" pitchFamily="34" charset="0"/>
                <a:ea typeface="Arial" pitchFamily="34" charset="-122"/>
                <a:cs typeface="Arial" pitchFamily="34" charset="-120"/>
              </a:rPr>
              <a:t>(2024). Available at: https://</a:t>
            </a:r>
            <a:r>
              <a:rPr lang="en-GB" sz="950" dirty="0" err="1">
                <a:solidFill>
                  <a:srgbClr val="2A3F55"/>
                </a:solidFill>
                <a:latin typeface="Arial" pitchFamily="34" charset="0"/>
                <a:ea typeface="Arial" pitchFamily="34" charset="-122"/>
                <a:cs typeface="Arial" pitchFamily="34" charset="-120"/>
              </a:rPr>
              <a:t>www.finma.ch</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en</a:t>
            </a:r>
            <a:r>
              <a:rPr lang="en-GB" sz="950" dirty="0">
                <a:solidFill>
                  <a:srgbClr val="2A3F55"/>
                </a:solidFill>
                <a:latin typeface="Arial" pitchFamily="34" charset="0"/>
                <a:ea typeface="Arial" pitchFamily="34" charset="-122"/>
                <a:cs typeface="Arial" pitchFamily="34" charset="-120"/>
              </a:rPr>
              <a:t>/~/media/</a:t>
            </a:r>
            <a:r>
              <a:rPr lang="en-GB" sz="950" dirty="0" err="1">
                <a:solidFill>
                  <a:srgbClr val="2A3F55"/>
                </a:solidFill>
                <a:latin typeface="Arial" pitchFamily="34" charset="0"/>
                <a:ea typeface="Arial" pitchFamily="34" charset="-122"/>
                <a:cs typeface="Arial" pitchFamily="34" charset="-120"/>
              </a:rPr>
              <a:t>finma</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dokumente</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dokumentencenter</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myfinma</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rundschreiben</a:t>
            </a:r>
            <a:r>
              <a:rPr lang="en-GB" sz="950" dirty="0">
                <a:solidFill>
                  <a:srgbClr val="2A3F55"/>
                </a:solidFill>
                <a:latin typeface="Arial" pitchFamily="34" charset="0"/>
                <a:ea typeface="Arial" pitchFamily="34" charset="-122"/>
                <a:cs typeface="Arial" pitchFamily="34" charset="-120"/>
              </a:rPr>
              <a:t>/finma-rs-2023-01-20221207.pdf (Accessed: March 29, 2026).</a:t>
            </a:r>
            <a:endParaRPr lang="en-GB" sz="950" dirty="0"/>
          </a:p>
        </p:txBody>
      </p:sp>
      <p:sp>
        <p:nvSpPr>
          <p:cNvPr id="9" name="Text 7"/>
          <p:cNvSpPr/>
          <p:nvPr/>
        </p:nvSpPr>
        <p:spPr>
          <a:xfrm>
            <a:off x="685800" y="4937760"/>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Forsgren, N., Humble, J. and Kim, G. (2018) </a:t>
            </a:r>
            <a:r>
              <a:rPr lang="en-GB" sz="950" i="1" dirty="0">
                <a:solidFill>
                  <a:srgbClr val="2A3F55"/>
                </a:solidFill>
                <a:latin typeface="Arial" pitchFamily="34" charset="0"/>
                <a:ea typeface="Arial" pitchFamily="34" charset="-122"/>
                <a:cs typeface="Arial" pitchFamily="34" charset="-120"/>
              </a:rPr>
              <a:t>Accelerate: The Science of Lean Software and DevOps: Building and Scaling High Performing Technology Organizations</a:t>
            </a:r>
            <a:r>
              <a:rPr lang="en-GB" sz="950" dirty="0">
                <a:solidFill>
                  <a:srgbClr val="2A3F55"/>
                </a:solidFill>
                <a:latin typeface="Arial" pitchFamily="34" charset="0"/>
                <a:ea typeface="Arial" pitchFamily="34" charset="-122"/>
                <a:cs typeface="Arial" pitchFamily="34" charset="-120"/>
              </a:rPr>
              <a:t>. Portland, OR: IT Revolution Press.</a:t>
            </a:r>
            <a:endParaRPr lang="en-GB" sz="950" dirty="0"/>
          </a:p>
        </p:txBody>
      </p:sp>
      <p:sp>
        <p:nvSpPr>
          <p:cNvPr id="10" name="Text 8"/>
          <p:cNvSpPr/>
          <p:nvPr/>
        </p:nvSpPr>
        <p:spPr>
          <a:xfrm>
            <a:off x="685800" y="5564124"/>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García-</a:t>
            </a:r>
            <a:r>
              <a:rPr lang="en-GB" sz="950" dirty="0" err="1">
                <a:solidFill>
                  <a:srgbClr val="2A3F55"/>
                </a:solidFill>
                <a:latin typeface="Arial" pitchFamily="34" charset="0"/>
                <a:ea typeface="Arial" pitchFamily="34" charset="-122"/>
                <a:cs typeface="Arial" pitchFamily="34" charset="-120"/>
              </a:rPr>
              <a:t>Cascales</a:t>
            </a:r>
            <a:r>
              <a:rPr lang="en-GB" sz="950" dirty="0">
                <a:solidFill>
                  <a:srgbClr val="2A3F55"/>
                </a:solidFill>
                <a:latin typeface="Arial" pitchFamily="34" charset="0"/>
                <a:ea typeface="Arial" pitchFamily="34" charset="-122"/>
                <a:cs typeface="Arial" pitchFamily="34" charset="-120"/>
              </a:rPr>
              <a:t>, M.S. and Lamata, M.T. (2012) 'On rank reversal and TOPSIS method', </a:t>
            </a:r>
            <a:r>
              <a:rPr lang="en-GB" sz="950" i="1" dirty="0">
                <a:solidFill>
                  <a:srgbClr val="2A3F55"/>
                </a:solidFill>
                <a:latin typeface="Arial" pitchFamily="34" charset="0"/>
                <a:ea typeface="Arial" pitchFamily="34" charset="-122"/>
                <a:cs typeface="Arial" pitchFamily="34" charset="-120"/>
              </a:rPr>
              <a:t>Mathematical and Computer Modelling</a:t>
            </a:r>
            <a:r>
              <a:rPr lang="en-GB" sz="950" dirty="0">
                <a:solidFill>
                  <a:srgbClr val="2A3F55"/>
                </a:solidFill>
                <a:latin typeface="Arial" pitchFamily="34" charset="0"/>
                <a:ea typeface="Arial" pitchFamily="34" charset="-122"/>
                <a:cs typeface="Arial" pitchFamily="34" charset="-120"/>
              </a:rPr>
              <a:t>, 56(5), pp. 123–132.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/10.1016/j.mcm.2011.12.022.</a:t>
            </a:r>
            <a:endParaRPr lang="en-GB" sz="950" dirty="0"/>
          </a:p>
        </p:txBody>
      </p:sp>
      <p:sp>
        <p:nvSpPr>
          <p:cNvPr id="11" name="Text 9"/>
          <p:cNvSpPr/>
          <p:nvPr/>
        </p:nvSpPr>
        <p:spPr>
          <a:xfrm>
            <a:off x="6202680" y="1828800"/>
            <a:ext cx="5303520" cy="347472"/>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a:t>
            </a:r>
            <a:r>
              <a:rPr lang="en-GB" sz="950" i="1" dirty="0">
                <a:solidFill>
                  <a:srgbClr val="2A3F55"/>
                </a:solidFill>
                <a:latin typeface="Arial" pitchFamily="34" charset="0"/>
                <a:ea typeface="Arial" pitchFamily="34" charset="-122"/>
                <a:cs typeface="Arial" pitchFamily="34" charset="-120"/>
              </a:rPr>
              <a:t>MIS Quarterly</a:t>
            </a:r>
            <a:r>
              <a:rPr lang="en-GB" sz="950" dirty="0">
                <a:solidFill>
                  <a:srgbClr val="2A3F55"/>
                </a:solidFill>
                <a:latin typeface="Arial" pitchFamily="34" charset="0"/>
                <a:ea typeface="Arial" pitchFamily="34" charset="-122"/>
                <a:cs typeface="Arial" pitchFamily="34" charset="-120"/>
              </a:rPr>
              <a:t>, 28(1), pp. 75–105.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/10.2307/25148625.</a:t>
            </a:r>
            <a:endParaRPr lang="en-GB" sz="950" dirty="0"/>
          </a:p>
        </p:txBody>
      </p:sp>
      <p:sp>
        <p:nvSpPr>
          <p:cNvPr id="12" name="Text 10"/>
          <p:cNvSpPr/>
          <p:nvPr/>
        </p:nvSpPr>
        <p:spPr>
          <a:xfrm>
            <a:off x="6202680" y="2325446"/>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Lenarduzzi, V., </a:t>
            </a:r>
            <a:r>
              <a:rPr lang="en-GB" sz="950" dirty="0" err="1">
                <a:solidFill>
                  <a:srgbClr val="2A3F55"/>
                </a:solidFill>
                <a:latin typeface="Arial" pitchFamily="34" charset="0"/>
                <a:ea typeface="Arial" pitchFamily="34" charset="-122"/>
                <a:cs typeface="Arial" pitchFamily="34" charset="-120"/>
              </a:rPr>
              <a:t>Besker</a:t>
            </a:r>
            <a:r>
              <a:rPr lang="en-GB" sz="950" dirty="0">
                <a:solidFill>
                  <a:srgbClr val="2A3F55"/>
                </a:solidFill>
                <a:latin typeface="Arial" pitchFamily="34" charset="0"/>
                <a:ea typeface="Arial" pitchFamily="34" charset="-122"/>
                <a:cs typeface="Arial" pitchFamily="34" charset="-120"/>
              </a:rPr>
              <a:t>, T., Taibi, D., Martini, A. and </a:t>
            </a:r>
            <a:r>
              <a:rPr lang="en-GB" sz="950" dirty="0" err="1">
                <a:solidFill>
                  <a:srgbClr val="2A3F55"/>
                </a:solidFill>
                <a:latin typeface="Arial" pitchFamily="34" charset="0"/>
                <a:ea typeface="Arial" pitchFamily="34" charset="-122"/>
                <a:cs typeface="Arial" pitchFamily="34" charset="-120"/>
              </a:rPr>
              <a:t>Arcelli</a:t>
            </a:r>
            <a:r>
              <a:rPr lang="en-GB" sz="950" dirty="0">
                <a:solidFill>
                  <a:srgbClr val="2A3F55"/>
                </a:solidFill>
                <a:latin typeface="Arial" pitchFamily="34" charset="0"/>
                <a:ea typeface="Arial" pitchFamily="34" charset="-122"/>
                <a:cs typeface="Arial" pitchFamily="34" charset="-120"/>
              </a:rPr>
              <a:t> Fontana, F. (2021) 'A systematic literature review on Technical Debt prioritization: Strategies, processes, factors, and tools', </a:t>
            </a:r>
            <a:r>
              <a:rPr lang="en-GB" sz="950" i="1" dirty="0">
                <a:solidFill>
                  <a:srgbClr val="2A3F55"/>
                </a:solidFill>
                <a:latin typeface="Arial" pitchFamily="34" charset="0"/>
                <a:ea typeface="Arial" pitchFamily="34" charset="-122"/>
                <a:cs typeface="Arial" pitchFamily="34" charset="-120"/>
              </a:rPr>
              <a:t>Journal of Systems and Software</a:t>
            </a:r>
            <a:r>
              <a:rPr lang="en-GB" sz="950" dirty="0">
                <a:solidFill>
                  <a:srgbClr val="2A3F55"/>
                </a:solidFill>
                <a:latin typeface="Arial" pitchFamily="34" charset="0"/>
                <a:ea typeface="Arial" pitchFamily="34" charset="-122"/>
                <a:cs typeface="Arial" pitchFamily="34" charset="-120"/>
              </a:rPr>
              <a:t>, 171, p. 110827.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/10.1016/j.jss.2020.110827.</a:t>
            </a:r>
            <a:endParaRPr lang="en-GB" sz="950" dirty="0"/>
          </a:p>
        </p:txBody>
      </p:sp>
      <p:sp>
        <p:nvSpPr>
          <p:cNvPr id="13" name="Text 11"/>
          <p:cNvSpPr/>
          <p:nvPr/>
        </p:nvSpPr>
        <p:spPr>
          <a:xfrm>
            <a:off x="6202680" y="2972968"/>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Nord, R.L., </a:t>
            </a:r>
            <a:r>
              <a:rPr lang="en-GB" sz="950" dirty="0" err="1">
                <a:solidFill>
                  <a:srgbClr val="2A3F55"/>
                </a:solidFill>
                <a:latin typeface="Arial" pitchFamily="34" charset="0"/>
                <a:ea typeface="Arial" pitchFamily="34" charset="-122"/>
                <a:cs typeface="Arial" pitchFamily="34" charset="-120"/>
              </a:rPr>
              <a:t>Ozkaya</a:t>
            </a:r>
            <a:r>
              <a:rPr lang="en-GB" sz="950" dirty="0">
                <a:solidFill>
                  <a:srgbClr val="2A3F55"/>
                </a:solidFill>
                <a:latin typeface="Arial" pitchFamily="34" charset="0"/>
                <a:ea typeface="Arial" pitchFamily="34" charset="-122"/>
                <a:cs typeface="Arial" pitchFamily="34" charset="-120"/>
              </a:rPr>
              <a:t>, I. and Woody, C. (2021) Examples of Technical Debt’s Cybersecurity Impact. Pittsburgh, PA, USA: Carnegie Mellon University, pp. 1–21. Available at: https://</a:t>
            </a:r>
            <a:r>
              <a:rPr lang="en-GB" sz="950" dirty="0" err="1">
                <a:solidFill>
                  <a:srgbClr val="2A3F55"/>
                </a:solidFill>
                <a:latin typeface="Arial" pitchFamily="34" charset="0"/>
                <a:ea typeface="Arial" pitchFamily="34" charset="-122"/>
                <a:cs typeface="Arial" pitchFamily="34" charset="-120"/>
              </a:rPr>
              <a:t>apps.dtic.mil</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sti</a:t>
            </a:r>
            <a:r>
              <a:rPr lang="en-GB" sz="950" dirty="0">
                <a:solidFill>
                  <a:srgbClr val="2A3F55"/>
                </a:solidFill>
                <a:latin typeface="Arial" pitchFamily="34" charset="0"/>
                <a:ea typeface="Arial" pitchFamily="34" charset="-122"/>
                <a:cs typeface="Arial" pitchFamily="34" charset="-120"/>
              </a:rPr>
              <a:t>/</a:t>
            </a:r>
            <a:r>
              <a:rPr lang="en-GB" sz="950" dirty="0" err="1">
                <a:solidFill>
                  <a:srgbClr val="2A3F55"/>
                </a:solidFill>
                <a:latin typeface="Arial" pitchFamily="34" charset="0"/>
                <a:ea typeface="Arial" pitchFamily="34" charset="-122"/>
                <a:cs typeface="Arial" pitchFamily="34" charset="-120"/>
              </a:rPr>
              <a:t>trecms</a:t>
            </a:r>
            <a:r>
              <a:rPr lang="en-GB" sz="950" dirty="0">
                <a:solidFill>
                  <a:srgbClr val="2A3F55"/>
                </a:solidFill>
                <a:latin typeface="Arial" pitchFamily="34" charset="0"/>
                <a:ea typeface="Arial" pitchFamily="34" charset="-122"/>
                <a:cs typeface="Arial" pitchFamily="34" charset="-120"/>
              </a:rPr>
              <a:t>/pdf/AD1144728.pdf (Accessed: April 27, 2026).</a:t>
            </a:r>
            <a:endParaRPr lang="en-GB" sz="950" dirty="0"/>
          </a:p>
        </p:txBody>
      </p:sp>
      <p:sp>
        <p:nvSpPr>
          <p:cNvPr id="14" name="Text 12"/>
          <p:cNvSpPr/>
          <p:nvPr/>
        </p:nvSpPr>
        <p:spPr>
          <a:xfrm>
            <a:off x="6202680" y="3620490"/>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Tizio, G.D., Armellini, M. and </a:t>
            </a:r>
            <a:r>
              <a:rPr lang="en-GB" sz="950" dirty="0" err="1">
                <a:solidFill>
                  <a:srgbClr val="2A3F55"/>
                </a:solidFill>
                <a:latin typeface="Arial" pitchFamily="34" charset="0"/>
                <a:ea typeface="Arial" pitchFamily="34" charset="-122"/>
                <a:cs typeface="Arial" pitchFamily="34" charset="-120"/>
              </a:rPr>
              <a:t>Massacci</a:t>
            </a:r>
            <a:r>
              <a:rPr lang="en-GB" sz="950" dirty="0">
                <a:solidFill>
                  <a:srgbClr val="2A3F55"/>
                </a:solidFill>
                <a:latin typeface="Arial" pitchFamily="34" charset="0"/>
                <a:ea typeface="Arial" pitchFamily="34" charset="-122"/>
                <a:cs typeface="Arial" pitchFamily="34" charset="-120"/>
              </a:rPr>
              <a:t>, F. (2023) 'Software Updates Strategies: A Quantitative Evaluation Against Advanced Persistent Threats', </a:t>
            </a:r>
            <a:r>
              <a:rPr lang="en-GB" sz="950" i="1" dirty="0">
                <a:solidFill>
                  <a:srgbClr val="2A3F55"/>
                </a:solidFill>
                <a:latin typeface="Arial" pitchFamily="34" charset="0"/>
                <a:ea typeface="Arial" pitchFamily="34" charset="-122"/>
                <a:cs typeface="Arial" pitchFamily="34" charset="-120"/>
              </a:rPr>
              <a:t>IEEE Transactions on Software Engineering</a:t>
            </a:r>
            <a:r>
              <a:rPr lang="en-GB" sz="950" dirty="0">
                <a:solidFill>
                  <a:srgbClr val="2A3F55"/>
                </a:solidFill>
                <a:latin typeface="Arial" pitchFamily="34" charset="0"/>
                <a:ea typeface="Arial" pitchFamily="34" charset="-122"/>
                <a:cs typeface="Arial" pitchFamily="34" charset="-120"/>
              </a:rPr>
              <a:t>, 49(3), pp. 1359–1373.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/10.1109/TSE.2022.3176674.</a:t>
            </a:r>
            <a:endParaRPr lang="en-GB" sz="950" dirty="0"/>
          </a:p>
        </p:txBody>
      </p:sp>
      <p:sp>
        <p:nvSpPr>
          <p:cNvPr id="15" name="Text 13"/>
          <p:cNvSpPr/>
          <p:nvPr/>
        </p:nvSpPr>
        <p:spPr>
          <a:xfrm>
            <a:off x="6202680" y="4268012"/>
            <a:ext cx="5303520" cy="498348"/>
          </a:xfrm>
          <a:prstGeom prst="rect">
            <a:avLst/>
          </a:prstGeom>
          <a:noFill/>
          <a:ln/>
        </p:spPr>
        <p:txBody>
          <a:bodyPr wrap="square" lIns="0" tIns="0" rIns="0" bIns="0" rtlCol="0" anchor="t"/>
          <a:lstStyle/>
          <a:p>
            <a:pPr marL="0" indent="0">
              <a:lnSpc>
                <a:spcPct val="105000"/>
              </a:lnSpc>
              <a:buNone/>
            </a:pPr>
            <a:r>
              <a:rPr lang="en-GB" sz="950" dirty="0">
                <a:solidFill>
                  <a:srgbClr val="2A3F55"/>
                </a:solidFill>
                <a:latin typeface="Arial" pitchFamily="34" charset="0"/>
                <a:ea typeface="Arial" pitchFamily="34" charset="-122"/>
                <a:cs typeface="Arial" pitchFamily="34" charset="-120"/>
              </a:rPr>
              <a:t>Yang, W. (2020) 'Ingenious Solution for the Rank Reversal Problem of TOPSIS Method', </a:t>
            </a:r>
            <a:r>
              <a:rPr lang="en-GB" sz="950" i="1" dirty="0">
                <a:solidFill>
                  <a:srgbClr val="2A3F55"/>
                </a:solidFill>
                <a:latin typeface="Arial" pitchFamily="34" charset="0"/>
                <a:ea typeface="Arial" pitchFamily="34" charset="-122"/>
                <a:cs typeface="Arial" pitchFamily="34" charset="-120"/>
              </a:rPr>
              <a:t>Mathematical Problems in Engineering</a:t>
            </a:r>
            <a:r>
              <a:rPr lang="en-GB" sz="950" dirty="0">
                <a:solidFill>
                  <a:srgbClr val="2A3F55"/>
                </a:solidFill>
                <a:latin typeface="Arial" pitchFamily="34" charset="0"/>
                <a:ea typeface="Arial" pitchFamily="34" charset="-122"/>
                <a:cs typeface="Arial" pitchFamily="34" charset="-120"/>
              </a:rPr>
              <a:t>, 2020(1), p. 9676518. Available at: https://</a:t>
            </a:r>
            <a:r>
              <a:rPr lang="en-GB" sz="950" dirty="0" err="1">
                <a:solidFill>
                  <a:srgbClr val="2A3F55"/>
                </a:solidFill>
                <a:latin typeface="Arial" pitchFamily="34" charset="0"/>
                <a:ea typeface="Arial" pitchFamily="34" charset="-122"/>
                <a:cs typeface="Arial" pitchFamily="34" charset="-120"/>
              </a:rPr>
              <a:t>doi.org</a:t>
            </a:r>
            <a:r>
              <a:rPr lang="en-GB" sz="950" dirty="0">
                <a:solidFill>
                  <a:srgbClr val="2A3F55"/>
                </a:solidFill>
                <a:latin typeface="Arial" pitchFamily="34" charset="0"/>
                <a:ea typeface="Arial" pitchFamily="34" charset="-122"/>
                <a:cs typeface="Arial" pitchFamily="34" charset="-120"/>
              </a:rPr>
              <a:t>/10.1155/2020/9676518.</a:t>
            </a:r>
            <a:endParaRPr lang="en-GB"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3342</Words>
  <Application>Microsoft Macintosh PowerPoint</Application>
  <PresentationFormat>Widescreen</PresentationFormat>
  <Paragraphs>258</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MSc Thesis Defence</dc:creator>
  <cp:lastModifiedBy>Tobi Zeier</cp:lastModifiedBy>
  <cp:revision>6</cp:revision>
  <dcterms:created xsi:type="dcterms:W3CDTF">2026-07-12T08:00:12Z</dcterms:created>
  <dcterms:modified xsi:type="dcterms:W3CDTF">2026-07-12T08:59:53Z</dcterms:modified>
</cp:coreProperties>
</file>