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794500" cy="990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8" d="100"/>
          <a:sy n="78" d="100"/>
        </p:scale>
        <p:origin x="12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28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2:00-3:00. Emphasise the four-way combination: each pairwise element exists in the literature, the combination does not. RQ2 is deliberately worded 'to what extent': the proxy link is treated as a testable hypothesis throughout, not a premise.</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4:15-5:15. Keep this brisk; examiners know TOPSIS. Two points to land: differential weights are a declared practitioner assumption, not literature-derived, and are themselves stress-tested; and method choice is defended empirically, not a priori.</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5:15-6:15. Say the right column unprompted; every point is a question the examiner would otherwise ask. Framing: n=6 was a completeness criterion, and the consequence is handled with exact permutation p-values read as effect sizes.</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6:15-7:15. Read the ranking through the three profiles; each maps onto a distinct debt dimension, which is the practical-validity argument for RQ2. SVC-01 is the money case: quiet on incidents, dominant structural exposure, and it tops the ranking.</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7:15-8:15. The evaluation architecture. Say the takeaway line verbatim: it answers the biggest examiner question (circularity, no ground truth) before it is asked. The next slides unpack the three most interesting strands.</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9:15-10:00. One idea: if the framework merely reproduced the incident count, it would be redundant. It does not, and the two services that move are the ones that should move.</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10:00-11:15. The 2024 equal-weight top rank is a photo-finish: classic TOPSIS puts SVC-04 first by 0.0018; SAW, VIKOR and the absolute variant put SVC-01 first. Both services are worst on exactly two criteria; SVC-04 is perfect on its other two while SVC-01 is only good, so linear aggregation favours SVC-01 while vector normalisation, which preserves SVC-04's outlying incident count, does not. If pressed: VIKOR's utility term is algebraically 1 minus SAW, so those two are not fully independent; VIKOR adds information only through regret. In 2025 everything agrees on SVC-01.</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11:15-12:00. Disagreement as diagnostic rather than failure is the transferable design lesson beyond the case. The takeaway doubles as the answer to 'so which service is actually first?'.</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12:00-13:15. Deliver these deadpan; each answer is one breath. The move: every hard question already has a stated, chapter-referenced answer in the thesis, so the defence is consistent with the document.</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14:00-14:40. Three academic contributions, one practical. If pressed on novelty, the four-element combination from the gap table in Chapter 2 is the defensible claim: each element exists separately, no study combines them.</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14:40-15:00. The closing sentence is the final sentence of Chapter 6, so the defence ends exactly where the thesis does. Then stop talking.</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0156" tIns="40078" rIns="80156" bIns="40078"/>
          <a:lstStyle/>
          <a:p>
            <a:r>
              <a:rPr lang="en-US" dirty="0"/>
              <a:t>Backup slide; not part of the 15 minutes. Full reference list formatted in Cite Them Right Harvard with all authors listed. If asked for a source mid-defence, jump here, answer, and return.</a:t>
            </a:r>
          </a:p>
        </p:txBody>
      </p:sp>
      <p:sp>
        <p:nvSpPr>
          <p:cNvPr id="4" name="Slide Number Placeholder 3"/>
          <p:cNvSpPr>
            <a:spLocks noGrp="1"/>
          </p:cNvSpPr>
          <p:nvPr>
            <p:ph type="sldNum" sz="quarter" idx="10"/>
          </p:nvPr>
        </p:nvSpPr>
        <p:spPr/>
        <p:txBody>
          <a:bodyPr lIns="80156" tIns="40078" rIns="80156" bIns="40078"/>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marL="0" indent="0">
              <a:buNone/>
            </a:pPr>
            <a:r>
              <a:rPr lang="en-US" sz="1200" b="1" kern="0" spc="30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marL="0" indent="0">
              <a:buNone/>
            </a:pPr>
            <a:r>
              <a:rPr lang="en-US"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Tobias Zeier</a:t>
            </a:r>
            <a:r>
              <a:rPr lang="en-US" sz="1500" dirty="0">
                <a:solidFill>
                  <a:srgbClr val="AFC2D4"/>
                </a:solidFill>
                <a:latin typeface="Arial" pitchFamily="34" charset="0"/>
                <a:ea typeface="Arial" pitchFamily="34" charset="-122"/>
                <a:cs typeface="Arial" pitchFamily="34" charset="-120"/>
              </a:rPr>
              <a:t>  ·  MSc Enterprise IT Management, University of Essex</a:t>
            </a:r>
            <a:endParaRPr lang="en-US" sz="1500" dirty="0"/>
          </a:p>
        </p:txBody>
      </p:sp>
      <p:sp>
        <p:nvSpPr>
          <p:cNvPr id="7" name="Shape 4"/>
          <p:cNvSpPr/>
          <p:nvPr/>
        </p:nvSpPr>
        <p:spPr>
          <a:xfrm>
            <a:off x="685800" y="3794760"/>
            <a:ext cx="2011680" cy="0"/>
          </a:xfrm>
          <a:prstGeom prst="line">
            <a:avLst/>
          </a:prstGeom>
          <a:noFill/>
          <a:ln w="25400">
            <a:solidFill>
              <a:srgbClr val="D98E1F"/>
            </a:solidFill>
            <a:prstDash val="solid"/>
          </a:ln>
        </p:spPr>
        <p:txBody>
          <a:bodyPr/>
          <a:lstStyle/>
          <a:p>
            <a:endParaRPr lang="de-CH"/>
          </a:p>
        </p:txBody>
      </p:sp>
      <p:sp>
        <p:nvSpPr>
          <p:cNvPr id="8" name="Text 5"/>
          <p:cNvSpPr/>
          <p:nvPr/>
        </p:nvSpPr>
        <p:spPr>
          <a:xfrm>
            <a:off x="685800" y="6263640"/>
            <a:ext cx="10789920" cy="256032"/>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de-CH"/>
          </a:p>
        </p:txBody>
      </p:sp>
      <p:sp>
        <p:nvSpPr>
          <p:cNvPr id="6" name="Text 4"/>
          <p:cNvSpPr/>
          <p:nvPr/>
        </p:nvSpPr>
        <p:spPr>
          <a:xfrm>
            <a:off x="7040880" y="1892808"/>
            <a:ext cx="2103120"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gross return on assets per 10% more technical debt in COTS platforms (Banker, Liang and </a:t>
            </a:r>
            <a:r>
              <a:rPr lang="en-US" sz="1200" dirty="0" err="1">
                <a:solidFill>
                  <a:srgbClr val="2A3F55"/>
                </a:solidFill>
                <a:latin typeface="Arial" pitchFamily="34" charset="0"/>
                <a:ea typeface="Arial" pitchFamily="34" charset="-122"/>
                <a:cs typeface="Arial" pitchFamily="34" charset="-120"/>
              </a:rPr>
              <a:t>Ramasubbu</a:t>
            </a:r>
            <a:r>
              <a:rPr lang="en-US" sz="1200" dirty="0">
                <a:solidFill>
                  <a:srgbClr val="2A3F55"/>
                </a:solidFill>
                <a:latin typeface="Arial" pitchFamily="34" charset="0"/>
                <a:ea typeface="Arial" pitchFamily="34" charset="-122"/>
                <a:cs typeface="Arial" pitchFamily="34" charset="-120"/>
              </a:rPr>
              <a:t>, 2020)</a:t>
            </a:r>
            <a:endParaRPr lang="en-US" sz="1200" dirty="0"/>
          </a:p>
        </p:txBody>
      </p:sp>
      <p:sp>
        <p:nvSpPr>
          <p:cNvPr id="8" name="Shape 6"/>
          <p:cNvSpPr/>
          <p:nvPr/>
        </p:nvSpPr>
        <p:spPr>
          <a:xfrm>
            <a:off x="6812280" y="310896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de-CH"/>
          </a:p>
        </p:txBody>
      </p:sp>
      <p:sp>
        <p:nvSpPr>
          <p:cNvPr id="9" name="Text 7"/>
          <p:cNvSpPr/>
          <p:nvPr/>
        </p:nvSpPr>
        <p:spPr>
          <a:xfrm>
            <a:off x="7040880" y="3218688"/>
            <a:ext cx="2727490" cy="502920"/>
          </a:xfrm>
          <a:prstGeom prst="rect">
            <a:avLst/>
          </a:prstGeom>
          <a:noFill/>
          <a:ln/>
        </p:spPr>
        <p:txBody>
          <a:bodyPr wrap="square" lIns="0" tIns="0" rIns="0" bIns="0" rtlCol="0" anchor="ctr"/>
          <a:lstStyle/>
          <a:p>
            <a:pPr marL="0" indent="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higher odds of compromise after one / three months of patch delay (</a:t>
            </a:r>
            <a:r>
              <a:rPr lang="it-IT" sz="1200" dirty="0">
                <a:solidFill>
                  <a:srgbClr val="2A3F55"/>
                </a:solidFill>
                <a:latin typeface="Arial" pitchFamily="34" charset="0"/>
                <a:ea typeface="Arial" pitchFamily="34" charset="-122"/>
                <a:cs typeface="Arial" pitchFamily="34" charset="-120"/>
              </a:rPr>
              <a:t>Tizio, Armellini and Massacci, </a:t>
            </a:r>
            <a:r>
              <a:rPr lang="en-US" sz="1200" dirty="0">
                <a:solidFill>
                  <a:srgbClr val="2A3F55"/>
                </a:solidFill>
                <a:latin typeface="Arial" pitchFamily="34" charset="0"/>
                <a:ea typeface="Arial" pitchFamily="34" charset="-122"/>
                <a:cs typeface="Arial" pitchFamily="34" charset="-120"/>
              </a:rPr>
              <a:t>2023)</a:t>
            </a:r>
            <a:endParaRPr lang="en-US" sz="1200" dirty="0"/>
          </a:p>
        </p:txBody>
      </p:sp>
      <p:sp>
        <p:nvSpPr>
          <p:cNvPr id="11" name="Shape 9"/>
          <p:cNvSpPr/>
          <p:nvPr/>
        </p:nvSpPr>
        <p:spPr>
          <a:xfrm>
            <a:off x="6812280" y="443484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de-CH"/>
          </a:p>
        </p:txBody>
      </p:sp>
      <p:sp>
        <p:nvSpPr>
          <p:cNvPr id="12" name="Text 10"/>
          <p:cNvSpPr/>
          <p:nvPr/>
        </p:nvSpPr>
        <p:spPr>
          <a:xfrm>
            <a:off x="7040880" y="4544568"/>
            <a:ext cx="2103120" cy="502920"/>
          </a:xfrm>
          <a:prstGeom prst="rect">
            <a:avLst/>
          </a:prstGeom>
          <a:noFill/>
          <a:ln/>
        </p:spPr>
        <p:txBody>
          <a:bodyPr wrap="square" lIns="0" tIns="0" rIns="0" bIns="0" rtlCol="0" anchor="ctr"/>
          <a:lstStyle/>
          <a:p>
            <a:pPr marL="0" indent="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incidents after targeted architectural debt repayment (de Toledo </a:t>
            </a:r>
            <a:r>
              <a:rPr lang="en-US" sz="1200" i="1" dirty="0">
                <a:solidFill>
                  <a:srgbClr val="2A3F55"/>
                </a:solidFill>
                <a:latin typeface="Arial" pitchFamily="34" charset="0"/>
                <a:ea typeface="Arial" pitchFamily="34" charset="-122"/>
                <a:cs typeface="Arial" pitchFamily="34" charset="-120"/>
              </a:rPr>
              <a:t>et al.</a:t>
            </a:r>
            <a:r>
              <a:rPr lang="en-US" sz="1200" dirty="0">
                <a:solidFill>
                  <a:srgbClr val="2A3F55"/>
                </a:solidFill>
                <a:latin typeface="Arial" pitchFamily="34" charset="0"/>
                <a:ea typeface="Arial" pitchFamily="34" charset="-122"/>
                <a:cs typeface="Arial" pitchFamily="34" charset="-120"/>
              </a:rPr>
              <a:t>, 2021)</a:t>
            </a:r>
            <a:endParaRPr lang="en-US" sz="1200" dirty="0"/>
          </a:p>
        </p:txBody>
      </p:sp>
      <p:sp>
        <p:nvSpPr>
          <p:cNvPr id="14" name="Shape 12"/>
          <p:cNvSpPr/>
          <p:nvPr/>
        </p:nvSpPr>
        <p:spPr>
          <a:xfrm>
            <a:off x="685800" y="5818524"/>
            <a:ext cx="10789920" cy="713232"/>
          </a:xfrm>
          <a:prstGeom prst="rect">
            <a:avLst/>
          </a:prstGeom>
          <a:solidFill>
            <a:srgbClr val="F2F7F6"/>
          </a:solidFill>
          <a:ln/>
        </p:spPr>
        <p:txBody>
          <a:bodyPr/>
          <a:lstStyle/>
          <a:p>
            <a:endParaRPr lang="de-CH"/>
          </a:p>
        </p:txBody>
      </p:sp>
      <p:sp>
        <p:nvSpPr>
          <p:cNvPr id="15" name="Text 13"/>
          <p:cNvSpPr/>
          <p:nvPr/>
        </p:nvSpPr>
        <p:spPr>
          <a:xfrm>
            <a:off x="886968" y="5891676"/>
            <a:ext cx="53949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92844"/>
            <a:ext cx="10456426"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marL="0" indent="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a:t>
            </a:r>
            <a:r>
              <a:rPr lang="en-US" sz="1500" i="1" dirty="0">
                <a:solidFill>
                  <a:srgbClr val="14283C"/>
                </a:solidFill>
                <a:latin typeface="Arial" pitchFamily="34" charset="0"/>
                <a:ea typeface="Arial" pitchFamily="34" charset="-122"/>
                <a:cs typeface="Arial" pitchFamily="34" charset="-120"/>
              </a:rPr>
              <a:t>et al.</a:t>
            </a:r>
            <a:r>
              <a:rPr lang="en-US" sz="1500" dirty="0">
                <a:solidFill>
                  <a:srgbClr val="14283C"/>
                </a:solidFill>
                <a:latin typeface="Arial" pitchFamily="34" charset="0"/>
                <a:ea typeface="Arial" pitchFamily="34" charset="-122"/>
                <a:cs typeface="Arial" pitchFamily="34" charset="-120"/>
              </a:rPr>
              <a:t>, 2021). </a:t>
            </a:r>
            <a:r>
              <a:rPr lang="en-US" sz="1500" b="1" dirty="0">
                <a:solidFill>
                  <a:srgbClr val="14283C"/>
                </a:solidFill>
                <a:latin typeface="Arial" pitchFamily="34" charset="0"/>
                <a:ea typeface="Arial" pitchFamily="34" charset="-122"/>
                <a:cs typeface="Arial" pitchFamily="34" charset="-120"/>
              </a:rPr>
              <a:t>No reviewed study combines</a:t>
            </a: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txBody>
          <a:bodyPr/>
          <a:lstStyle/>
          <a:p>
            <a:endParaRPr lang="de-CH"/>
          </a:p>
        </p:txBody>
      </p:sp>
      <p:sp>
        <p:nvSpPr>
          <p:cNvPr id="6" name="Text 4"/>
          <p:cNvSpPr/>
          <p:nvPr/>
        </p:nvSpPr>
        <p:spPr>
          <a:xfrm>
            <a:off x="914400" y="3044952"/>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00" dirty="0"/>
          </a:p>
        </p:txBody>
      </p:sp>
      <p:sp>
        <p:nvSpPr>
          <p:cNvPr id="8" name="Shape 6"/>
          <p:cNvSpPr/>
          <p:nvPr/>
        </p:nvSpPr>
        <p:spPr>
          <a:xfrm>
            <a:off x="685800" y="3904488"/>
            <a:ext cx="10789920" cy="868680"/>
          </a:xfrm>
          <a:prstGeom prst="rect">
            <a:avLst/>
          </a:prstGeom>
          <a:solidFill>
            <a:srgbClr val="FBF4E8"/>
          </a:solidFill>
          <a:ln/>
        </p:spPr>
        <p:txBody>
          <a:bodyPr/>
          <a:lstStyle/>
          <a:p>
            <a:endParaRPr lang="de-CH"/>
          </a:p>
        </p:txBody>
      </p:sp>
      <p:sp>
        <p:nvSpPr>
          <p:cNvPr id="9" name="Text 7"/>
          <p:cNvSpPr/>
          <p:nvPr/>
        </p:nvSpPr>
        <p:spPr>
          <a:xfrm>
            <a:off x="914400" y="4069080"/>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00" dirty="0"/>
          </a:p>
        </p:txBody>
      </p:sp>
      <p:sp>
        <p:nvSpPr>
          <p:cNvPr id="11" name="Shape 9"/>
          <p:cNvSpPr/>
          <p:nvPr/>
        </p:nvSpPr>
        <p:spPr>
          <a:xfrm>
            <a:off x="685800" y="4928616"/>
            <a:ext cx="10789920" cy="868680"/>
          </a:xfrm>
          <a:prstGeom prst="rect">
            <a:avLst/>
          </a:prstGeom>
          <a:solidFill>
            <a:srgbClr val="F7F9FA"/>
          </a:solidFill>
          <a:ln/>
        </p:spPr>
        <p:txBody>
          <a:bodyPr/>
          <a:lstStyle/>
          <a:p>
            <a:endParaRPr lang="de-CH"/>
          </a:p>
        </p:txBody>
      </p:sp>
      <p:sp>
        <p:nvSpPr>
          <p:cNvPr id="12" name="Text 10"/>
          <p:cNvSpPr/>
          <p:nvPr/>
        </p:nvSpPr>
        <p:spPr>
          <a:xfrm>
            <a:off x="914400" y="5093208"/>
            <a:ext cx="822960" cy="548640"/>
          </a:xfrm>
          <a:prstGeom prst="rect">
            <a:avLst/>
          </a:prstGeom>
          <a:noFill/>
          <a:ln/>
        </p:spPr>
        <p:txBody>
          <a:bodyPr wrap="square" lIns="0" tIns="0" rIns="0" bIns="0" rtlCol="0" anchor="ctr"/>
          <a:lstStyle/>
          <a:p>
            <a:pPr marL="0" indent="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marL="0" indent="0">
              <a:buNone/>
            </a:pPr>
            <a:r>
              <a:rPr lang="en-US" sz="1500" dirty="0">
                <a:solidFill>
                  <a:srgbClr val="2A3F55"/>
                </a:solidFill>
                <a:latin typeface="Arial" pitchFamily="34" charset="0"/>
                <a:ea typeface="Arial" pitchFamily="34" charset="-122"/>
                <a:cs typeface="Arial" pitchFamily="34" charset="-120"/>
              </a:rPr>
              <a:t>DSR (Hevner </a:t>
            </a:r>
            <a:r>
              <a:rPr lang="en-US" sz="1500" i="1" dirty="0">
                <a:solidFill>
                  <a:srgbClr val="2A3F55"/>
                </a:solidFill>
                <a:latin typeface="Arial" pitchFamily="34" charset="0"/>
                <a:ea typeface="Arial" pitchFamily="34" charset="-122"/>
                <a:cs typeface="Arial" pitchFamily="34" charset="-120"/>
              </a:rPr>
              <a:t>et al.</a:t>
            </a:r>
            <a:r>
              <a:rPr lang="en-US" sz="1500" dirty="0">
                <a:solidFill>
                  <a:srgbClr val="2A3F55"/>
                </a:solidFill>
                <a:latin typeface="Arial" pitchFamily="34" charset="0"/>
                <a:ea typeface="Arial" pitchFamily="34" charset="-122"/>
                <a:cs typeface="Arial" pitchFamily="34" charset="-120"/>
              </a:rPr>
              <a:t>, 2004) · single-organisation embedded case study · unit of analysis: the IT service as a configuration item</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2743200"/>
        </p:xfrm>
        <a:graphic>
          <a:graphicData uri="http://schemas.openxmlformats.org/drawingml/2006/table">
            <a:tbl>
              <a:tblPr/>
              <a:tblGrid>
                <a:gridCol w="42062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marL="0" indent="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txBody>
          <a:bodyPr/>
          <a:lstStyle/>
          <a:p>
            <a:endParaRPr lang="de-CH"/>
          </a:p>
        </p:txBody>
      </p:sp>
      <p:sp>
        <p:nvSpPr>
          <p:cNvPr id="6" name="Text 4"/>
          <p:cNvSpPr/>
          <p:nvPr/>
        </p:nvSpPr>
        <p:spPr>
          <a:xfrm>
            <a:off x="685800" y="22677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Extract indicators from live ITSM / CMDB records</a:t>
            </a:r>
            <a:endParaRPr lang="en-US" sz="1400" dirty="0"/>
          </a:p>
        </p:txBody>
      </p:sp>
      <p:sp>
        <p:nvSpPr>
          <p:cNvPr id="8" name="Shape 6"/>
          <p:cNvSpPr/>
          <p:nvPr/>
        </p:nvSpPr>
        <p:spPr>
          <a:xfrm>
            <a:off x="685800" y="2980944"/>
            <a:ext cx="384048" cy="384048"/>
          </a:xfrm>
          <a:prstGeom prst="ellipse">
            <a:avLst/>
          </a:prstGeom>
          <a:solidFill>
            <a:srgbClr val="14283C"/>
          </a:solidFill>
          <a:ln/>
        </p:spPr>
        <p:txBody>
          <a:bodyPr/>
          <a:lstStyle/>
          <a:p>
            <a:endParaRPr lang="de-CH"/>
          </a:p>
        </p:txBody>
      </p:sp>
      <p:sp>
        <p:nvSpPr>
          <p:cNvPr id="9" name="Text 7"/>
          <p:cNvSpPr/>
          <p:nvPr/>
        </p:nvSpPr>
        <p:spPr>
          <a:xfrm>
            <a:off x="685800" y="29809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Vector normalisation (preserves extreme observations)</a:t>
            </a:r>
            <a:endParaRPr lang="en-US" sz="1400" dirty="0"/>
          </a:p>
        </p:txBody>
      </p:sp>
      <p:sp>
        <p:nvSpPr>
          <p:cNvPr id="11" name="Shape 9"/>
          <p:cNvSpPr/>
          <p:nvPr/>
        </p:nvSpPr>
        <p:spPr>
          <a:xfrm>
            <a:off x="685800" y="3694176"/>
            <a:ext cx="384048" cy="384048"/>
          </a:xfrm>
          <a:prstGeom prst="ellipse">
            <a:avLst/>
          </a:prstGeom>
          <a:solidFill>
            <a:srgbClr val="14283C"/>
          </a:solidFill>
          <a:ln/>
        </p:spPr>
        <p:txBody>
          <a:bodyPr/>
          <a:lstStyle/>
          <a:p>
            <a:endParaRPr lang="de-CH"/>
          </a:p>
        </p:txBody>
      </p:sp>
      <p:sp>
        <p:nvSpPr>
          <p:cNvPr id="12" name="Text 10"/>
          <p:cNvSpPr/>
          <p:nvPr/>
        </p:nvSpPr>
        <p:spPr>
          <a:xfrm>
            <a:off x="685800" y="3694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400" dirty="0"/>
          </a:p>
        </p:txBody>
      </p:sp>
      <p:sp>
        <p:nvSpPr>
          <p:cNvPr id="14" name="Shape 12"/>
          <p:cNvSpPr/>
          <p:nvPr/>
        </p:nvSpPr>
        <p:spPr>
          <a:xfrm>
            <a:off x="685800" y="4407408"/>
            <a:ext cx="384048" cy="384048"/>
          </a:xfrm>
          <a:prstGeom prst="ellipse">
            <a:avLst/>
          </a:prstGeom>
          <a:solidFill>
            <a:srgbClr val="D98E1F"/>
          </a:solidFill>
          <a:ln/>
        </p:spPr>
        <p:txBody>
          <a:bodyPr/>
          <a:lstStyle/>
          <a:p>
            <a:endParaRPr lang="de-CH"/>
          </a:p>
        </p:txBody>
      </p:sp>
      <p:sp>
        <p:nvSpPr>
          <p:cNvPr id="15" name="Text 13"/>
          <p:cNvSpPr/>
          <p:nvPr/>
        </p:nvSpPr>
        <p:spPr>
          <a:xfrm>
            <a:off x="685800" y="44074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mc:AlternateContent xmlns:mc="http://schemas.openxmlformats.org/markup-compatibility/2006">
        <mc:Choice xmlns:a14="http://schemas.microsoft.com/office/drawing/2010/main" Requires="a14">
          <p:sp>
            <p:nvSpPr>
              <p:cNvPr id="16" name="Text 14"/>
              <p:cNvSpPr/>
              <p:nvPr/>
            </p:nvSpPr>
            <p:spPr>
              <a:xfrm>
                <a:off x="1234440" y="4379976"/>
                <a:ext cx="4754880" cy="548640"/>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TOPSIS closeness coefficient </a:t>
                </a:r>
                <a14:m>
                  <m:oMath xmlns:m="http://schemas.openxmlformats.org/officeDocument/2006/math">
                    <m:sSub>
                      <m:sSubPr>
                        <m:ctrlPr>
                          <a:rPr lang="en-US" sz="1400" i="1" smtClean="0">
                            <a:solidFill>
                              <a:srgbClr val="14283C"/>
                            </a:solidFill>
                            <a:latin typeface="Cambria Math" panose="02040503050406030204" pitchFamily="18" charset="0"/>
                            <a:cs typeface="Arial" pitchFamily="34" charset="-120"/>
                          </a:rPr>
                        </m:ctrlPr>
                      </m:sSubPr>
                      <m:e>
                        <m:r>
                          <a:rPr lang="de-CH" sz="1400" b="0" i="1" smtClean="0">
                            <a:solidFill>
                              <a:srgbClr val="14283C"/>
                            </a:solidFill>
                            <a:latin typeface="Cambria Math" panose="02040503050406030204" pitchFamily="18" charset="0"/>
                            <a:cs typeface="Arial" pitchFamily="34" charset="-120"/>
                          </a:rPr>
                          <m:t>𝐶</m:t>
                        </m:r>
                      </m:e>
                      <m:sub>
                        <m:r>
                          <a:rPr lang="de-CH" sz="1400" b="0" i="1" smtClean="0">
                            <a:solidFill>
                              <a:srgbClr val="14283C"/>
                            </a:solidFill>
                            <a:latin typeface="Cambria Math" panose="02040503050406030204" pitchFamily="18" charset="0"/>
                            <a:cs typeface="Arial" pitchFamily="34" charset="-120"/>
                          </a:rPr>
                          <m:t>𝑖</m:t>
                        </m:r>
                      </m:sub>
                    </m:sSub>
                    <m:r>
                      <a:rPr lang="en-US" sz="1400" i="1" smtClean="0">
                        <a:solidFill>
                          <a:srgbClr val="14283C"/>
                        </a:solidFill>
                        <a:latin typeface="Cambria Math" panose="02040503050406030204" pitchFamily="18" charset="0"/>
                        <a:ea typeface="Cambria Math" panose="02040503050406030204" pitchFamily="18" charset="0"/>
                        <a:cs typeface="Arial" pitchFamily="34" charset="-120"/>
                      </a:rPr>
                      <m:t>∈</m:t>
                    </m:r>
                    <m:r>
                      <a:rPr lang="de-CH" sz="1400" b="0" i="1" smtClean="0">
                        <a:solidFill>
                          <a:srgbClr val="14283C"/>
                        </a:solidFill>
                        <a:latin typeface="Cambria Math" panose="02040503050406030204" pitchFamily="18" charset="0"/>
                        <a:ea typeface="Cambria Math" panose="02040503050406030204" pitchFamily="18" charset="0"/>
                        <a:cs typeface="Arial" pitchFamily="34" charset="-120"/>
                      </a:rPr>
                      <m:t>[0, 1]</m:t>
                    </m:r>
                  </m:oMath>
                </a14:m>
                <a:endParaRPr lang="en-US" sz="1400" dirty="0"/>
              </a:p>
            </p:txBody>
          </p:sp>
        </mc:Choice>
        <mc:Fallback>
          <p:sp>
            <p:nvSpPr>
              <p:cNvPr id="16" name="Text 14"/>
              <p:cNvSpPr>
                <a:spLocks noRot="1" noChangeAspect="1" noMove="1" noResize="1" noEditPoints="1" noAdjustHandles="1" noChangeArrowheads="1" noChangeShapeType="1" noTextEdit="1"/>
              </p:cNvSpPr>
              <p:nvPr/>
            </p:nvSpPr>
            <p:spPr>
              <a:xfrm>
                <a:off x="1234440" y="4379976"/>
                <a:ext cx="4754880" cy="548640"/>
              </a:xfrm>
              <a:prstGeom prst="rect">
                <a:avLst/>
              </a:prstGeom>
              <a:blipFill>
                <a:blip r:embed="rId3"/>
                <a:stretch>
                  <a:fillRect l="-2308"/>
                </a:stretch>
              </a:blipFill>
              <a:ln/>
            </p:spPr>
            <p:txBody>
              <a:bodyPr/>
              <a:lstStyle/>
              <a:p>
                <a:r>
                  <a:rPr lang="de-CH">
                    <a:noFill/>
                  </a:rPr>
                  <a:t> </a:t>
                </a:r>
              </a:p>
            </p:txBody>
          </p:sp>
        </mc:Fallback>
      </mc:AlternateContent>
      <p:sp>
        <p:nvSpPr>
          <p:cNvPr id="17" name="Shape 15"/>
          <p:cNvSpPr/>
          <p:nvPr/>
        </p:nvSpPr>
        <p:spPr>
          <a:xfrm>
            <a:off x="685800" y="5120640"/>
            <a:ext cx="384048" cy="384048"/>
          </a:xfrm>
          <a:prstGeom prst="ellipse">
            <a:avLst/>
          </a:prstGeom>
          <a:solidFill>
            <a:srgbClr val="14283C"/>
          </a:solidFill>
          <a:ln/>
        </p:spPr>
        <p:txBody>
          <a:bodyPr/>
          <a:lstStyle/>
          <a:p>
            <a:endParaRPr lang="de-CH"/>
          </a:p>
        </p:txBody>
      </p:sp>
      <p:sp>
        <p:nvSpPr>
          <p:cNvPr id="18" name="Text 16"/>
          <p:cNvSpPr/>
          <p:nvPr/>
        </p:nvSpPr>
        <p:spPr>
          <a:xfrm>
            <a:off x="685800" y="51206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mc:AlternateContent xmlns:mc="http://schemas.openxmlformats.org/markup-compatibility/2006">
        <mc:Choice xmlns:a14="http://schemas.microsoft.com/office/drawing/2010/main" Requires="a14">
          <p:sp>
            <p:nvSpPr>
              <p:cNvPr id="19" name="Text 17"/>
              <p:cNvSpPr/>
              <p:nvPr/>
            </p:nvSpPr>
            <p:spPr>
              <a:xfrm>
                <a:off x="1234440" y="5093208"/>
                <a:ext cx="4754880" cy="548640"/>
              </a:xfrm>
              <a:prstGeom prst="rect">
                <a:avLst/>
              </a:prstGeom>
              <a:noFill/>
              <a:ln/>
            </p:spPr>
            <p:txBody>
              <a:bodyPr wrap="square" lIns="0" tIns="0" rIns="0" bIns="0" rtlCol="0" anchor="ctr"/>
              <a:lstStyle/>
              <a:p>
                <a:pPr marL="0" indent="0">
                  <a:buNone/>
                </a:pPr>
                <a:r>
                  <a:rPr lang="en-US" sz="1400" dirty="0">
                    <a:solidFill>
                      <a:srgbClr val="14283C"/>
                    </a:solidFill>
                    <a:latin typeface="Arial" pitchFamily="34" charset="0"/>
                    <a:ea typeface="Arial" pitchFamily="34" charset="-122"/>
                    <a:cs typeface="Arial" pitchFamily="34" charset="-120"/>
                  </a:rPr>
                  <a:t>Rank: lowest </a:t>
                </a:r>
                <a14:m>
                  <m:oMath xmlns:m="http://schemas.openxmlformats.org/officeDocument/2006/math">
                    <m:sSub>
                      <m:sSubPr>
                        <m:ctrlPr>
                          <a:rPr lang="en-US" sz="1400" i="1" smtClean="0">
                            <a:solidFill>
                              <a:srgbClr val="14283C"/>
                            </a:solidFill>
                            <a:latin typeface="Cambria Math" panose="02040503050406030204" pitchFamily="18" charset="0"/>
                            <a:cs typeface="Arial" pitchFamily="34" charset="-120"/>
                          </a:rPr>
                        </m:ctrlPr>
                      </m:sSubPr>
                      <m:e>
                        <m:r>
                          <a:rPr lang="de-CH" sz="1400" b="0" i="1" smtClean="0">
                            <a:solidFill>
                              <a:srgbClr val="14283C"/>
                            </a:solidFill>
                            <a:latin typeface="Cambria Math" panose="02040503050406030204" pitchFamily="18" charset="0"/>
                            <a:cs typeface="Arial" pitchFamily="34" charset="-120"/>
                          </a:rPr>
                          <m:t>𝐶</m:t>
                        </m:r>
                      </m:e>
                      <m:sub>
                        <m:r>
                          <a:rPr lang="de-CH" sz="1400" b="0" i="1" smtClean="0">
                            <a:solidFill>
                              <a:srgbClr val="14283C"/>
                            </a:solidFill>
                            <a:latin typeface="Cambria Math" panose="02040503050406030204" pitchFamily="18" charset="0"/>
                            <a:cs typeface="Arial" pitchFamily="34" charset="-120"/>
                          </a:rPr>
                          <m:t>𝑖</m:t>
                        </m:r>
                      </m:sub>
                    </m:sSub>
                  </m:oMath>
                </a14:m>
                <a:r>
                  <a:rPr lang="en-US" sz="1400" dirty="0">
                    <a:solidFill>
                      <a:srgbClr val="14283C"/>
                    </a:solidFill>
                    <a:latin typeface="Arial" pitchFamily="34" charset="0"/>
                    <a:ea typeface="Arial" pitchFamily="34" charset="-122"/>
                    <a:cs typeface="Arial" pitchFamily="34" charset="-120"/>
                  </a:rPr>
                  <a:t> = highest debt priority</a:t>
                </a:r>
                <a:endParaRPr lang="en-US" sz="1400" dirty="0"/>
              </a:p>
            </p:txBody>
          </p:sp>
        </mc:Choice>
        <mc:Fallback>
          <p:sp>
            <p:nvSpPr>
              <p:cNvPr id="19" name="Text 17"/>
              <p:cNvSpPr>
                <a:spLocks noRot="1" noChangeAspect="1" noMove="1" noResize="1" noEditPoints="1" noAdjustHandles="1" noChangeArrowheads="1" noChangeShapeType="1" noTextEdit="1"/>
              </p:cNvSpPr>
              <p:nvPr/>
            </p:nvSpPr>
            <p:spPr>
              <a:xfrm>
                <a:off x="1234440" y="5093208"/>
                <a:ext cx="4754880" cy="548640"/>
              </a:xfrm>
              <a:prstGeom prst="rect">
                <a:avLst/>
              </a:prstGeom>
              <a:blipFill>
                <a:blip r:embed="rId4"/>
                <a:stretch>
                  <a:fillRect l="-2308"/>
                </a:stretch>
              </a:blipFill>
              <a:ln/>
            </p:spPr>
            <p:txBody>
              <a:bodyPr/>
              <a:lstStyle/>
              <a:p>
                <a:r>
                  <a:rPr lang="de-CH">
                    <a:noFill/>
                  </a:rPr>
                  <a:t> </a:t>
                </a:r>
              </a:p>
            </p:txBody>
          </p:sp>
        </mc:Fallback>
      </mc:AlternateContent>
      <p:sp>
        <p:nvSpPr>
          <p:cNvPr id="20" name="Text 18"/>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Precedent: </a:t>
            </a:r>
            <a:r>
              <a:rPr lang="en-US" sz="1400" dirty="0" err="1">
                <a:solidFill>
                  <a:srgbClr val="14283C"/>
                </a:solidFill>
                <a:latin typeface="Arial" pitchFamily="34" charset="0"/>
                <a:ea typeface="Arial" pitchFamily="34" charset="-122"/>
                <a:cs typeface="Arial" pitchFamily="34" charset="-120"/>
              </a:rPr>
              <a:t>Albarak</a:t>
            </a:r>
            <a:r>
              <a:rPr lang="en-US" sz="1400" dirty="0">
                <a:solidFill>
                  <a:srgbClr val="14283C"/>
                </a:solidFill>
                <a:latin typeface="Arial" pitchFamily="34" charset="0"/>
                <a:ea typeface="Arial" pitchFamily="34" charset="-122"/>
                <a:cs typeface="Arial" pitchFamily="34" charset="-120"/>
              </a:rPr>
              <a:t> </a:t>
            </a:r>
            <a:r>
              <a:rPr lang="en-US" sz="1400" i="1" dirty="0">
                <a:solidFill>
                  <a:srgbClr val="14283C"/>
                </a:solidFill>
                <a:latin typeface="Arial" pitchFamily="34" charset="0"/>
                <a:ea typeface="Arial" pitchFamily="34" charset="-122"/>
                <a:cs typeface="Arial" pitchFamily="34" charset="-120"/>
              </a:rPr>
              <a:t>et al.</a:t>
            </a:r>
            <a:r>
              <a:rPr lang="en-US" sz="1400" dirty="0">
                <a:solidFill>
                  <a:srgbClr val="14283C"/>
                </a:solidFill>
                <a:latin typeface="Arial" pitchFamily="34" charset="0"/>
                <a:ea typeface="Arial" pitchFamily="34" charset="-122"/>
                <a:cs typeface="Arial" pitchFamily="34" charset="-120"/>
              </a:rPr>
              <a:t> (2022) for TD, but on controlled data</a:t>
            </a:r>
            <a:endParaRPr lang="en-US" sz="1400" dirty="0"/>
          </a:p>
          <a:p>
            <a:pPr marL="177800" indent="-177800">
              <a:lnSpc>
                <a:spcPct val="112000"/>
              </a:lnSpc>
              <a:spcAft>
                <a:spcPts val="1000"/>
              </a:spcAft>
              <a:buSzPct val="100000"/>
              <a:buChar char="•"/>
            </a:pPr>
            <a:r>
              <a:rPr lang="en-US" sz="140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400" dirty="0"/>
          </a:p>
        </p:txBody>
      </p:sp>
      <p:sp>
        <p:nvSpPr>
          <p:cNvPr id="22" name="Shape 20"/>
          <p:cNvSpPr/>
          <p:nvPr/>
        </p:nvSpPr>
        <p:spPr>
          <a:xfrm>
            <a:off x="685800" y="5818524"/>
            <a:ext cx="10789920" cy="713232"/>
          </a:xfrm>
          <a:prstGeom prst="rect">
            <a:avLst/>
          </a:prstGeom>
          <a:solidFill>
            <a:srgbClr val="F2F7F6"/>
          </a:solidFill>
          <a:ln/>
        </p:spPr>
        <p:txBody>
          <a:bodyPr/>
          <a:lstStyle/>
          <a:p>
            <a:endParaRPr lang="de-CH"/>
          </a:p>
        </p:txBody>
      </p:sp>
      <p:sp>
        <p:nvSpPr>
          <p:cNvPr id="23" name="Text 21"/>
          <p:cNvSpPr/>
          <p:nvPr/>
        </p:nvSpPr>
        <p:spPr>
          <a:xfrm>
            <a:off x="886968" y="5891676"/>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92844"/>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400" dirty="0"/>
          </a:p>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400" dirty="0"/>
          </a:p>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40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400" dirty="0"/>
          </a:p>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400" dirty="0"/>
          </a:p>
          <a:p>
            <a:pPr marL="177800" indent="-177800">
              <a:lnSpc>
                <a:spcPct val="112000"/>
              </a:lnSpc>
              <a:spcAft>
                <a:spcPts val="1100"/>
              </a:spcAft>
              <a:buSzPct val="100000"/>
              <a:buChar char="•"/>
            </a:pPr>
            <a:r>
              <a:rPr lang="en-US" sz="140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400" dirty="0"/>
          </a:p>
        </p:txBody>
      </p:sp>
      <p:sp>
        <p:nvSpPr>
          <p:cNvPr id="8" name="Shape 6"/>
          <p:cNvSpPr/>
          <p:nvPr/>
        </p:nvSpPr>
        <p:spPr>
          <a:xfrm>
            <a:off x="685800" y="5818524"/>
            <a:ext cx="10789920" cy="713232"/>
          </a:xfrm>
          <a:prstGeom prst="rect">
            <a:avLst/>
          </a:prstGeom>
          <a:solidFill>
            <a:srgbClr val="F2F7F6"/>
          </a:solidFill>
          <a:ln/>
        </p:spPr>
        <p:txBody>
          <a:bodyPr/>
          <a:lstStyle/>
          <a:p>
            <a:endParaRPr lang="de-CH"/>
          </a:p>
        </p:txBody>
      </p:sp>
      <p:sp>
        <p:nvSpPr>
          <p:cNvPr id="9" name="Text 7"/>
          <p:cNvSpPr/>
          <p:nvPr/>
        </p:nvSpPr>
        <p:spPr>
          <a:xfrm>
            <a:off x="886968" y="5891676"/>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92844"/>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1847088"/>
            <a:ext cx="4663440" cy="182880"/>
          </a:xfrm>
          <a:prstGeom prst="rect">
            <a:avLst/>
          </a:prstGeom>
          <a:solidFill>
            <a:srgbClr val="E9EDF1"/>
          </a:solidFill>
          <a:ln/>
        </p:spPr>
        <p:txBody>
          <a:bodyPr/>
          <a:lstStyle/>
          <a:p>
            <a:endParaRPr lang="de-CH"/>
          </a:p>
        </p:txBody>
      </p:sp>
      <p:sp>
        <p:nvSpPr>
          <p:cNvPr id="6" name="Shape 4"/>
          <p:cNvSpPr/>
          <p:nvPr/>
        </p:nvSpPr>
        <p:spPr>
          <a:xfrm>
            <a:off x="1737360" y="1847088"/>
            <a:ext cx="2471623" cy="182880"/>
          </a:xfrm>
          <a:prstGeom prst="rect">
            <a:avLst/>
          </a:prstGeom>
          <a:solidFill>
            <a:srgbClr val="D98E1F"/>
          </a:solidFill>
          <a:ln/>
        </p:spPr>
        <p:txBody>
          <a:bodyPr/>
          <a:lstStyle/>
          <a:p>
            <a:endParaRPr lang="de-CH"/>
          </a:p>
        </p:txBody>
      </p:sp>
      <p:sp>
        <p:nvSpPr>
          <p:cNvPr id="7" name="Text 5"/>
          <p:cNvSpPr/>
          <p:nvPr/>
        </p:nvSpPr>
        <p:spPr>
          <a:xfrm>
            <a:off x="6446520" y="18288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0.465</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9" name="Shape 7"/>
          <p:cNvSpPr/>
          <p:nvPr/>
        </p:nvSpPr>
        <p:spPr>
          <a:xfrm>
            <a:off x="1737360" y="2258568"/>
            <a:ext cx="4663440" cy="182880"/>
          </a:xfrm>
          <a:prstGeom prst="rect">
            <a:avLst/>
          </a:prstGeom>
          <a:solidFill>
            <a:srgbClr val="E9EDF1"/>
          </a:solidFill>
          <a:ln/>
        </p:spPr>
        <p:txBody>
          <a:bodyPr/>
          <a:lstStyle/>
          <a:p>
            <a:endParaRPr lang="de-CH"/>
          </a:p>
        </p:txBody>
      </p:sp>
      <p:sp>
        <p:nvSpPr>
          <p:cNvPr id="10" name="Shape 8"/>
          <p:cNvSpPr/>
          <p:nvPr/>
        </p:nvSpPr>
        <p:spPr>
          <a:xfrm>
            <a:off x="1737360" y="2258568"/>
            <a:ext cx="2424989" cy="182880"/>
          </a:xfrm>
          <a:prstGeom prst="rect">
            <a:avLst/>
          </a:prstGeom>
          <a:solidFill>
            <a:srgbClr val="D98E1F"/>
          </a:solidFill>
          <a:ln/>
        </p:spPr>
        <p:txBody>
          <a:bodyPr/>
          <a:lstStyle/>
          <a:p>
            <a:endParaRPr lang="de-CH"/>
          </a:p>
        </p:txBody>
      </p:sp>
      <p:sp>
        <p:nvSpPr>
          <p:cNvPr id="11" name="Text 9"/>
          <p:cNvSpPr/>
          <p:nvPr/>
        </p:nvSpPr>
        <p:spPr>
          <a:xfrm>
            <a:off x="6446520" y="224028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0.479</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13" name="Shape 11"/>
          <p:cNvSpPr/>
          <p:nvPr/>
        </p:nvSpPr>
        <p:spPr>
          <a:xfrm>
            <a:off x="1737360" y="2670048"/>
            <a:ext cx="4663440" cy="182880"/>
          </a:xfrm>
          <a:prstGeom prst="rect">
            <a:avLst/>
          </a:prstGeom>
          <a:solidFill>
            <a:srgbClr val="E9EDF1"/>
          </a:solidFill>
          <a:ln/>
        </p:spPr>
        <p:txBody>
          <a:bodyPr/>
          <a:lstStyle/>
          <a:p>
            <a:endParaRPr lang="de-CH"/>
          </a:p>
        </p:txBody>
      </p:sp>
      <p:sp>
        <p:nvSpPr>
          <p:cNvPr id="14" name="Shape 12"/>
          <p:cNvSpPr/>
          <p:nvPr/>
        </p:nvSpPr>
        <p:spPr>
          <a:xfrm>
            <a:off x="1737360" y="2670048"/>
            <a:ext cx="2098548" cy="182880"/>
          </a:xfrm>
          <a:prstGeom prst="rect">
            <a:avLst/>
          </a:prstGeom>
          <a:solidFill>
            <a:srgbClr val="D98E1F"/>
          </a:solidFill>
          <a:ln/>
        </p:spPr>
        <p:txBody>
          <a:bodyPr/>
          <a:lstStyle/>
          <a:p>
            <a:endParaRPr lang="de-CH"/>
          </a:p>
        </p:txBody>
      </p:sp>
      <p:sp>
        <p:nvSpPr>
          <p:cNvPr id="15" name="Text 13"/>
          <p:cNvSpPr/>
          <p:nvPr/>
        </p:nvSpPr>
        <p:spPr>
          <a:xfrm>
            <a:off x="6446520" y="265176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0.549</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7" name="Shape 15"/>
          <p:cNvSpPr/>
          <p:nvPr/>
        </p:nvSpPr>
        <p:spPr>
          <a:xfrm>
            <a:off x="1737360" y="3081528"/>
            <a:ext cx="4663440" cy="182880"/>
          </a:xfrm>
          <a:prstGeom prst="rect">
            <a:avLst/>
          </a:prstGeom>
          <a:solidFill>
            <a:srgbClr val="E9EDF1"/>
          </a:solidFill>
          <a:ln/>
        </p:spPr>
        <p:txBody>
          <a:bodyPr/>
          <a:lstStyle/>
          <a:p>
            <a:endParaRPr lang="de-CH"/>
          </a:p>
        </p:txBody>
      </p:sp>
      <p:sp>
        <p:nvSpPr>
          <p:cNvPr id="18" name="Shape 16"/>
          <p:cNvSpPr/>
          <p:nvPr/>
        </p:nvSpPr>
        <p:spPr>
          <a:xfrm>
            <a:off x="1737360" y="3081528"/>
            <a:ext cx="1025957" cy="182880"/>
          </a:xfrm>
          <a:prstGeom prst="rect">
            <a:avLst/>
          </a:prstGeom>
          <a:solidFill>
            <a:srgbClr val="5C7186"/>
          </a:solidFill>
          <a:ln/>
        </p:spPr>
        <p:txBody>
          <a:bodyPr/>
          <a:lstStyle/>
          <a:p>
            <a:endParaRPr lang="de-CH"/>
          </a:p>
        </p:txBody>
      </p:sp>
      <p:sp>
        <p:nvSpPr>
          <p:cNvPr id="19" name="Text 17"/>
          <p:cNvSpPr/>
          <p:nvPr/>
        </p:nvSpPr>
        <p:spPr>
          <a:xfrm>
            <a:off x="6446520" y="306324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txBody>
          <a:bodyPr/>
          <a:lstStyle/>
          <a:p>
            <a:endParaRPr lang="de-CH"/>
          </a:p>
        </p:txBody>
      </p:sp>
      <p:sp>
        <p:nvSpPr>
          <p:cNvPr id="22" name="Shape 20"/>
          <p:cNvSpPr/>
          <p:nvPr/>
        </p:nvSpPr>
        <p:spPr>
          <a:xfrm>
            <a:off x="1737360" y="3493008"/>
            <a:ext cx="1025957" cy="182880"/>
          </a:xfrm>
          <a:prstGeom prst="rect">
            <a:avLst/>
          </a:prstGeom>
          <a:solidFill>
            <a:srgbClr val="5C7186"/>
          </a:solidFill>
          <a:ln/>
        </p:spPr>
        <p:txBody>
          <a:bodyPr/>
          <a:lstStyle/>
          <a:p>
            <a:endParaRPr lang="de-CH"/>
          </a:p>
        </p:txBody>
      </p:sp>
      <p:sp>
        <p:nvSpPr>
          <p:cNvPr id="23" name="Text 21"/>
          <p:cNvSpPr/>
          <p:nvPr/>
        </p:nvSpPr>
        <p:spPr>
          <a:xfrm>
            <a:off x="6446520" y="347472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0.780</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marL="0" indent="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txBody>
          <a:bodyPr/>
          <a:lstStyle/>
          <a:p>
            <a:endParaRPr lang="de-CH"/>
          </a:p>
        </p:txBody>
      </p:sp>
      <p:sp>
        <p:nvSpPr>
          <p:cNvPr id="26" name="Shape 24"/>
          <p:cNvSpPr/>
          <p:nvPr/>
        </p:nvSpPr>
        <p:spPr>
          <a:xfrm>
            <a:off x="1737360" y="3904488"/>
            <a:ext cx="93269" cy="182880"/>
          </a:xfrm>
          <a:prstGeom prst="rect">
            <a:avLst/>
          </a:prstGeom>
          <a:solidFill>
            <a:srgbClr val="5C7186"/>
          </a:solidFill>
          <a:ln/>
        </p:spPr>
        <p:txBody>
          <a:bodyPr/>
          <a:lstStyle/>
          <a:p>
            <a:endParaRPr lang="de-CH"/>
          </a:p>
        </p:txBody>
      </p:sp>
      <p:sp>
        <p:nvSpPr>
          <p:cNvPr id="27" name="Text 25"/>
          <p:cNvSpPr/>
          <p:nvPr/>
        </p:nvSpPr>
        <p:spPr>
          <a:xfrm>
            <a:off x="6446520" y="3886200"/>
            <a:ext cx="685800" cy="237744"/>
          </a:xfrm>
          <a:prstGeom prst="rect">
            <a:avLst/>
          </a:prstGeom>
          <a:noFill/>
          <a:ln/>
        </p:spPr>
        <p:txBody>
          <a:bodyPr wrap="square" lIns="0" tIns="0" rIns="0" bIns="0" rtlCol="0" anchor="ctr"/>
          <a:lstStyle/>
          <a:p>
            <a:pPr marL="0" indent="0" algn="r">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080000"/>
          </a:xfrm>
          <a:prstGeom prst="rect">
            <a:avLst/>
          </a:prstGeom>
          <a:solidFill>
            <a:srgbClr val="FBF4E8"/>
          </a:solidFill>
          <a:ln/>
        </p:spPr>
        <p:txBody>
          <a:bodyPr/>
          <a:lstStyle/>
          <a:p>
            <a:endParaRPr lang="de-CH"/>
          </a:p>
        </p:txBody>
      </p:sp>
      <p:sp>
        <p:nvSpPr>
          <p:cNvPr id="29" name="Text 27"/>
          <p:cNvSpPr/>
          <p:nvPr/>
        </p:nvSpPr>
        <p:spPr>
          <a:xfrm>
            <a:off x="7909560" y="1874520"/>
            <a:ext cx="3429000" cy="274320"/>
          </a:xfrm>
          <a:prstGeom prst="rect">
            <a:avLst/>
          </a:prstGeom>
          <a:noFill/>
          <a:ln/>
        </p:spPr>
        <p:txBody>
          <a:bodyPr wrap="square" lIns="0" tIns="0" rIns="0" bIns="0" rtlCol="0" anchor="ctr"/>
          <a:lstStyle/>
          <a:p>
            <a:pPr marL="0" indent="0">
              <a:buNone/>
            </a:pPr>
            <a:r>
              <a:rPr lang="en-US" sz="1400" b="1" dirty="0">
                <a:solidFill>
                  <a:srgbClr val="D98E1F"/>
                </a:solidFill>
                <a:latin typeface="Courier New" pitchFamily="34" charset="0"/>
                <a:ea typeface="Courier New" pitchFamily="34" charset="-122"/>
                <a:cs typeface="Courier New" pitchFamily="34" charset="-120"/>
              </a:rPr>
              <a:t>SVC-01 · rank 1</a:t>
            </a:r>
            <a:endParaRPr lang="en-US" sz="140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Only 64 incidents/yr, but 2,565 unsupported component months and patch recency 53.1 → the debt an incident count cannot see</a:t>
            </a:r>
            <a:endParaRPr lang="en-US" sz="1200" dirty="0"/>
          </a:p>
        </p:txBody>
      </p:sp>
      <p:sp>
        <p:nvSpPr>
          <p:cNvPr id="31" name="Shape 29"/>
          <p:cNvSpPr/>
          <p:nvPr/>
        </p:nvSpPr>
        <p:spPr>
          <a:xfrm>
            <a:off x="7726680" y="3017720"/>
            <a:ext cx="3749040" cy="1080000"/>
          </a:xfrm>
          <a:prstGeom prst="rect">
            <a:avLst/>
          </a:prstGeom>
          <a:solidFill>
            <a:srgbClr val="F7F9FA"/>
          </a:solidFill>
          <a:ln/>
        </p:spPr>
        <p:txBody>
          <a:bodyPr/>
          <a:lstStyle/>
          <a:p>
            <a:endParaRPr lang="de-CH"/>
          </a:p>
        </p:txBody>
      </p:sp>
      <p:sp>
        <p:nvSpPr>
          <p:cNvPr id="32" name="Text 30"/>
          <p:cNvSpPr/>
          <p:nvPr/>
        </p:nvSpPr>
        <p:spPr>
          <a:xfrm>
            <a:off x="7909560" y="3109160"/>
            <a:ext cx="3429000" cy="274320"/>
          </a:xfrm>
          <a:prstGeom prst="rect">
            <a:avLst/>
          </a:prstGeom>
          <a:noFill/>
          <a:ln/>
        </p:spPr>
        <p:txBody>
          <a:bodyPr wrap="square" lIns="0" tIns="0" rIns="0" bIns="0" rtlCol="0" anchor="ctr"/>
          <a:lstStyle/>
          <a:p>
            <a:pPr marL="0" indent="0">
              <a:buNone/>
            </a:pPr>
            <a:r>
              <a:rPr lang="en-US" sz="1400" b="1" dirty="0">
                <a:solidFill>
                  <a:srgbClr val="14283C"/>
                </a:solidFill>
                <a:latin typeface="Courier New" pitchFamily="34" charset="0"/>
                <a:ea typeface="Courier New" pitchFamily="34" charset="-122"/>
                <a:cs typeface="Courier New" pitchFamily="34" charset="-120"/>
              </a:rPr>
              <a:t>SVC-04 · rank 2</a:t>
            </a:r>
            <a:endParaRPr lang="en-US" sz="1400" dirty="0"/>
          </a:p>
        </p:txBody>
      </p:sp>
      <p:sp>
        <p:nvSpPr>
          <p:cNvPr id="33" name="Text 31"/>
          <p:cNvSpPr/>
          <p:nvPr/>
        </p:nvSpPr>
        <p:spPr>
          <a:xfrm>
            <a:off x="7909560" y="3401768"/>
            <a:ext cx="3429000" cy="7772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574 incidents/yr, MTTR 41.9 h, CFR 3.38, yet a clean lifecycle record → architectural &amp; process debt</a:t>
            </a:r>
            <a:endParaRPr lang="en-US" sz="1200" dirty="0"/>
          </a:p>
        </p:txBody>
      </p:sp>
      <p:sp>
        <p:nvSpPr>
          <p:cNvPr id="34" name="Shape 32"/>
          <p:cNvSpPr/>
          <p:nvPr/>
        </p:nvSpPr>
        <p:spPr>
          <a:xfrm>
            <a:off x="7726680" y="4336933"/>
            <a:ext cx="3749040" cy="1080000"/>
          </a:xfrm>
          <a:prstGeom prst="rect">
            <a:avLst/>
          </a:prstGeom>
          <a:solidFill>
            <a:srgbClr val="F7F9FA"/>
          </a:solidFill>
          <a:ln/>
        </p:spPr>
        <p:txBody>
          <a:bodyPr/>
          <a:lstStyle/>
          <a:p>
            <a:endParaRPr lang="de-CH"/>
          </a:p>
        </p:txBody>
      </p:sp>
      <p:sp>
        <p:nvSpPr>
          <p:cNvPr id="35" name="Text 33"/>
          <p:cNvSpPr/>
          <p:nvPr/>
        </p:nvSpPr>
        <p:spPr>
          <a:xfrm>
            <a:off x="7909560" y="4428373"/>
            <a:ext cx="3429000" cy="274320"/>
          </a:xfrm>
          <a:prstGeom prst="rect">
            <a:avLst/>
          </a:prstGeom>
          <a:noFill/>
          <a:ln/>
        </p:spPr>
        <p:txBody>
          <a:bodyPr wrap="square" lIns="0" tIns="0" rIns="0" bIns="0" rtlCol="0" anchor="ctr"/>
          <a:lstStyle/>
          <a:p>
            <a:pPr marL="0" indent="0">
              <a:buNone/>
            </a:pPr>
            <a:r>
              <a:rPr lang="en-US" sz="1400" b="1" dirty="0">
                <a:solidFill>
                  <a:srgbClr val="14283C"/>
                </a:solidFill>
                <a:latin typeface="Courier New" pitchFamily="34" charset="0"/>
                <a:ea typeface="Courier New" pitchFamily="34" charset="-122"/>
                <a:cs typeface="Courier New" pitchFamily="34" charset="-120"/>
              </a:rPr>
              <a:t>SVC-03 · rank 6</a:t>
            </a:r>
            <a:endParaRPr lang="en-US" sz="1400" dirty="0"/>
          </a:p>
        </p:txBody>
      </p:sp>
      <p:sp>
        <p:nvSpPr>
          <p:cNvPr id="36" name="Text 34"/>
          <p:cNvSpPr/>
          <p:nvPr/>
        </p:nvSpPr>
        <p:spPr>
          <a:xfrm>
            <a:off x="7909560" y="4720981"/>
            <a:ext cx="3429000" cy="777240"/>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The portfolio's reference for a well-maintained service</a:t>
            </a:r>
            <a:endParaRPr lang="en-US" sz="1200" dirty="0"/>
          </a:p>
        </p:txBody>
      </p:sp>
      <p:sp>
        <p:nvSpPr>
          <p:cNvPr id="37" name="Shape 35"/>
          <p:cNvSpPr/>
          <p:nvPr/>
        </p:nvSpPr>
        <p:spPr>
          <a:xfrm>
            <a:off x="685800" y="5818723"/>
            <a:ext cx="10789920" cy="713232"/>
          </a:xfrm>
          <a:prstGeom prst="rect">
            <a:avLst/>
          </a:prstGeom>
          <a:solidFill>
            <a:srgbClr val="F2F7F6"/>
          </a:solidFill>
          <a:ln/>
        </p:spPr>
        <p:txBody>
          <a:bodyPr/>
          <a:lstStyle/>
          <a:p>
            <a:endParaRPr lang="de-CH"/>
          </a:p>
        </p:txBody>
      </p:sp>
      <p:sp>
        <p:nvSpPr>
          <p:cNvPr id="38" name="Text 36"/>
          <p:cNvSpPr/>
          <p:nvPr/>
        </p:nvSpPr>
        <p:spPr>
          <a:xfrm>
            <a:off x="886968" y="5891875"/>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093043"/>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de-CH"/>
          </a:p>
        </p:txBody>
      </p:sp>
      <p:sp>
        <p:nvSpPr>
          <p:cNvPr id="5" name="Text 3"/>
          <p:cNvSpPr/>
          <p:nvPr/>
        </p:nvSpPr>
        <p:spPr>
          <a:xfrm>
            <a:off x="868680"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mc:AlternateContent xmlns:mc="http://schemas.openxmlformats.org/markup-compatibility/2006">
        <mc:Choice xmlns:a14="http://schemas.microsoft.com/office/drawing/2010/main" Requires="a14">
          <p:sp>
            <p:nvSpPr>
              <p:cNvPr id="6" name="Text 4"/>
              <p:cNvSpPr/>
              <p:nvPr/>
            </p:nvSpPr>
            <p:spPr>
              <a:xfrm>
                <a:off x="868680" y="2295144"/>
                <a:ext cx="3154680" cy="713232"/>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Weight &amp; temporal variation, Kendall's </a:t>
                </a:r>
                <a14:m>
                  <m:oMath xmlns:m="http://schemas.openxmlformats.org/officeDocument/2006/math">
                    <m:r>
                      <a:rPr lang="en-US" sz="1200" i="1" dirty="0" smtClean="0">
                        <a:solidFill>
                          <a:srgbClr val="2A3F55"/>
                        </a:solidFill>
                        <a:latin typeface="Cambria Math" panose="02040503050406030204" pitchFamily="18" charset="0"/>
                        <a:ea typeface="Cambria Math" panose="02040503050406030204" pitchFamily="18" charset="0"/>
                        <a:cs typeface="Arial" pitchFamily="34" charset="-120"/>
                      </a:rPr>
                      <m:t>𝜏</m:t>
                    </m:r>
                  </m:oMath>
                </a14:m>
                <a:r>
                  <a:rPr lang="en-US" sz="1200" dirty="0">
                    <a:solidFill>
                      <a:srgbClr val="2A3F55"/>
                    </a:solidFill>
                    <a:latin typeface="Arial" pitchFamily="34" charset="0"/>
                    <a:ea typeface="Arial" pitchFamily="34" charset="-122"/>
                    <a:cs typeface="Arial" pitchFamily="34" charset="-120"/>
                  </a:rPr>
                  <a:t>, exact p over 720 permutations</a:t>
                </a:r>
                <a:endParaRPr lang="en-US" sz="1200" dirty="0"/>
              </a:p>
            </p:txBody>
          </p:sp>
        </mc:Choice>
        <mc:Fallback>
          <p:sp>
            <p:nvSpPr>
              <p:cNvPr id="6" name="Text 4"/>
              <p:cNvSpPr>
                <a:spLocks noRot="1" noChangeAspect="1" noMove="1" noResize="1" noEditPoints="1" noAdjustHandles="1" noChangeArrowheads="1" noChangeShapeType="1" noTextEdit="1"/>
              </p:cNvSpPr>
              <p:nvPr/>
            </p:nvSpPr>
            <p:spPr>
              <a:xfrm>
                <a:off x="868680" y="2295144"/>
                <a:ext cx="3154680" cy="713232"/>
              </a:xfrm>
              <a:prstGeom prst="rect">
                <a:avLst/>
              </a:prstGeom>
              <a:blipFill>
                <a:blip r:embed="rId3"/>
                <a:stretch>
                  <a:fillRect l="-3095" t="-7692" r="-3482"/>
                </a:stretch>
              </a:blipFill>
              <a:ln/>
            </p:spPr>
            <p:txBody>
              <a:bodyPr/>
              <a:lstStyle/>
              <a:p>
                <a:r>
                  <a:rPr lang="de-CH">
                    <a:noFill/>
                  </a:rPr>
                  <a:t> </a:t>
                </a:r>
              </a:p>
            </p:txBody>
          </p:sp>
        </mc:Fallback>
      </mc:AlternateContent>
      <mc:AlternateContent xmlns:mc="http://schemas.openxmlformats.org/markup-compatibility/2006">
        <mc:Choice xmlns:a14="http://schemas.microsoft.com/office/drawing/2010/main" Requires="a14">
          <p:sp>
            <p:nvSpPr>
              <p:cNvPr id="7" name="Text 5"/>
              <p:cNvSpPr/>
              <p:nvPr/>
            </p:nvSpPr>
            <p:spPr>
              <a:xfrm>
                <a:off x="868680" y="3090672"/>
                <a:ext cx="3154680" cy="274320"/>
              </a:xfrm>
              <a:prstGeom prst="rect">
                <a:avLst/>
              </a:prstGeom>
              <a:noFill/>
              <a:ln/>
            </p:spPr>
            <p:txBody>
              <a:bodyPr wrap="square" lIns="0" tIns="0" rIns="0" bIns="0" rtlCol="0" anchor="ctr"/>
              <a:lstStyle/>
              <a:p>
                <a:pPr marL="0" indent="0">
                  <a:buNone/>
                </a:pPr>
                <a14:m>
                  <m:oMath xmlns:m="http://schemas.openxmlformats.org/officeDocument/2006/math">
                    <m:r>
                      <a:rPr lang="en-US" sz="1200" b="1" i="1" dirty="0" smtClean="0">
                        <a:solidFill>
                          <a:srgbClr val="1E7F82"/>
                        </a:solidFill>
                        <a:latin typeface="Cambria Math" panose="02040503050406030204" pitchFamily="18" charset="0"/>
                        <a:ea typeface="Cambria Math" panose="02040503050406030204" pitchFamily="18" charset="0"/>
                        <a:cs typeface="Courier New" pitchFamily="34" charset="-120"/>
                      </a:rPr>
                      <m:t>𝝉</m:t>
                    </m:r>
                  </m:oMath>
                </a14:m>
                <a:r>
                  <a:rPr lang="en-US" sz="1200" b="1" dirty="0">
                    <a:solidFill>
                      <a:srgbClr val="1E7F82"/>
                    </a:solidFill>
                    <a:latin typeface="Courier New" pitchFamily="34" charset="0"/>
                    <a:ea typeface="Courier New" pitchFamily="34" charset="-122"/>
                    <a:cs typeface="Courier New" pitchFamily="34" charset="-120"/>
                  </a:rPr>
                  <a:t> = 0.60–1.00</a:t>
                </a:r>
                <a:endParaRPr lang="en-US" sz="1200" dirty="0"/>
              </a:p>
            </p:txBody>
          </p:sp>
        </mc:Choice>
        <mc:Fallback>
          <p:sp>
            <p:nvSpPr>
              <p:cNvPr id="7" name="Text 5"/>
              <p:cNvSpPr>
                <a:spLocks noRot="1" noChangeAspect="1" noMove="1" noResize="1" noEditPoints="1" noAdjustHandles="1" noChangeArrowheads="1" noChangeShapeType="1" noTextEdit="1"/>
              </p:cNvSpPr>
              <p:nvPr/>
            </p:nvSpPr>
            <p:spPr>
              <a:xfrm>
                <a:off x="868680" y="3090672"/>
                <a:ext cx="3154680" cy="274320"/>
              </a:xfrm>
              <a:prstGeom prst="rect">
                <a:avLst/>
              </a:prstGeom>
              <a:blipFill>
                <a:blip r:embed="rId4"/>
                <a:stretch>
                  <a:fillRect l="-1354" b="-17778"/>
                </a:stretch>
              </a:blipFill>
              <a:ln/>
            </p:spPr>
            <p:txBody>
              <a:bodyPr/>
              <a:lstStyle/>
              <a:p>
                <a:r>
                  <a:rPr lang="de-CH">
                    <a:noFill/>
                  </a:rPr>
                  <a:t> </a:t>
                </a:r>
              </a:p>
            </p:txBody>
          </p:sp>
        </mc:Fallback>
      </mc:AlternateContent>
      <p:sp>
        <p:nvSpPr>
          <p:cNvPr id="8" name="Shape 6"/>
          <p:cNvSpPr/>
          <p:nvPr/>
        </p:nvSpPr>
        <p:spPr>
          <a:xfrm>
            <a:off x="4498848"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de-CH"/>
          </a:p>
        </p:txBody>
      </p:sp>
      <p:sp>
        <p:nvSpPr>
          <p:cNvPr id="9" name="Text 7"/>
          <p:cNvSpPr/>
          <p:nvPr/>
        </p:nvSpPr>
        <p:spPr>
          <a:xfrm>
            <a:off x="4681728"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20,000 Dirichlet-sampled weightings, rank-acceptability analysis</a:t>
            </a:r>
            <a:endParaRPr lang="en-US" sz="12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marL="0" indent="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de-CH"/>
          </a:p>
        </p:txBody>
      </p:sp>
      <p:sp>
        <p:nvSpPr>
          <p:cNvPr id="13" name="Text 11"/>
          <p:cNvSpPr/>
          <p:nvPr/>
        </p:nvSpPr>
        <p:spPr>
          <a:xfrm>
            <a:off x="8494776" y="198424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Re-ranked with SAW &amp; VIKOR</a:t>
            </a:r>
            <a:endParaRPr lang="en-US" sz="1200" dirty="0"/>
          </a:p>
        </p:txBody>
      </p:sp>
      <mc:AlternateContent xmlns:mc="http://schemas.openxmlformats.org/markup-compatibility/2006">
        <mc:Choice xmlns:a14="http://schemas.microsoft.com/office/drawing/2010/main" Requires="a14">
          <p:sp>
            <p:nvSpPr>
              <p:cNvPr id="15" name="Text 13"/>
              <p:cNvSpPr/>
              <p:nvPr/>
            </p:nvSpPr>
            <p:spPr>
              <a:xfrm>
                <a:off x="8494776" y="3090672"/>
                <a:ext cx="3154680" cy="274320"/>
              </a:xfrm>
              <a:prstGeom prst="rect">
                <a:avLst/>
              </a:prstGeom>
              <a:noFill/>
              <a:ln/>
            </p:spPr>
            <p:txBody>
              <a:bodyPr wrap="square" lIns="0" tIns="0" rIns="0" bIns="0" rtlCol="0" anchor="ctr"/>
              <a:lstStyle/>
              <a:p>
                <a14:m>
                  <m:oMath xmlns:m="http://schemas.openxmlformats.org/officeDocument/2006/math">
                    <m:r>
                      <a:rPr lang="en-US" sz="1200" b="1" i="1" dirty="0">
                        <a:solidFill>
                          <a:srgbClr val="1E7F82"/>
                        </a:solidFill>
                        <a:latin typeface="Cambria Math" panose="02040503050406030204" pitchFamily="18" charset="0"/>
                        <a:ea typeface="Cambria Math" panose="02040503050406030204" pitchFamily="18" charset="0"/>
                        <a:cs typeface="Courier New" pitchFamily="34" charset="-120"/>
                      </a:rPr>
                      <m:t>𝝉</m:t>
                    </m:r>
                  </m:oMath>
                </a14:m>
                <a:r>
                  <a:rPr lang="en-US" sz="1200" b="1" dirty="0">
                    <a:solidFill>
                      <a:srgbClr val="1E7F82"/>
                    </a:solidFill>
                    <a:latin typeface="Courier New" pitchFamily="34" charset="0"/>
                    <a:ea typeface="Courier New" pitchFamily="34" charset="-122"/>
                    <a:cs typeface="Courier New" pitchFamily="34" charset="-120"/>
                  </a:rPr>
                  <a:t> = 0.73–1.00</a:t>
                </a:r>
                <a:endParaRPr lang="en-US" sz="1200" dirty="0"/>
              </a:p>
            </p:txBody>
          </p:sp>
        </mc:Choice>
        <mc:Fallback>
          <p:sp>
            <p:nvSpPr>
              <p:cNvPr id="15" name="Text 13"/>
              <p:cNvSpPr>
                <a:spLocks noRot="1" noChangeAspect="1" noMove="1" noResize="1" noEditPoints="1" noAdjustHandles="1" noChangeArrowheads="1" noChangeShapeType="1" noTextEdit="1"/>
              </p:cNvSpPr>
              <p:nvPr/>
            </p:nvSpPr>
            <p:spPr>
              <a:xfrm>
                <a:off x="8494776" y="3090672"/>
                <a:ext cx="3154680" cy="274320"/>
              </a:xfrm>
              <a:prstGeom prst="rect">
                <a:avLst/>
              </a:prstGeom>
              <a:blipFill>
                <a:blip r:embed="rId5"/>
                <a:stretch>
                  <a:fillRect l="-1354" b="-17778"/>
                </a:stretch>
              </a:blipFill>
              <a:ln/>
            </p:spPr>
            <p:txBody>
              <a:bodyPr/>
              <a:lstStyle/>
              <a:p>
                <a:r>
                  <a:rPr lang="de-CH">
                    <a:noFill/>
                  </a:rPr>
                  <a:t> </a:t>
                </a:r>
              </a:p>
            </p:txBody>
          </p:sp>
        </mc:Fallback>
      </mc:AlternateContent>
      <p:sp>
        <p:nvSpPr>
          <p:cNvPr id="16" name="Shape 14"/>
          <p:cNvSpPr/>
          <p:nvPr/>
        </p:nvSpPr>
        <p:spPr>
          <a:xfrm>
            <a:off x="2592324" y="379476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de-CH"/>
          </a:p>
        </p:txBody>
      </p:sp>
      <p:sp>
        <p:nvSpPr>
          <p:cNvPr id="17" name="Text 15"/>
          <p:cNvSpPr/>
          <p:nvPr/>
        </p:nvSpPr>
        <p:spPr>
          <a:xfrm>
            <a:off x="2775204"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Against an incident-only baseline</a:t>
            </a:r>
            <a:endParaRPr lang="en-US" sz="1200" dirty="0"/>
          </a:p>
        </p:txBody>
      </p:sp>
      <mc:AlternateContent xmlns:mc="http://schemas.openxmlformats.org/markup-compatibility/2006">
        <mc:Choice xmlns:a14="http://schemas.microsoft.com/office/drawing/2010/main" Requires="a14">
          <p:sp>
            <p:nvSpPr>
              <p:cNvPr id="19" name="Text 17"/>
              <p:cNvSpPr/>
              <p:nvPr/>
            </p:nvSpPr>
            <p:spPr>
              <a:xfrm>
                <a:off x="2775204" y="5010912"/>
                <a:ext cx="3154680" cy="274320"/>
              </a:xfrm>
              <a:prstGeom prst="rect">
                <a:avLst/>
              </a:prstGeom>
              <a:noFill/>
              <a:ln/>
            </p:spPr>
            <p:txBody>
              <a:bodyPr wrap="square" lIns="0" tIns="0" rIns="0" bIns="0" rtlCol="0" anchor="ctr"/>
              <a:lstStyle/>
              <a:p>
                <a14:m>
                  <m:oMath xmlns:m="http://schemas.openxmlformats.org/officeDocument/2006/math">
                    <m:r>
                      <a:rPr lang="en-US" sz="1200" b="1" i="1" dirty="0">
                        <a:solidFill>
                          <a:srgbClr val="1E7F82"/>
                        </a:solidFill>
                        <a:latin typeface="Cambria Math" panose="02040503050406030204" pitchFamily="18" charset="0"/>
                        <a:ea typeface="Cambria Math" panose="02040503050406030204" pitchFamily="18" charset="0"/>
                        <a:cs typeface="Courier New" pitchFamily="34" charset="-120"/>
                      </a:rPr>
                      <m:t>𝝉</m:t>
                    </m:r>
                  </m:oMath>
                </a14:m>
                <a:r>
                  <a:rPr lang="en-US" sz="1200" b="1" dirty="0">
                    <a:solidFill>
                      <a:srgbClr val="1E7F82"/>
                    </a:solidFill>
                    <a:latin typeface="Courier New" pitchFamily="34" charset="0"/>
                    <a:ea typeface="Courier New" pitchFamily="34" charset="-122"/>
                    <a:cs typeface="Courier New" pitchFamily="34" charset="-120"/>
                  </a:rPr>
                  <a:t> = 0.47 / 0.33</a:t>
                </a:r>
                <a:endParaRPr lang="en-US" sz="1200" dirty="0"/>
              </a:p>
            </p:txBody>
          </p:sp>
        </mc:Choice>
        <mc:Fallback>
          <p:sp>
            <p:nvSpPr>
              <p:cNvPr id="19" name="Text 17"/>
              <p:cNvSpPr>
                <a:spLocks noRot="1" noChangeAspect="1" noMove="1" noResize="1" noEditPoints="1" noAdjustHandles="1" noChangeArrowheads="1" noChangeShapeType="1" noTextEdit="1"/>
              </p:cNvSpPr>
              <p:nvPr/>
            </p:nvSpPr>
            <p:spPr>
              <a:xfrm>
                <a:off x="2775204" y="5010912"/>
                <a:ext cx="3154680" cy="274320"/>
              </a:xfrm>
              <a:prstGeom prst="rect">
                <a:avLst/>
              </a:prstGeom>
              <a:blipFill>
                <a:blip r:embed="rId6"/>
                <a:stretch>
                  <a:fillRect l="-1158" b="-17778"/>
                </a:stretch>
              </a:blipFill>
              <a:ln/>
            </p:spPr>
            <p:txBody>
              <a:bodyPr/>
              <a:lstStyle/>
              <a:p>
                <a:r>
                  <a:rPr lang="de-CH">
                    <a:noFill/>
                  </a:rPr>
                  <a:t> </a:t>
                </a:r>
              </a:p>
            </p:txBody>
          </p:sp>
        </mc:Fallback>
      </mc:AlternateContent>
      <p:sp>
        <p:nvSpPr>
          <p:cNvPr id="20" name="Shape 18"/>
          <p:cNvSpPr/>
          <p:nvPr/>
        </p:nvSpPr>
        <p:spPr>
          <a:xfrm>
            <a:off x="6405372" y="3794760"/>
            <a:ext cx="3520440" cy="16002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de-CH"/>
          </a:p>
        </p:txBody>
      </p:sp>
      <p:sp>
        <p:nvSpPr>
          <p:cNvPr id="21" name="Text 19"/>
          <p:cNvSpPr/>
          <p:nvPr/>
        </p:nvSpPr>
        <p:spPr>
          <a:xfrm>
            <a:off x="6588252" y="3904488"/>
            <a:ext cx="3154680" cy="292608"/>
          </a:xfrm>
          <a:prstGeom prst="rect">
            <a:avLst/>
          </a:prstGeom>
          <a:noFill/>
          <a:ln/>
        </p:spPr>
        <p:txBody>
          <a:bodyPr wrap="square" lIns="0" tIns="0" rIns="0" bIns="0" rtlCol="0" anchor="ctr"/>
          <a:lstStyle/>
          <a:p>
            <a:pPr marL="0" indent="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marL="0" indent="0">
              <a:buNone/>
            </a:pPr>
            <a:r>
              <a:rPr lang="en-US" sz="1200" dirty="0">
                <a:solidFill>
                  <a:srgbClr val="2A3F55"/>
                </a:solidFill>
                <a:latin typeface="Arial" pitchFamily="34" charset="0"/>
                <a:ea typeface="Arial" pitchFamily="34" charset="-122"/>
                <a:cs typeface="Arial" pitchFamily="34" charset="-120"/>
              </a:rPr>
              <a:t>Leave-one-out rank reversal; absolute-mode variant</a:t>
            </a:r>
            <a:endParaRPr lang="en-US" sz="12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marL="0" indent="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21346"/>
            <a:ext cx="10789920" cy="713232"/>
          </a:xfrm>
          <a:prstGeom prst="rect">
            <a:avLst/>
          </a:prstGeom>
          <a:solidFill>
            <a:srgbClr val="F2F7F6"/>
          </a:solidFill>
          <a:ln/>
        </p:spPr>
        <p:txBody>
          <a:bodyPr/>
          <a:lstStyle/>
          <a:p>
            <a:endParaRPr lang="de-CH"/>
          </a:p>
        </p:txBody>
      </p:sp>
      <p:sp>
        <p:nvSpPr>
          <p:cNvPr id="25" name="Text 23"/>
          <p:cNvSpPr/>
          <p:nvPr/>
        </p:nvSpPr>
        <p:spPr>
          <a:xfrm>
            <a:off x="886968" y="5894498"/>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095666"/>
            <a:ext cx="10424160" cy="384048"/>
          </a:xfrm>
          <a:prstGeom prst="rect">
            <a:avLst/>
          </a:prstGeom>
          <a:noFill/>
          <a:ln/>
        </p:spPr>
        <p:txBody>
          <a:bodyPr wrap="square" lIns="0" tIns="0" rIns="0" bIns="0" rtlCol="0" anchor="t"/>
          <a:lstStyle/>
          <a:p>
            <a:pPr marL="0" indent="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mc:AlternateContent xmlns:mc="http://schemas.openxmlformats.org/markup-compatibility/2006">
        <mc:Choice xmlns:a14="http://schemas.microsoft.com/office/drawing/2010/main" Requires="a14">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Weight sensitivity 2025: </a:t>
                </a:r>
                <a14:m>
                  <m:oMath xmlns:m="http://schemas.openxmlformats.org/officeDocument/2006/math">
                    <m:r>
                      <a:rPr lang="en-US" sz="1400" i="1" dirty="0" smtClean="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400" dirty="0">
                    <a:solidFill>
                      <a:srgbClr val="14283C"/>
                    </a:solidFill>
                    <a:latin typeface="Arial" pitchFamily="34" charset="0"/>
                    <a:ea typeface="Arial" pitchFamily="34" charset="-122"/>
                    <a:cs typeface="Arial" pitchFamily="34" charset="-120"/>
                  </a:rPr>
                  <a:t> = 1.000 (identical order)</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Weight sensitivity 2024: </a:t>
                </a:r>
                <a14:m>
                  <m:oMath xmlns:m="http://schemas.openxmlformats.org/officeDocument/2006/math">
                    <m:r>
                      <a:rPr lang="en-US" sz="1400" i="1" dirty="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400" dirty="0">
                    <a:solidFill>
                      <a:srgbClr val="14283C"/>
                    </a:solidFill>
                    <a:latin typeface="Arial" pitchFamily="34" charset="0"/>
                    <a:ea typeface="Arial" pitchFamily="34" charset="-122"/>
                    <a:cs typeface="Arial" pitchFamily="34" charset="-120"/>
                  </a:rPr>
                  <a:t> = 0.867 (one swap at the top)</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Temporal 2025 vs 2024: </a:t>
                </a:r>
                <a14:m>
                  <m:oMath xmlns:m="http://schemas.openxmlformats.org/officeDocument/2006/math">
                    <m:r>
                      <a:rPr lang="en-US" sz="1400" i="1" dirty="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400" dirty="0">
                    <a:solidFill>
                      <a:srgbClr val="14283C"/>
                    </a:solidFill>
                    <a:latin typeface="Arial" pitchFamily="34" charset="0"/>
                    <a:ea typeface="Arial" pitchFamily="34" charset="-122"/>
                    <a:cs typeface="Arial" pitchFamily="34" charset="-120"/>
                  </a:rPr>
                  <a:t> = 0.600 / 0.733, tracking real profile change, above all SVC-06's broad deterioration</a:t>
                </a:r>
                <a:endParaRPr lang="en-US" sz="1400" dirty="0"/>
              </a:p>
              <a:p>
                <a:pPr marL="177800" indent="-177800">
                  <a:lnSpc>
                    <a:spcPct val="112000"/>
                  </a:lnSpc>
                  <a:spcAft>
                    <a:spcPts val="1000"/>
                  </a:spcAft>
                  <a:buSzPct val="100000"/>
                  <a:buChar char="•"/>
                </a:pPr>
                <a:r>
                  <a:rPr lang="en-US" sz="1400" b="1" dirty="0">
                    <a:solidFill>
                      <a:srgbClr val="14283C"/>
                    </a:solidFill>
                    <a:latin typeface="Arial" pitchFamily="34" charset="0"/>
                    <a:ea typeface="Arial" pitchFamily="34" charset="-122"/>
                    <a:cs typeface="Arial" pitchFamily="34" charset="-120"/>
                  </a:rPr>
                  <a:t>The lowest-priority position is identical in every run</a:t>
                </a:r>
                <a:endParaRPr lang="en-US" sz="1400" dirty="0"/>
              </a:p>
            </p:txBody>
          </p:sp>
        </mc:Choice>
        <mc:Fallback>
          <p:sp>
            <p:nvSpPr>
              <p:cNvPr id="5" name="Text 3"/>
              <p:cNvSpPr>
                <a:spLocks noRot="1" noChangeAspect="1" noMove="1" noResize="1" noEditPoints="1" noAdjustHandles="1" noChangeArrowheads="1" noChangeShapeType="1" noTextEdit="1"/>
              </p:cNvSpPr>
              <p:nvPr/>
            </p:nvSpPr>
            <p:spPr>
              <a:xfrm>
                <a:off x="685800" y="2240280"/>
                <a:ext cx="5212080" cy="3200400"/>
              </a:xfrm>
              <a:prstGeom prst="rect">
                <a:avLst/>
              </a:prstGeom>
              <a:blipFill>
                <a:blip r:embed="rId3"/>
                <a:stretch>
                  <a:fillRect l="-1988" t="-1714"/>
                </a:stretch>
              </a:blipFill>
              <a:ln/>
            </p:spPr>
            <p:txBody>
              <a:bodyPr/>
              <a:lstStyle/>
              <a:p>
                <a:r>
                  <a:rPr lang="de-CH">
                    <a:noFill/>
                  </a:rPr>
                  <a:t> </a:t>
                </a:r>
              </a:p>
            </p:txBody>
          </p:sp>
        </mc:Fallback>
      </mc:AlternateContent>
      <p:sp>
        <p:nvSpPr>
          <p:cNvPr id="6" name="Shape 4"/>
          <p:cNvSpPr/>
          <p:nvPr/>
        </p:nvSpPr>
        <p:spPr>
          <a:xfrm>
            <a:off x="6583680" y="1828800"/>
            <a:ext cx="4892040" cy="3383280"/>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de-CH"/>
          </a:p>
        </p:txBody>
      </p:sp>
      <p:sp>
        <p:nvSpPr>
          <p:cNvPr id="7" name="Text 5"/>
          <p:cNvSpPr/>
          <p:nvPr/>
        </p:nvSpPr>
        <p:spPr>
          <a:xfrm>
            <a:off x="6858000" y="2057400"/>
            <a:ext cx="4389120" cy="274320"/>
          </a:xfrm>
          <a:prstGeom prst="rect">
            <a:avLst/>
          </a:prstGeom>
          <a:noFill/>
          <a:ln/>
        </p:spPr>
        <p:txBody>
          <a:bodyPr wrap="square" lIns="0" tIns="0" rIns="0" bIns="0" rtlCol="0" anchor="ctr"/>
          <a:lstStyle/>
          <a:p>
            <a:pPr marL="0" indent="0">
              <a:buNone/>
            </a:pPr>
            <a:r>
              <a:rPr lang="en-US" sz="1200" b="1" kern="0" spc="200" dirty="0">
                <a:solidFill>
                  <a:srgbClr val="5C7186"/>
                </a:solidFill>
                <a:latin typeface="Courier New" pitchFamily="34" charset="0"/>
                <a:ea typeface="Courier New" pitchFamily="34" charset="-122"/>
                <a:cs typeface="Courier New" pitchFamily="34" charset="-120"/>
              </a:rPr>
              <a:t>FULL WEIGHT SPACE · 20,000 DRAWS</a:t>
            </a:r>
            <a:endParaRPr lang="en-US" sz="12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marL="0" indent="0">
              <a:buNone/>
            </a:pPr>
            <a:r>
              <a:rPr lang="en-US" sz="6000" b="1" dirty="0">
                <a:solidFill>
                  <a:srgbClr val="14283C"/>
                </a:solidFill>
                <a:latin typeface="Courier New" pitchFamily="34" charset="0"/>
                <a:ea typeface="Courier New" pitchFamily="34" charset="-122"/>
                <a:cs typeface="Courier New" pitchFamily="34" charset="-120"/>
              </a:rPr>
              <a:t>98.1%</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marL="0" indent="0">
              <a:lnSpc>
                <a:spcPct val="115000"/>
              </a:lnSpc>
              <a:buNone/>
            </a:pPr>
            <a:r>
              <a:rPr lang="en-US" sz="1200" dirty="0">
                <a:solidFill>
                  <a:srgbClr val="2A3F55"/>
                </a:solidFill>
                <a:latin typeface="Arial" pitchFamily="34" charset="0"/>
                <a:ea typeface="Arial" pitchFamily="34" charset="-122"/>
                <a:cs typeface="Arial" pitchFamily="34" charset="-120"/>
              </a:rPr>
              <a:t>of all admissible weightings place SVC-03 last, and rank 1 falls to SVC-01, SVC-06 or SVC-04 in every single draw (46%, 27%, 27%). The bottom is weight-independent; the single top rank is a property of the cluster.</a:t>
            </a:r>
            <a:endParaRPr lang="en-US" sz="1200" dirty="0"/>
          </a:p>
        </p:txBody>
      </p:sp>
      <p:sp>
        <p:nvSpPr>
          <p:cNvPr id="10" name="Shape 8"/>
          <p:cNvSpPr/>
          <p:nvPr/>
        </p:nvSpPr>
        <p:spPr>
          <a:xfrm>
            <a:off x="685800" y="5818524"/>
            <a:ext cx="10789920" cy="713232"/>
          </a:xfrm>
          <a:prstGeom prst="rect">
            <a:avLst/>
          </a:prstGeom>
          <a:solidFill>
            <a:srgbClr val="F2F7F6"/>
          </a:solidFill>
          <a:ln/>
        </p:spPr>
        <p:txBody>
          <a:bodyPr/>
          <a:lstStyle/>
          <a:p>
            <a:endParaRPr lang="de-CH"/>
          </a:p>
        </p:txBody>
      </p:sp>
      <p:sp>
        <p:nvSpPr>
          <p:cNvPr id="11" name="Text 9"/>
          <p:cNvSpPr/>
          <p:nvPr/>
        </p:nvSpPr>
        <p:spPr>
          <a:xfrm>
            <a:off x="886968" y="5891676"/>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92844"/>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mc:AlternateContent xmlns:mc="http://schemas.openxmlformats.org/markup-compatibility/2006">
        <mc:Choice xmlns:a14="http://schemas.microsoft.com/office/drawing/2010/main" Requires="a14">
          <p:sp>
            <p:nvSpPr>
              <p:cNvPr id="4" name="Text 2"/>
              <p:cNvSpPr/>
              <p:nvPr/>
            </p:nvSpPr>
            <p:spPr>
              <a:xfrm>
                <a:off x="685800" y="1783080"/>
                <a:ext cx="10789920" cy="365760"/>
              </a:xfrm>
              <a:prstGeom prst="rect">
                <a:avLst/>
              </a:prstGeom>
              <a:noFill/>
              <a:ln/>
            </p:spPr>
            <p:txBody>
              <a:bodyPr wrap="square" lIns="0" tIns="0" rIns="0" bIns="0" rtlCol="0" anchor="ctr"/>
              <a:lstStyle/>
              <a:p>
                <a:r>
                  <a:rPr lang="en-US" sz="1500" dirty="0">
                    <a:solidFill>
                      <a:srgbClr val="14283C"/>
                    </a:solidFill>
                    <a:latin typeface="Arial" pitchFamily="34" charset="0"/>
                    <a:ea typeface="Arial" pitchFamily="34" charset="-122"/>
                    <a:cs typeface="Arial" pitchFamily="34" charset="-120"/>
                  </a:rPr>
                  <a:t>Against a ranking by incident frequency alone: </a:t>
                </a:r>
                <a14:m>
                  <m:oMath xmlns:m="http://schemas.openxmlformats.org/officeDocument/2006/math">
                    <m:r>
                      <a:rPr lang="en-US" sz="1600" i="1" dirty="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500" b="1" dirty="0">
                    <a:solidFill>
                      <a:srgbClr val="14283C"/>
                    </a:solidFill>
                    <a:latin typeface="Courier New" pitchFamily="34" charset="0"/>
                    <a:ea typeface="Courier New" pitchFamily="34" charset="-122"/>
                    <a:cs typeface="Courier New" pitchFamily="34" charset="-120"/>
                  </a:rPr>
                  <a:t> = 0.467</a:t>
                </a:r>
                <a:r>
                  <a:rPr lang="en-US" sz="1500" dirty="0">
                    <a:solidFill>
                      <a:srgbClr val="14283C"/>
                    </a:solidFill>
                    <a:latin typeface="Arial" pitchFamily="34" charset="0"/>
                    <a:ea typeface="Arial" pitchFamily="34" charset="-122"/>
                    <a:cs typeface="Arial" pitchFamily="34" charset="-120"/>
                  </a:rPr>
                  <a:t> (2025), </a:t>
                </a:r>
                <a14:m>
                  <m:oMath xmlns:m="http://schemas.openxmlformats.org/officeDocument/2006/math">
                    <m:r>
                      <a:rPr lang="en-US" sz="1600" i="1" dirty="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500" b="1" dirty="0">
                    <a:solidFill>
                      <a:srgbClr val="14283C"/>
                    </a:solidFill>
                    <a:latin typeface="Courier New" pitchFamily="34" charset="0"/>
                    <a:ea typeface="Courier New" pitchFamily="34" charset="-122"/>
                    <a:cs typeface="Courier New" pitchFamily="34" charset="-120"/>
                  </a:rPr>
                  <a:t> = 0.333</a:t>
                </a:r>
                <a:r>
                  <a:rPr lang="en-US" sz="1500" dirty="0">
                    <a:solidFill>
                      <a:srgbClr val="14283C"/>
                    </a:solidFill>
                    <a:latin typeface="Arial" pitchFamily="34" charset="0"/>
                    <a:ea typeface="Arial" pitchFamily="34" charset="-122"/>
                    <a:cs typeface="Arial" pitchFamily="34" charset="-120"/>
                  </a:rPr>
                  <a:t> (2024).</a:t>
                </a:r>
                <a:endParaRPr lang="en-US" sz="1500" dirty="0"/>
              </a:p>
            </p:txBody>
          </p:sp>
        </mc:Choice>
        <mc:Fallback>
          <p:sp>
            <p:nvSpPr>
              <p:cNvPr id="4" name="Text 2"/>
              <p:cNvSpPr>
                <a:spLocks noRot="1" noChangeAspect="1" noMove="1" noResize="1" noEditPoints="1" noAdjustHandles="1" noChangeArrowheads="1" noChangeShapeType="1" noTextEdit="1"/>
              </p:cNvSpPr>
              <p:nvPr/>
            </p:nvSpPr>
            <p:spPr>
              <a:xfrm>
                <a:off x="685800" y="1783080"/>
                <a:ext cx="10789920" cy="365760"/>
              </a:xfrm>
              <a:prstGeom prst="rect">
                <a:avLst/>
              </a:prstGeom>
              <a:blipFill>
                <a:blip r:embed="rId3"/>
                <a:stretch>
                  <a:fillRect l="-1073" b="-15000"/>
                </a:stretch>
              </a:blipFill>
              <a:ln/>
            </p:spPr>
            <p:txBody>
              <a:bodyPr/>
              <a:lstStyle/>
              <a:p>
                <a:r>
                  <a:rPr lang="de-CH">
                    <a:noFill/>
                  </a:rPr>
                  <a:t> </a:t>
                </a:r>
              </a:p>
            </p:txBody>
          </p:sp>
        </mc:Fallback>
      </mc:AlternateContent>
      <p:sp>
        <p:nvSpPr>
          <p:cNvPr id="5" name="Shape 3"/>
          <p:cNvSpPr/>
          <p:nvPr/>
        </p:nvSpPr>
        <p:spPr>
          <a:xfrm>
            <a:off x="685800" y="2423160"/>
            <a:ext cx="5257800" cy="21600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de-CH"/>
          </a:p>
        </p:txBody>
      </p:sp>
      <p:sp>
        <p:nvSpPr>
          <p:cNvPr id="6" name="Text 4"/>
          <p:cNvSpPr/>
          <p:nvPr/>
        </p:nvSpPr>
        <p:spPr>
          <a:xfrm>
            <a:off x="914400" y="2606040"/>
            <a:ext cx="4800600" cy="320040"/>
          </a:xfrm>
          <a:prstGeom prst="rect">
            <a:avLst/>
          </a:prstGeom>
          <a:noFill/>
          <a:ln/>
        </p:spPr>
        <p:txBody>
          <a:bodyPr wrap="square" lIns="0" tIns="0" rIns="0" bIns="0" rtlCol="0" anchor="ctr"/>
          <a:lstStyle/>
          <a:p>
            <a:pPr marL="0" indent="0">
              <a:buNone/>
            </a:pPr>
            <a:r>
              <a:rPr lang="en-US" sz="1600" b="1" dirty="0">
                <a:solidFill>
                  <a:srgbClr val="D98E1F"/>
                </a:solidFill>
                <a:latin typeface="Arial" pitchFamily="34" charset="0"/>
                <a:ea typeface="Arial" pitchFamily="34" charset="-122"/>
                <a:cs typeface="Arial" pitchFamily="34" charset="-120"/>
              </a:rPr>
              <a:t>SVC-01 rises, fourth to first</a:t>
            </a:r>
            <a:endParaRPr lang="en-US" sz="16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marL="0" indent="0">
              <a:lnSpc>
                <a:spcPct val="115000"/>
              </a:lnSpc>
              <a:buNone/>
            </a:pPr>
            <a:r>
              <a:rPr lang="en-US" sz="1200" dirty="0">
                <a:solidFill>
                  <a:srgbClr val="2A3F55"/>
                </a:solidFill>
                <a:latin typeface="Arial" pitchFamily="34" charset="0"/>
                <a:ea typeface="Arial" pitchFamily="34" charset="-122"/>
                <a:cs typeface="Arial" pitchFamily="34" charset="-120"/>
              </a:rPr>
              <a:t>Infrastructure lifecycle debt (2,565 unsupported component months, patch recency 53.10) is invisible to an incident count. This is precisely the signal the framework was built to surface.</a:t>
            </a:r>
            <a:endParaRPr lang="en-US" sz="1200" dirty="0"/>
          </a:p>
        </p:txBody>
      </p:sp>
      <p:sp>
        <p:nvSpPr>
          <p:cNvPr id="8" name="Shape 6"/>
          <p:cNvSpPr/>
          <p:nvPr/>
        </p:nvSpPr>
        <p:spPr>
          <a:xfrm>
            <a:off x="6217920" y="2423160"/>
            <a:ext cx="5257800" cy="21600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de-CH"/>
          </a:p>
        </p:txBody>
      </p:sp>
      <p:sp>
        <p:nvSpPr>
          <p:cNvPr id="9" name="Text 7"/>
          <p:cNvSpPr/>
          <p:nvPr/>
        </p:nvSpPr>
        <p:spPr>
          <a:xfrm>
            <a:off x="6446520" y="2606040"/>
            <a:ext cx="480060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SVC-05 falls, third to fifth</a:t>
            </a:r>
            <a:endParaRPr lang="en-US" sz="16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marL="0" indent="0">
              <a:lnSpc>
                <a:spcPct val="115000"/>
              </a:lnSpc>
              <a:buNone/>
            </a:pPr>
            <a:r>
              <a:rPr lang="en-US" sz="12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200" dirty="0"/>
          </a:p>
        </p:txBody>
      </p:sp>
      <p:sp>
        <p:nvSpPr>
          <p:cNvPr id="11" name="Shape 9"/>
          <p:cNvSpPr/>
          <p:nvPr/>
        </p:nvSpPr>
        <p:spPr>
          <a:xfrm>
            <a:off x="685800" y="5817517"/>
            <a:ext cx="10789920" cy="713232"/>
          </a:xfrm>
          <a:prstGeom prst="rect">
            <a:avLst/>
          </a:prstGeom>
          <a:solidFill>
            <a:srgbClr val="F2F7F6"/>
          </a:solidFill>
          <a:ln/>
        </p:spPr>
        <p:txBody>
          <a:bodyPr/>
          <a:lstStyle/>
          <a:p>
            <a:endParaRPr lang="de-CH"/>
          </a:p>
        </p:txBody>
      </p:sp>
      <p:sp>
        <p:nvSpPr>
          <p:cNvPr id="12" name="Text 10"/>
          <p:cNvSpPr/>
          <p:nvPr/>
        </p:nvSpPr>
        <p:spPr>
          <a:xfrm>
            <a:off x="886968" y="5890669"/>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6091837"/>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t>
            </a:r>
            <a:r>
              <a:rPr lang="en-US" sz="1200" dirty="0" err="1">
                <a:solidFill>
                  <a:srgbClr val="14283C"/>
                </a:solidFill>
                <a:latin typeface="Arial" pitchFamily="34" charset="0"/>
                <a:ea typeface="Arial" pitchFamily="34" charset="-122"/>
                <a:cs typeface="Arial" pitchFamily="34" charset="-120"/>
              </a:rPr>
              <a:t>Albarak</a:t>
            </a:r>
            <a:r>
              <a:rPr lang="en-US" sz="1200" dirty="0">
                <a:solidFill>
                  <a:srgbClr val="14283C"/>
                </a:solidFill>
                <a:latin typeface="Arial" pitchFamily="34" charset="0"/>
                <a:ea typeface="Arial" pitchFamily="34" charset="-122"/>
                <a:cs typeface="Arial" pitchFamily="34" charset="-120"/>
              </a:rPr>
              <a:t> </a:t>
            </a:r>
            <a:r>
              <a:rPr lang="en-US" sz="1200" i="1" dirty="0">
                <a:solidFill>
                  <a:srgbClr val="14283C"/>
                </a:solidFill>
                <a:latin typeface="Arial" pitchFamily="34" charset="0"/>
                <a:ea typeface="Arial" pitchFamily="34" charset="-122"/>
                <a:cs typeface="Arial" pitchFamily="34" charset="-120"/>
              </a:rPr>
              <a:t>et al.</a:t>
            </a:r>
            <a:r>
              <a:rPr lang="en-US" sz="1200" dirty="0">
                <a:solidFill>
                  <a:srgbClr val="14283C"/>
                </a:solidFill>
                <a:latin typeface="Arial" pitchFamily="34" charset="0"/>
                <a:ea typeface="Arial" pitchFamily="34" charset="-122"/>
                <a:cs typeface="Arial" pitchFamily="34" charset="-120"/>
              </a:rPr>
              <a:t>, 2022).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marL="0" indent="0">
              <a:buNone/>
            </a:pPr>
            <a:r>
              <a:rPr lang="en-US" sz="1500" dirty="0">
                <a:solidFill>
                  <a:srgbClr val="14283C"/>
                </a:solidFill>
                <a:latin typeface="Arial" pitchFamily="34" charset="0"/>
                <a:ea typeface="Arial" pitchFamily="34" charset="-122"/>
                <a:cs typeface="Arial" pitchFamily="34" charset="-120"/>
              </a:rPr>
              <a:t>In 2025 all methods agree exactly under equal weights, with SVC-01 first. The one disagreement is the 2024 equal-weights top rank, and it is </a:t>
            </a:r>
            <a:r>
              <a:rPr lang="en-US" sz="1500" dirty="0">
                <a:solidFill>
                  <a:srgbClr val="14283C"/>
                </a:solidFill>
                <a:latin typeface="Arial" pitchFamily="34" charset="0"/>
                <a:cs typeface="Arial" pitchFamily="34" charset="-120"/>
              </a:rPr>
              <a:t>a photo-finish.</a:t>
            </a:r>
          </a:p>
        </p:txBody>
      </p:sp>
      <mc:AlternateContent xmlns:mc="http://schemas.openxmlformats.org/markup-compatibility/2006">
        <mc:Choice xmlns:a14="http://schemas.microsoft.com/office/drawing/2010/main" Requires="a14">
          <p:graphicFrame>
            <p:nvGraphicFramePr>
              <p:cNvPr id="12" name="Table 0"/>
              <p:cNvGraphicFramePr>
                <a:graphicFrameLocks noGrp="1"/>
              </p:cNvGraphicFramePr>
              <p:nvPr>
                <p:extLst>
                  <p:ext uri="{D42A27DB-BD31-4B8C-83A1-F6EECF244321}">
                    <p14:modId xmlns:p14="http://schemas.microsoft.com/office/powerpoint/2010/main" val="4038029604"/>
                  </p:ext>
                </p:extLst>
              </p:nvPr>
            </p:nvGraphicFramePr>
            <p:xfrm>
              <a:off x="685800" y="2470088"/>
              <a:ext cx="7726679" cy="2054352"/>
            </p:xfrm>
            <a:graphic>
              <a:graphicData uri="http://schemas.openxmlformats.org/drawingml/2006/table">
                <a:tbl>
                  <a:tblPr/>
                  <a:tblGrid>
                    <a:gridCol w="2198387">
                      <a:extLst>
                        <a:ext uri="{9D8B030D-6E8A-4147-A177-3AD203B41FA5}">
                          <a16:colId xmlns:a16="http://schemas.microsoft.com/office/drawing/2014/main" val="20000"/>
                        </a:ext>
                      </a:extLst>
                    </a:gridCol>
                    <a:gridCol w="2828609">
                      <a:extLst>
                        <a:ext uri="{9D8B030D-6E8A-4147-A177-3AD203B41FA5}">
                          <a16:colId xmlns:a16="http://schemas.microsoft.com/office/drawing/2014/main" val="20001"/>
                        </a:ext>
                      </a:extLst>
                    </a:gridCol>
                    <a:gridCol w="2699683">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14283C"/>
                              </a:solidFill>
                              <a:latin typeface="Arial" pitchFamily="34" charset="0"/>
                              <a:ea typeface="Arial" pitchFamily="34" charset="-122"/>
                              <a:cs typeface="Arial" pitchFamily="34" charset="-120"/>
                            </a:rPr>
                            <a:t>2024, equal weights</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TOPSIS classic</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SAW · VIKOR · TOPSIS absolute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Top-ranked service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SVC-04 (</a:t>
                          </a:r>
                          <a14:m>
                            <m:oMath xmlns:m="http://schemas.openxmlformats.org/officeDocument/2006/math">
                              <m:sSub>
                                <m:sSubPr>
                                  <m:ctrlPr>
                                    <a:rPr lang="de-CH" sz="1400" b="0" i="1" smtClean="0">
                                      <a:solidFill>
                                        <a:srgbClr val="14283C"/>
                                      </a:solidFill>
                                      <a:latin typeface="Cambria Math" panose="02040503050406030204" pitchFamily="18" charset="0"/>
                                      <a:cs typeface="Arial" pitchFamily="34" charset="-120"/>
                                    </a:rPr>
                                  </m:ctrlPr>
                                </m:sSubPr>
                                <m:e>
                                  <m:r>
                                    <a:rPr lang="de-CH" sz="1400" b="0" i="1" smtClean="0">
                                      <a:solidFill>
                                        <a:srgbClr val="14283C"/>
                                      </a:solidFill>
                                      <a:latin typeface="Cambria Math" panose="02040503050406030204" pitchFamily="18" charset="0"/>
                                      <a:cs typeface="Arial" pitchFamily="34" charset="-120"/>
                                    </a:rPr>
                                    <m:t>𝐶</m:t>
                                  </m:r>
                                </m:e>
                                <m:sub>
                                  <m:r>
                                    <a:rPr lang="de-CH" sz="1400" b="0" i="1" smtClean="0">
                                      <a:solidFill>
                                        <a:srgbClr val="14283C"/>
                                      </a:solidFill>
                                      <a:latin typeface="Cambria Math" panose="02040503050406030204" pitchFamily="18" charset="0"/>
                                      <a:cs typeface="Arial" pitchFamily="34" charset="-120"/>
                                    </a:rPr>
                                    <m:t>𝑖</m:t>
                                  </m:r>
                                </m:sub>
                              </m:sSub>
                            </m:oMath>
                          </a14:m>
                          <a:r>
                            <a:rPr lang="en-US" sz="1400" dirty="0">
                              <a:solidFill>
                                <a:srgbClr val="14283C"/>
                              </a:solidFill>
                              <a:latin typeface="Arial" pitchFamily="34" charset="0"/>
                              <a:ea typeface="Arial" pitchFamily="34" charset="-122"/>
                              <a:cs typeface="Arial" pitchFamily="34" charset="-120"/>
                            </a:rPr>
                            <a:t> = 0.4858)</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Margin</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14:m>
                            <m:oMath xmlns:m="http://schemas.openxmlformats.org/officeDocument/2006/math">
                              <m:r>
                                <a:rPr lang="en-US" sz="1400" i="1" dirty="0" smtClean="0">
                                  <a:solidFill>
                                    <a:srgbClr val="14283C"/>
                                  </a:solidFill>
                                  <a:latin typeface="Cambria Math" panose="02040503050406030204" pitchFamily="18" charset="0"/>
                                  <a:ea typeface="Cambria Math" panose="02040503050406030204" pitchFamily="18" charset="0"/>
                                  <a:cs typeface="Arial" pitchFamily="34" charset="-120"/>
                                </a:rPr>
                                <m:t>∆</m:t>
                              </m:r>
                              <m:sSub>
                                <m:sSubPr>
                                  <m:ctrlPr>
                                    <a:rPr lang="de-CH" sz="1400" b="0" i="1" smtClean="0">
                                      <a:solidFill>
                                        <a:srgbClr val="14283C"/>
                                      </a:solidFill>
                                      <a:latin typeface="Cambria Math" panose="02040503050406030204" pitchFamily="18" charset="0"/>
                                      <a:cs typeface="Arial" pitchFamily="34" charset="-120"/>
                                    </a:rPr>
                                  </m:ctrlPr>
                                </m:sSubPr>
                                <m:e>
                                  <m:r>
                                    <a:rPr lang="de-CH" sz="1400" b="0" i="1" smtClean="0">
                                      <a:solidFill>
                                        <a:srgbClr val="14283C"/>
                                      </a:solidFill>
                                      <a:latin typeface="Cambria Math" panose="02040503050406030204" pitchFamily="18" charset="0"/>
                                      <a:cs typeface="Arial" pitchFamily="34" charset="-120"/>
                                    </a:rPr>
                                    <m:t>𝐶</m:t>
                                  </m:r>
                                </m:e>
                                <m:sub>
                                  <m:r>
                                    <a:rPr lang="de-CH" sz="1400" b="0" i="1" smtClean="0">
                                      <a:solidFill>
                                        <a:srgbClr val="14283C"/>
                                      </a:solidFill>
                                      <a:latin typeface="Cambria Math" panose="02040503050406030204" pitchFamily="18" charset="0"/>
                                      <a:cs typeface="Arial" pitchFamily="34" charset="-120"/>
                                    </a:rPr>
                                    <m:t>𝑖</m:t>
                                  </m:r>
                                </m:sub>
                              </m:sSub>
                            </m:oMath>
                          </a14:m>
                          <a:r>
                            <a:rPr lang="en-US" sz="1400" dirty="0">
                              <a:solidFill>
                                <a:srgbClr val="14283C"/>
                              </a:solidFill>
                              <a:latin typeface="Arial" pitchFamily="34" charset="0"/>
                              <a:ea typeface="Arial" pitchFamily="34" charset="-122"/>
                              <a:cs typeface="Arial" pitchFamily="34" charset="-120"/>
                            </a:rPr>
                            <a:t>= 0.0018 to SVC-01 (0.4876)</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Each worst on exactly 2 criteria</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Agreement</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vs SAW </a:t>
                          </a:r>
                          <a14:m>
                            <m:oMath xmlns:m="http://schemas.openxmlformats.org/officeDocument/2006/math">
                              <m:r>
                                <a:rPr lang="en-US" sz="1400" i="1" dirty="0" smtClean="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400" dirty="0">
                              <a:solidFill>
                                <a:srgbClr val="14283C"/>
                              </a:solidFill>
                              <a:latin typeface="Arial" pitchFamily="34" charset="0"/>
                              <a:ea typeface="Arial" pitchFamily="34" charset="-122"/>
                              <a:cs typeface="Arial" pitchFamily="34" charset="-120"/>
                            </a:rPr>
                            <a:t> = 0.733</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absolute vs VIKOR </a:t>
                          </a:r>
                          <a14:m>
                            <m:oMath xmlns:m="http://schemas.openxmlformats.org/officeDocument/2006/math">
                              <m:r>
                                <a:rPr lang="en-US" sz="1400" i="1" dirty="0" smtClean="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US" sz="1400" dirty="0">
                              <a:solidFill>
                                <a:srgbClr val="14283C"/>
                              </a:solidFill>
                              <a:latin typeface="Arial" pitchFamily="34" charset="0"/>
                              <a:ea typeface="Arial" pitchFamily="34" charset="-122"/>
                              <a:cs typeface="Arial" pitchFamily="34" charset="-120"/>
                            </a:rPr>
                            <a:t> = 1.000</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2025 and 2024 adjusted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 first under every method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Choice>
        <mc:Fallback>
          <p:graphicFrame>
            <p:nvGraphicFramePr>
              <p:cNvPr id="12" name="Table 0"/>
              <p:cNvGraphicFramePr>
                <a:graphicFrameLocks noGrp="1"/>
              </p:cNvGraphicFramePr>
              <p:nvPr>
                <p:extLst>
                  <p:ext uri="{D42A27DB-BD31-4B8C-83A1-F6EECF244321}">
                    <p14:modId xmlns:p14="http://schemas.microsoft.com/office/powerpoint/2010/main" val="4038029604"/>
                  </p:ext>
                </p:extLst>
              </p:nvPr>
            </p:nvGraphicFramePr>
            <p:xfrm>
              <a:off x="685800" y="2470088"/>
              <a:ext cx="7726679" cy="2054352"/>
            </p:xfrm>
            <a:graphic>
              <a:graphicData uri="http://schemas.openxmlformats.org/drawingml/2006/table">
                <a:tbl>
                  <a:tblPr/>
                  <a:tblGrid>
                    <a:gridCol w="2198387">
                      <a:extLst>
                        <a:ext uri="{9D8B030D-6E8A-4147-A177-3AD203B41FA5}">
                          <a16:colId xmlns:a16="http://schemas.microsoft.com/office/drawing/2014/main" val="20000"/>
                        </a:ext>
                      </a:extLst>
                    </a:gridCol>
                    <a:gridCol w="2828609">
                      <a:extLst>
                        <a:ext uri="{9D8B030D-6E8A-4147-A177-3AD203B41FA5}">
                          <a16:colId xmlns:a16="http://schemas.microsoft.com/office/drawing/2014/main" val="20001"/>
                        </a:ext>
                      </a:extLst>
                    </a:gridCol>
                    <a:gridCol w="2699683">
                      <a:extLst>
                        <a:ext uri="{9D8B030D-6E8A-4147-A177-3AD203B41FA5}">
                          <a16:colId xmlns:a16="http://schemas.microsoft.com/office/drawing/2014/main" val="20002"/>
                        </a:ext>
                      </a:extLst>
                    </a:gridCol>
                  </a:tblGrid>
                  <a:tr h="518160">
                    <a:tc>
                      <a:txBody>
                        <a:bodyPr/>
                        <a:lstStyle/>
                        <a:p>
                          <a:pPr marL="0" indent="0">
                            <a:buNone/>
                          </a:pPr>
                          <a:r>
                            <a:rPr lang="en-US" sz="1400" b="1" dirty="0">
                              <a:solidFill>
                                <a:srgbClr val="14283C"/>
                              </a:solidFill>
                              <a:latin typeface="Arial" pitchFamily="34" charset="0"/>
                              <a:ea typeface="Arial" pitchFamily="34" charset="-122"/>
                              <a:cs typeface="Arial" pitchFamily="34" charset="-120"/>
                            </a:rPr>
                            <a:t>2024, equal weights</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TOPSIS classic</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US" sz="1400" b="1" dirty="0">
                              <a:solidFill>
                                <a:srgbClr val="14283C"/>
                              </a:solidFill>
                              <a:latin typeface="Arial" pitchFamily="34" charset="0"/>
                              <a:ea typeface="Arial" pitchFamily="34" charset="-122"/>
                              <a:cs typeface="Arial" pitchFamily="34" charset="-120"/>
                            </a:rPr>
                            <a:t>SAW · VIKOR · TOPSIS absolute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Top-ranked service</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endParaRPr lang="de-DE"/>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77802" t="-138095" r="-95690" b="-306349"/>
                          </a:stretch>
                        </a:blip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Margin</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endParaRPr lang="de-DE"/>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77802" t="-234375" r="-95690" b="-201563"/>
                          </a:stretch>
                        </a:blipFill>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Each worst on exactly 2 criteria</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Agreement</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endParaRPr lang="de-DE"/>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77802" t="-339683" r="-95690" b="-104762"/>
                          </a:stretch>
                        </a:blipFill>
                      </a:tcPr>
                    </a:tc>
                    <a:tc>
                      <a:txBody>
                        <a:bodyPr/>
                        <a:lstStyle/>
                        <a:p>
                          <a:endParaRPr lang="de-DE"/>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186230" t="-339683" r="-226" b="-104762"/>
                          </a:stretch>
                        </a:blipFill>
                      </a:tcPr>
                    </a:tc>
                    <a:extLst>
                      <a:ext uri="{0D108BD9-81ED-4DB2-BD59-A6C34878D82A}">
                        <a16:rowId xmlns:a16="http://schemas.microsoft.com/office/drawing/2014/main" val="10003"/>
                      </a:ext>
                    </a:extLst>
                  </a:tr>
                  <a:tr h="384048">
                    <a:tc>
                      <a:txBody>
                        <a:bodyPr/>
                        <a:lstStyle/>
                        <a:p>
                          <a:pPr marL="0" indent="0">
                            <a:buNone/>
                          </a:pPr>
                          <a:r>
                            <a:rPr lang="en-US" sz="1400" dirty="0">
                              <a:solidFill>
                                <a:srgbClr val="14283C"/>
                              </a:solidFill>
                              <a:latin typeface="Arial" pitchFamily="34" charset="0"/>
                              <a:ea typeface="Arial" pitchFamily="34" charset="-122"/>
                              <a:cs typeface="Arial" pitchFamily="34" charset="-120"/>
                            </a:rPr>
                            <a:t>2025 and 2024 adjusted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US" sz="1400" dirty="0">
                              <a:solidFill>
                                <a:srgbClr val="14283C"/>
                              </a:solidFill>
                              <a:latin typeface="Arial" pitchFamily="34" charset="0"/>
                              <a:ea typeface="Arial" pitchFamily="34" charset="-122"/>
                              <a:cs typeface="Arial" pitchFamily="34" charset="-120"/>
                            </a:rPr>
                            <a:t>SVC-01 first under every method</a:t>
                          </a: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endParaRPr lang="en-US"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Fallback>
      </mc:AlternateContent>
      <p:sp>
        <p:nvSpPr>
          <p:cNvPr id="6" name="Shape 3"/>
          <p:cNvSpPr/>
          <p:nvPr/>
        </p:nvSpPr>
        <p:spPr>
          <a:xfrm>
            <a:off x="8549640" y="2470088"/>
            <a:ext cx="2926080" cy="2377440"/>
          </a:xfrm>
          <a:prstGeom prst="rect">
            <a:avLst/>
          </a:prstGeom>
          <a:solidFill>
            <a:srgbClr val="FBF4E8"/>
          </a:solidFill>
          <a:ln/>
        </p:spPr>
        <p:txBody>
          <a:bodyPr/>
          <a:lstStyle/>
          <a:p>
            <a:endParaRPr lang="de-CH"/>
          </a:p>
        </p:txBody>
      </p:sp>
      <p:sp>
        <p:nvSpPr>
          <p:cNvPr id="7" name="Text 4"/>
          <p:cNvSpPr/>
          <p:nvPr/>
        </p:nvSpPr>
        <p:spPr>
          <a:xfrm>
            <a:off x="8732520" y="2607248"/>
            <a:ext cx="2560320" cy="228600"/>
          </a:xfrm>
          <a:prstGeom prst="rect">
            <a:avLst/>
          </a:prstGeom>
          <a:noFill/>
          <a:ln/>
        </p:spPr>
        <p:txBody>
          <a:bodyPr wrap="square" lIns="0" tIns="0" rIns="0" bIns="0" rtlCol="0" anchor="ctr"/>
          <a:lstStyle/>
          <a:p>
            <a:pPr marL="0" indent="0">
              <a:buNone/>
            </a:pPr>
            <a:r>
              <a:rPr lang="en-US" sz="1400" b="1" kern="0" spc="200" dirty="0">
                <a:solidFill>
                  <a:srgbClr val="D98E1F"/>
                </a:solidFill>
                <a:latin typeface="Courier New" pitchFamily="34" charset="0"/>
                <a:ea typeface="Courier New" pitchFamily="34" charset="-122"/>
                <a:cs typeface="Courier New" pitchFamily="34" charset="-120"/>
              </a:rPr>
              <a:t>MECHANISM</a:t>
            </a:r>
            <a:endParaRPr lang="en-US" sz="1400" dirty="0"/>
          </a:p>
        </p:txBody>
      </p:sp>
      <p:sp>
        <p:nvSpPr>
          <p:cNvPr id="8" name="Text 5"/>
          <p:cNvSpPr/>
          <p:nvPr/>
        </p:nvSpPr>
        <p:spPr>
          <a:xfrm>
            <a:off x="8732520" y="2881568"/>
            <a:ext cx="2606040" cy="1874520"/>
          </a:xfrm>
          <a:prstGeom prst="rect">
            <a:avLst/>
          </a:prstGeom>
          <a:noFill/>
          <a:ln/>
        </p:spPr>
        <p:txBody>
          <a:bodyPr wrap="square" lIns="0" tIns="0" rIns="0" bIns="0" rtlCol="0" anchor="t"/>
          <a:lstStyle/>
          <a:p>
            <a:pPr marL="0" indent="0">
              <a:lnSpc>
                <a:spcPct val="112000"/>
              </a:lnSpc>
              <a:buNone/>
            </a:pPr>
            <a:r>
              <a:rPr lang="en-US" sz="1200" dirty="0">
                <a:solidFill>
                  <a:srgbClr val="2A3F55"/>
                </a:solidFill>
                <a:latin typeface="Arial" pitchFamily="34" charset="0"/>
                <a:ea typeface="Arial" pitchFamily="34" charset="-122"/>
                <a:cs typeface="Arial" pitchFamily="34" charset="-120"/>
              </a:rPr>
              <a:t>Both are worst on exactly two criteria. SVC-04 is perfect on the other two; SVC-01 is only good. Linear aggregation puts SVC-01 first; vector normalisation, preserving SVC-04’s outlying 410 incidents, reverses the pair by 0.004.</a:t>
            </a:r>
            <a:endParaRPr lang="en-US" sz="1200" dirty="0"/>
          </a:p>
        </p:txBody>
      </p:sp>
      <p:sp>
        <p:nvSpPr>
          <p:cNvPr id="9" name="Shape 6"/>
          <p:cNvSpPr/>
          <p:nvPr/>
        </p:nvSpPr>
        <p:spPr>
          <a:xfrm>
            <a:off x="685800" y="5820137"/>
            <a:ext cx="10789920" cy="713232"/>
          </a:xfrm>
          <a:prstGeom prst="rect">
            <a:avLst/>
          </a:prstGeom>
          <a:solidFill>
            <a:srgbClr val="F2F7F6"/>
          </a:solidFill>
          <a:ln/>
        </p:spPr>
        <p:txBody>
          <a:bodyPr/>
          <a:lstStyle/>
          <a:p>
            <a:endParaRPr lang="de-CH"/>
          </a:p>
        </p:txBody>
      </p:sp>
      <p:sp>
        <p:nvSpPr>
          <p:cNvPr id="10" name="Text 7"/>
          <p:cNvSpPr/>
          <p:nvPr/>
        </p:nvSpPr>
        <p:spPr>
          <a:xfrm>
            <a:off x="886968" y="5893289"/>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6094457"/>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A 0.0018 margin decided by normalisation, not by a real gap. Three of four scorers say SVC-01. The framework reports the photo-finish rather than hiding it; by 2025 every method agrees.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Primary prioritisation signal</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Triangulation, not a single number: where scorers split by 0.0018, the margin is too small to carry a remediation decision</a:t>
            </a:r>
            <a:endParaRPr lang="en-US" sz="140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Rank-reversal free by construction: every leave-one-out removal preserved, where the classic top rank flips (García-Cascales &amp; Lamata 2012; Yang 2020)</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400" dirty="0"/>
          </a:p>
          <a:p>
            <a:pPr marL="177800" indent="-177800">
              <a:lnSpc>
                <a:spcPct val="112000"/>
              </a:lnSpc>
              <a:spcAft>
                <a:spcPts val="1000"/>
              </a:spcAft>
              <a:buSzPct val="100000"/>
              <a:buChar char="•"/>
            </a:pPr>
            <a:r>
              <a:rPr lang="en-US" sz="1400" dirty="0">
                <a:solidFill>
                  <a:srgbClr val="14283C"/>
                </a:solidFill>
                <a:latin typeface="Arial" pitchFamily="34" charset="0"/>
                <a:ea typeface="Arial" pitchFamily="34" charset="-122"/>
                <a:cs typeface="Arial" pitchFamily="34" charset="-120"/>
              </a:rPr>
              <a:t>Complementary perspective; also powers the Monte Carlo cleanly</a:t>
            </a:r>
            <a:endParaRPr lang="en-US" sz="1400" dirty="0"/>
          </a:p>
        </p:txBody>
      </p:sp>
      <p:sp>
        <p:nvSpPr>
          <p:cNvPr id="8" name="Shape 6"/>
          <p:cNvSpPr/>
          <p:nvPr/>
        </p:nvSpPr>
        <p:spPr>
          <a:xfrm>
            <a:off x="685800" y="5818120"/>
            <a:ext cx="10789920" cy="713232"/>
          </a:xfrm>
          <a:prstGeom prst="rect">
            <a:avLst/>
          </a:prstGeom>
          <a:solidFill>
            <a:srgbClr val="F2F7F6"/>
          </a:solidFill>
          <a:ln/>
        </p:spPr>
        <p:txBody>
          <a:bodyPr/>
          <a:lstStyle/>
          <a:p>
            <a:endParaRPr lang="de-CH"/>
          </a:p>
        </p:txBody>
      </p:sp>
      <p:sp>
        <p:nvSpPr>
          <p:cNvPr id="9" name="Text 7"/>
          <p:cNvSpPr/>
          <p:nvPr/>
        </p:nvSpPr>
        <p:spPr>
          <a:xfrm>
            <a:off x="886968" y="5891272"/>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92440"/>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The single top rank is contested within the SVC-01, SVC-04, SVC-06 cluster across the weight space: a compensability judgement the framework informs but does not settle, and saying so is a feature.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40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40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Treated as the central testable hypothesis, never a premise. Forsgren </a:t>
            </a:r>
            <a:r>
              <a:rPr lang="en-US" sz="1400" i="1" dirty="0">
                <a:solidFill>
                  <a:srgbClr val="2A3F55"/>
                </a:solidFill>
                <a:latin typeface="Arial" pitchFamily="34" charset="0"/>
                <a:ea typeface="Arial" pitchFamily="34" charset="-122"/>
                <a:cs typeface="Arial" pitchFamily="34" charset="-120"/>
              </a:rPr>
              <a:t>et al.</a:t>
            </a:r>
            <a:r>
              <a:rPr lang="en-US" sz="1400" dirty="0">
                <a:solidFill>
                  <a:srgbClr val="2A3F55"/>
                </a:solidFill>
                <a:latin typeface="Arial" pitchFamily="34" charset="0"/>
                <a:ea typeface="Arial" pitchFamily="34" charset="-122"/>
                <a:cs typeface="Arial" pitchFamily="34" charset="-120"/>
              </a:rPr>
              <a:t> (2018) validate the metrics; Nord, </a:t>
            </a:r>
            <a:r>
              <a:rPr lang="en-US" sz="1400" dirty="0" err="1">
                <a:solidFill>
                  <a:srgbClr val="2A3F55"/>
                </a:solidFill>
                <a:latin typeface="Arial" pitchFamily="34" charset="0"/>
                <a:ea typeface="Arial" pitchFamily="34" charset="-122"/>
                <a:cs typeface="Arial" pitchFamily="34" charset="-120"/>
              </a:rPr>
              <a:t>Ozkaya</a:t>
            </a:r>
            <a:r>
              <a:rPr lang="en-US" sz="1400" dirty="0">
                <a:solidFill>
                  <a:srgbClr val="2A3F55"/>
                </a:solidFill>
                <a:latin typeface="Arial" pitchFamily="34" charset="0"/>
                <a:ea typeface="Arial" pitchFamily="34" charset="-122"/>
                <a:cs typeface="Arial" pitchFamily="34" charset="-120"/>
              </a:rPr>
              <a:t>, and Woody (2021) ground the diagnostic reading. Longitudinal tracking would move it from plausible to evidenced.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across 20,000 Dirichlet-sampled weightings the lowest priority holds in 98.1% of draws and rank 1 stays inside the same three-service cluster in all of them.</a:t>
            </a:r>
            <a:endParaRPr lang="en-US" sz="140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marL="0" indent="0">
              <a:buNone/>
            </a:pPr>
            <a:r>
              <a:rPr lang="en-US" sz="1500" b="1" dirty="0">
                <a:solidFill>
                  <a:srgbClr val="D98E1F"/>
                </a:solidFill>
                <a:latin typeface="Courier New" pitchFamily="34" charset="0"/>
                <a:ea typeface="Courier New" pitchFamily="34" charset="-122"/>
                <a:cs typeface="Courier New" pitchFamily="34" charset="-120"/>
              </a:rPr>
              <a:t>Q  </a:t>
            </a: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marL="0" indent="0">
              <a:lnSpc>
                <a:spcPct val="112000"/>
              </a:lnSpc>
              <a:buNone/>
            </a:pPr>
            <a:r>
              <a:rPr lang="en-US" sz="140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a:t>
            </a:r>
            <a:r>
              <a:rPr lang="en-US" sz="1400" i="1" dirty="0">
                <a:solidFill>
                  <a:srgbClr val="2A3F55"/>
                </a:solidFill>
                <a:latin typeface="Arial" pitchFamily="34" charset="0"/>
                <a:ea typeface="Arial" pitchFamily="34" charset="-122"/>
                <a:cs typeface="Arial" pitchFamily="34" charset="-120"/>
              </a:rPr>
              <a:t>et al.</a:t>
            </a:r>
            <a:r>
              <a:rPr lang="en-US" sz="1400" dirty="0">
                <a:solidFill>
                  <a:srgbClr val="2A3F55"/>
                </a:solidFill>
                <a:latin typeface="Arial" pitchFamily="34" charset="0"/>
                <a:ea typeface="Arial" pitchFamily="34" charset="-122"/>
                <a:cs typeface="Arial" pitchFamily="34" charset="-120"/>
              </a:rPr>
              <a:t>, 2026). No team, vendor or individual identifiers exist in the dataset.</a:t>
            </a:r>
            <a:endParaRPr lang="en-US" sz="1400" dirty="0"/>
          </a:p>
        </p:txBody>
      </p:sp>
      <p:sp>
        <p:nvSpPr>
          <p:cNvPr id="8" name="Shape 6"/>
          <p:cNvSpPr/>
          <p:nvPr/>
        </p:nvSpPr>
        <p:spPr>
          <a:xfrm>
            <a:off x="685800" y="5810712"/>
            <a:ext cx="10789920" cy="713232"/>
          </a:xfrm>
          <a:prstGeom prst="rect">
            <a:avLst/>
          </a:prstGeom>
          <a:solidFill>
            <a:srgbClr val="F2F7F6"/>
          </a:solidFill>
          <a:ln/>
        </p:spPr>
        <p:txBody>
          <a:bodyPr/>
          <a:lstStyle/>
          <a:p>
            <a:endParaRPr lang="de-CH"/>
          </a:p>
        </p:txBody>
      </p:sp>
      <p:sp>
        <p:nvSpPr>
          <p:cNvPr id="9" name="Text 7"/>
          <p:cNvSpPr/>
          <p:nvPr/>
        </p:nvSpPr>
        <p:spPr>
          <a:xfrm>
            <a:off x="886968" y="5883864"/>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5032"/>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txBody>
          <a:bodyPr/>
          <a:lstStyle/>
          <a:p>
            <a:endParaRPr lang="de-CH"/>
          </a:p>
        </p:txBody>
      </p:sp>
      <p:sp>
        <p:nvSpPr>
          <p:cNvPr id="5" name="Text 3"/>
          <p:cNvSpPr/>
          <p:nvPr/>
        </p:nvSpPr>
        <p:spPr>
          <a:xfrm>
            <a:off x="685800" y="1929384"/>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a:t>
            </a:r>
            <a:r>
              <a:rPr lang="en-US" sz="1400" i="1" dirty="0">
                <a:solidFill>
                  <a:srgbClr val="14283C"/>
                </a:solidFill>
                <a:latin typeface="Arial" pitchFamily="34" charset="0"/>
                <a:ea typeface="Arial" pitchFamily="34" charset="-122"/>
                <a:cs typeface="Arial" pitchFamily="34" charset="-120"/>
              </a:rPr>
              <a:t>et al.</a:t>
            </a:r>
            <a:r>
              <a:rPr lang="en-US" sz="1400" dirty="0">
                <a:solidFill>
                  <a:srgbClr val="14283C"/>
                </a:solidFill>
                <a:latin typeface="Arial" pitchFamily="34" charset="0"/>
                <a:ea typeface="Arial" pitchFamily="34" charset="-122"/>
                <a:cs typeface="Arial" pitchFamily="34" charset="-120"/>
              </a:rPr>
              <a:t> (2021)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txBody>
          <a:bodyPr/>
          <a:lstStyle/>
          <a:p>
            <a:endParaRPr lang="de-CH"/>
          </a:p>
        </p:txBody>
      </p:sp>
      <p:sp>
        <p:nvSpPr>
          <p:cNvPr id="8" name="Text 6"/>
          <p:cNvSpPr/>
          <p:nvPr/>
        </p:nvSpPr>
        <p:spPr>
          <a:xfrm>
            <a:off x="685800" y="3099816"/>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txBody>
          <a:bodyPr/>
          <a:lstStyle/>
          <a:p>
            <a:endParaRPr lang="de-CH"/>
          </a:p>
        </p:txBody>
      </p:sp>
      <p:sp>
        <p:nvSpPr>
          <p:cNvPr id="11" name="Text 9"/>
          <p:cNvSpPr/>
          <p:nvPr/>
        </p:nvSpPr>
        <p:spPr>
          <a:xfrm>
            <a:off x="685800" y="427024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marL="0" indent="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815502"/>
            <a:ext cx="10789920" cy="713232"/>
          </a:xfrm>
          <a:prstGeom prst="rect">
            <a:avLst/>
          </a:prstGeom>
          <a:solidFill>
            <a:srgbClr val="F2F7F6"/>
          </a:solidFill>
          <a:ln/>
        </p:spPr>
        <p:txBody>
          <a:bodyPr/>
          <a:lstStyle/>
          <a:p>
            <a:endParaRPr lang="de-CH"/>
          </a:p>
        </p:txBody>
      </p:sp>
      <p:sp>
        <p:nvSpPr>
          <p:cNvPr id="14" name="Text 12"/>
          <p:cNvSpPr/>
          <p:nvPr/>
        </p:nvSpPr>
        <p:spPr>
          <a:xfrm>
            <a:off x="886968" y="5888654"/>
            <a:ext cx="10424160" cy="201168"/>
          </a:xfrm>
          <a:prstGeom prst="rect">
            <a:avLst/>
          </a:prstGeom>
          <a:noFill/>
          <a:ln/>
        </p:spPr>
        <p:txBody>
          <a:bodyPr wrap="square" lIns="0" tIns="0" rIns="0" bIns="0" rtlCol="0" anchor="ctr"/>
          <a:lstStyle/>
          <a:p>
            <a:pPr marL="0" indent="0">
              <a:buNone/>
            </a:pPr>
            <a:r>
              <a:rPr lang="en-US" sz="950" b="1" kern="0" spc="30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6089822"/>
            <a:ext cx="10424160" cy="384048"/>
          </a:xfrm>
          <a:prstGeom prst="rect">
            <a:avLst/>
          </a:prstGeom>
          <a:noFill/>
          <a:ln/>
        </p:spPr>
        <p:txBody>
          <a:bodyPr wrap="square" lIns="0" tIns="0" rIns="0" bIns="0" rtlCol="0" anchor="t"/>
          <a:lstStyle/>
          <a:p>
            <a:pPr marL="0" indent="0">
              <a:buNone/>
            </a:pPr>
            <a:r>
              <a:rPr lang="en-US" sz="1200" dirty="0">
                <a:solidFill>
                  <a:srgbClr val="14283C"/>
                </a:solidFill>
                <a:latin typeface="Arial" pitchFamily="34" charset="0"/>
                <a:ea typeface="Arial" pitchFamily="34" charset="-122"/>
                <a:cs typeface="Arial" pitchFamily="34" charset="-120"/>
              </a:rPr>
              <a:t>Practically: a portfolio-wide, auditable priority ordering from data organisations already hold, surfacing exactly the debt current governance misses.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a:effectLst/>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marL="0" indent="0">
              <a:buNone/>
            </a:pPr>
            <a:r>
              <a:rPr lang="en-US" sz="1100" b="1" kern="0" spc="30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marL="0" indent="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It orders services by the </a:t>
            </a:r>
            <a:r>
              <a:rPr lang="en-US" sz="2500" b="1" dirty="0">
                <a:solidFill>
                  <a:srgbClr val="F0C67A"/>
                </a:solidFill>
                <a:latin typeface="Arial" pitchFamily="34" charset="0"/>
                <a:ea typeface="Arial" pitchFamily="34" charset="-122"/>
                <a:cs typeface="Arial" pitchFamily="34" charset="-120"/>
              </a:rPr>
              <a:t>operational shadow debt casts</a:t>
            </a: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4133088"/>
            <a:ext cx="4663440" cy="182880"/>
          </a:xfrm>
          <a:prstGeom prst="rect">
            <a:avLst/>
          </a:prstGeom>
          <a:solidFill>
            <a:srgbClr val="24405C"/>
          </a:solidFill>
          <a:ln/>
        </p:spPr>
        <p:txBody>
          <a:bodyPr/>
          <a:lstStyle/>
          <a:p>
            <a:endParaRPr lang="de-CH"/>
          </a:p>
        </p:txBody>
      </p:sp>
      <p:sp>
        <p:nvSpPr>
          <p:cNvPr id="6" name="Shape 4"/>
          <p:cNvSpPr/>
          <p:nvPr/>
        </p:nvSpPr>
        <p:spPr>
          <a:xfrm>
            <a:off x="1737360" y="4133088"/>
            <a:ext cx="2471623" cy="182880"/>
          </a:xfrm>
          <a:prstGeom prst="rect">
            <a:avLst/>
          </a:prstGeom>
          <a:solidFill>
            <a:srgbClr val="D98E1F"/>
          </a:solidFill>
          <a:ln/>
        </p:spPr>
        <p:txBody>
          <a:bodyPr/>
          <a:lstStyle/>
          <a:p>
            <a:endParaRPr lang="de-CH"/>
          </a:p>
        </p:txBody>
      </p:sp>
      <p:sp>
        <p:nvSpPr>
          <p:cNvPr id="7" name="Text 5"/>
          <p:cNvSpPr/>
          <p:nvPr/>
        </p:nvSpPr>
        <p:spPr>
          <a:xfrm>
            <a:off x="6446520" y="4114800"/>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marL="0" indent="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txBody>
          <a:bodyPr/>
          <a:lstStyle/>
          <a:p>
            <a:endParaRPr lang="de-CH"/>
          </a:p>
        </p:txBody>
      </p:sp>
      <p:sp>
        <p:nvSpPr>
          <p:cNvPr id="10" name="Shape 8"/>
          <p:cNvSpPr/>
          <p:nvPr/>
        </p:nvSpPr>
        <p:spPr>
          <a:xfrm>
            <a:off x="1737360" y="4572000"/>
            <a:ext cx="93269" cy="182880"/>
          </a:xfrm>
          <a:prstGeom prst="rect">
            <a:avLst/>
          </a:prstGeom>
          <a:solidFill>
            <a:srgbClr val="8FA6BC"/>
          </a:solidFill>
          <a:ln/>
        </p:spPr>
        <p:txBody>
          <a:bodyPr/>
          <a:lstStyle/>
          <a:p>
            <a:endParaRPr lang="de-CH"/>
          </a:p>
        </p:txBody>
      </p:sp>
      <p:sp>
        <p:nvSpPr>
          <p:cNvPr id="11" name="Text 9"/>
          <p:cNvSpPr/>
          <p:nvPr/>
        </p:nvSpPr>
        <p:spPr>
          <a:xfrm>
            <a:off x="6446520" y="4553712"/>
            <a:ext cx="685800" cy="237744"/>
          </a:xfrm>
          <a:prstGeom prst="rect">
            <a:avLst/>
          </a:prstGeom>
          <a:noFill/>
          <a:ln/>
        </p:spPr>
        <p:txBody>
          <a:bodyPr wrap="square" lIns="0" tIns="0" rIns="0" bIns="0" rtlCol="0" anchor="ctr"/>
          <a:lstStyle/>
          <a:p>
            <a:pPr marL="0" indent="0" algn="r">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marL="0" indent="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icPr>
            <a:picLocks noChangeAspect="1"/>
          </p:cNvPicPr>
          <p:nvPr/>
        </p:nvPicPr>
        <p:blipFill>
          <a:blip r:embed="rId3"/>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marL="0" indent="0">
              <a:buNone/>
            </a:pPr>
            <a:r>
              <a:rPr lang="en-US" sz="1000" kern="0" spc="20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US" sz="1100" b="1" kern="0" spc="300" dirty="0">
                <a:solidFill>
                  <a:srgbClr val="5C7186"/>
                </a:solidFill>
                <a:latin typeface="Courier New" pitchFamily="34" charset="0"/>
                <a:ea typeface="Courier New" pitchFamily="34" charset="-122"/>
                <a:cs typeface="Courier New" pitchFamily="34" charset="-120"/>
              </a:rPr>
              <a:t>REFERENCES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marL="0" indent="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3462</Words>
  <Application>Microsoft Office PowerPoint</Application>
  <PresentationFormat>Widescreen</PresentationFormat>
  <Paragraphs>257</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Essex</Company>
  <LinksUpToDate>false</LinksUpToDate>
  <SharedDoc>false</SharedDoc>
  <HyperlinkBase>https://github.com/TobiZeier/MScProject</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and Prioritising Technical Debt in Mission-Critical Trading Systems</dc:title>
  <dc:subject>Master's Thesis Defense Presentation</dc:subject>
  <dc:creator>tobias.zeier@zkb.ch</dc:creator>
  <cp:lastModifiedBy>Zeier Tobias</cp:lastModifiedBy>
  <cp:revision>4</cp:revision>
  <cp:lastPrinted>2026-07-17T07:33:14Z</cp:lastPrinted>
  <dcterms:created xsi:type="dcterms:W3CDTF">2026-07-17T05:15:15Z</dcterms:created>
  <dcterms:modified xsi:type="dcterms:W3CDTF">2026-07-17T07:33:17Z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eba9a17-b2b3-4fee-99b9-f7909294fdf9_Enabled">
    <vt:lpwstr>true</vt:lpwstr>
  </property>
  <property fmtid="{D5CDD505-2E9C-101B-9397-08002B2CF9AE}" pid="3" name="MSIP_Label_aeba9a17-b2b3-4fee-99b9-f7909294fdf9_SetDate">
    <vt:lpwstr>2026-07-17T06:37:59Z</vt:lpwstr>
  </property>
  <property fmtid="{D5CDD505-2E9C-101B-9397-08002B2CF9AE}" pid="4" name="MSIP_Label_aeba9a17-b2b3-4fee-99b9-f7909294fdf9_Method">
    <vt:lpwstr>Privileged</vt:lpwstr>
  </property>
  <property fmtid="{D5CDD505-2E9C-101B-9397-08002B2CF9AE}" pid="5" name="MSIP_Label_aeba9a17-b2b3-4fee-99b9-f7909294fdf9_Name">
    <vt:lpwstr>aeba9a17-b2b3-4fee-99b9-f7909294fdf9</vt:lpwstr>
  </property>
  <property fmtid="{D5CDD505-2E9C-101B-9397-08002B2CF9AE}" pid="6" name="MSIP_Label_aeba9a17-b2b3-4fee-99b9-f7909294fdf9_SiteId">
    <vt:lpwstr>ce44b3bf-8688-466f-b7fe-45d4fca206fe</vt:lpwstr>
  </property>
  <property fmtid="{D5CDD505-2E9C-101B-9397-08002B2CF9AE}" pid="7" name="MSIP_Label_aeba9a17-b2b3-4fee-99b9-f7909294fdf9_ActionId">
    <vt:lpwstr>63f94260-1019-4500-8018-34ac4ba132d7</vt:lpwstr>
  </property>
  <property fmtid="{D5CDD505-2E9C-101B-9397-08002B2CF9AE}" pid="8" name="MSIP_Label_aeba9a17-b2b3-4fee-99b9-f7909294fdf9_ContentBits">
    <vt:lpwstr>0</vt:lpwstr>
  </property>
  <property fmtid="{D5CDD505-2E9C-101B-9397-08002B2CF9AE}" pid="9" name="MSIP_Label_aeba9a17-b2b3-4fee-99b9-f7909294fdf9_Tag">
    <vt:lpwstr>10, 0, 1, 1</vt:lpwstr>
  </property>
</Properties>
</file>