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13"/>
    <p:restoredTop sz="94610"/>
  </p:normalViewPr>
  <p:slideViewPr>
    <p:cSldViewPr snapToGrid="0" snapToObjects="1">
      <p:cViewPr varScale="1">
        <p:scale>
          <a:sx n="145" d="100"/>
          <a:sy n="145" d="100"/>
        </p:scale>
        <p:origin x="184" y="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6988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SVC-01 is the money case: quiet on incidents, dominant structural exposure, and it tops the ranking.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2024 equal-weight top rank is a photo-finish: classic TOPSIS puts SVC-04 first by 0.004; SAW, VIKOR and the absolute variant put SVC-01 first. Both services are worst on exactly two criteria; SVC-04 is perfect on its other two while SVC-01 is only good, so linear aggregation favours SVC-01 while vector normalisation, which preserves SVC-04's outlying incident count, does not. If pressed: VIKOR's utility term is algebraically 1 minus SAW, so those two are not fully independent; VIKOR adds information only through regret. In 2025 everything agrees on SVC-01.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marL="0" indent="0">
              <a:buNone/>
            </a:pPr>
            <a:r>
              <a:rPr lang="en-US" sz="1200" b="1" kern="0" spc="30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marL="0" indent="0">
              <a:buNone/>
            </a:pPr>
            <a:r>
              <a:rPr lang="en-US"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Tobias Zeier</a:t>
            </a:r>
            <a:r>
              <a:rPr lang="en-US" sz="1500" dirty="0">
                <a:solidFill>
                  <a:srgbClr val="AFC2D4"/>
                </a:solidFill>
                <a:latin typeface="Arial" pitchFamily="34" charset="0"/>
                <a:ea typeface="Arial" pitchFamily="34" charset="-122"/>
                <a:cs typeface="Arial" pitchFamily="34" charset="-120"/>
              </a:rPr>
              <a:t>  ·  MSc Enterprise IT Management, University of Essex</a:t>
            </a:r>
            <a:endParaRPr lang="en-US" sz="1500" dirty="0"/>
          </a:p>
        </p:txBody>
      </p:sp>
      <p:sp>
        <p:nvSpPr>
          <p:cNvPr id="7" name="Shape 4"/>
          <p:cNvSpPr/>
          <p:nvPr/>
        </p:nvSpPr>
        <p:spPr>
          <a:xfrm>
            <a:off x="685800" y="3794760"/>
            <a:ext cx="2011680" cy="0"/>
          </a:xfrm>
          <a:prstGeom prst="line">
            <a:avLst/>
          </a:prstGeom>
          <a:noFill/>
          <a:ln w="25400">
            <a:solidFill>
              <a:srgbClr val="D98E1F"/>
            </a:solidFill>
            <a:prstDash val="solid"/>
          </a:ln>
        </p:spPr>
        <p:txBody>
          <a:bodyPr/>
          <a:lstStyle/>
          <a:p>
            <a:endParaRPr lang="en-CH"/>
          </a:p>
        </p:txBody>
      </p:sp>
      <p:sp>
        <p:nvSpPr>
          <p:cNvPr id="8" name="Text 5"/>
          <p:cNvSpPr/>
          <p:nvPr/>
        </p:nvSpPr>
        <p:spPr>
          <a:xfrm>
            <a:off x="685800" y="6263640"/>
            <a:ext cx="10789920" cy="256032"/>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6" name="Text 4"/>
          <p:cNvSpPr/>
          <p:nvPr/>
        </p:nvSpPr>
        <p:spPr>
          <a:xfrm>
            <a:off x="7040880" y="1892808"/>
            <a:ext cx="2103120"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a:t>
            </a:r>
            <a:r>
              <a:rPr lang="en-US" sz="1100" i="1" dirty="0">
                <a:solidFill>
                  <a:srgbClr val="2A3F55"/>
                </a:solidFill>
                <a:latin typeface="Arial" pitchFamily="34" charset="0"/>
                <a:ea typeface="Arial" pitchFamily="34" charset="-122"/>
                <a:cs typeface="Arial" pitchFamily="34" charset="-120"/>
              </a:rPr>
              <a:t>et al.</a:t>
            </a:r>
            <a:r>
              <a:rPr lang="en-US" sz="1100" dirty="0">
                <a:solidFill>
                  <a:srgbClr val="2A3F55"/>
                </a:solidFill>
                <a:latin typeface="Arial" pitchFamily="34" charset="0"/>
                <a:ea typeface="Arial" pitchFamily="34" charset="-122"/>
                <a:cs typeface="Arial" pitchFamily="34" charset="-120"/>
              </a:rPr>
              <a:t>,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9" name="Text 7"/>
          <p:cNvSpPr/>
          <p:nvPr/>
        </p:nvSpPr>
        <p:spPr>
          <a:xfrm>
            <a:off x="7040880" y="3218688"/>
            <a:ext cx="2375682"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r>
              <a:rPr lang="en-US" sz="1100" dirty="0">
                <a:solidFill>
                  <a:srgbClr val="2A3F55"/>
                </a:solidFill>
                <a:latin typeface="Arial" pitchFamily="34" charset="0"/>
                <a:ea typeface="Arial" pitchFamily="34" charset="-122"/>
                <a:cs typeface="Arial" pitchFamily="34" charset="-120"/>
              </a:rPr>
              <a:t>higher odds of compromise after one / three months of patch delay (Tizio, Armellini, and </a:t>
            </a:r>
            <a:r>
              <a:rPr lang="en-US" sz="1100" dirty="0" err="1">
                <a:solidFill>
                  <a:srgbClr val="2A3F55"/>
                </a:solidFill>
                <a:latin typeface="Arial" pitchFamily="34" charset="0"/>
                <a:ea typeface="Arial" pitchFamily="34" charset="-122"/>
                <a:cs typeface="Arial" pitchFamily="34" charset="-120"/>
              </a:rPr>
              <a:t>Massacci</a:t>
            </a:r>
            <a:r>
              <a:rPr lang="en-US" sz="1100" dirty="0">
                <a:solidFill>
                  <a:srgbClr val="2A3F55"/>
                </a:solidFill>
                <a:latin typeface="Arial" pitchFamily="34" charset="0"/>
                <a:ea typeface="Arial" pitchFamily="34" charset="-122"/>
                <a:cs typeface="Arial" pitchFamily="34" charset="-120"/>
              </a:rPr>
              <a:t>,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12" name="Text 10"/>
          <p:cNvSpPr/>
          <p:nvPr/>
        </p:nvSpPr>
        <p:spPr>
          <a:xfrm>
            <a:off x="7040880" y="4544568"/>
            <a:ext cx="2103120" cy="502920"/>
          </a:xfrm>
          <a:prstGeom prst="rect">
            <a:avLst/>
          </a:prstGeom>
          <a:noFill/>
          <a:ln/>
        </p:spPr>
        <p:txBody>
          <a:bodyPr wrap="square" lIns="0" tIns="0" rIns="0" bIns="0" rtlCol="0" anchor="ctr"/>
          <a:lstStyle/>
          <a:p>
            <a:pPr marL="0" indent="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a:t>
            </a:r>
            <a:r>
              <a:rPr lang="en-US" sz="1100" i="1" dirty="0">
                <a:solidFill>
                  <a:srgbClr val="2A3F55"/>
                </a:solidFill>
                <a:latin typeface="Arial" pitchFamily="34" charset="0"/>
                <a:ea typeface="Arial" pitchFamily="34" charset="-122"/>
                <a:cs typeface="Arial" pitchFamily="34" charset="-120"/>
              </a:rPr>
              <a:t>et al.</a:t>
            </a:r>
            <a:r>
              <a:rPr lang="en-US" sz="1100" dirty="0">
                <a:solidFill>
                  <a:srgbClr val="2A3F55"/>
                </a:solidFill>
                <a:latin typeface="Arial" pitchFamily="34" charset="0"/>
                <a:ea typeface="Arial" pitchFamily="34" charset="-122"/>
                <a:cs typeface="Arial" pitchFamily="34" charset="-120"/>
              </a:rPr>
              <a:t>, 2021)</a:t>
            </a:r>
            <a:endParaRPr lang="en-US" sz="1100" dirty="0"/>
          </a:p>
        </p:txBody>
      </p:sp>
      <p:sp>
        <p:nvSpPr>
          <p:cNvPr id="14" name="Shape 12"/>
          <p:cNvSpPr/>
          <p:nvPr/>
        </p:nvSpPr>
        <p:spPr>
          <a:xfrm>
            <a:off x="685799" y="5806440"/>
            <a:ext cx="10789919" cy="713232"/>
          </a:xfrm>
          <a:prstGeom prst="rect">
            <a:avLst/>
          </a:prstGeom>
          <a:solidFill>
            <a:srgbClr val="F2F7F6"/>
          </a:solidFill>
          <a:ln/>
        </p:spPr>
        <p:txBody>
          <a:bodyPr/>
          <a:lstStyle/>
          <a:p>
            <a:endParaRPr lang="en-CH"/>
          </a:p>
        </p:txBody>
      </p:sp>
      <p:sp>
        <p:nvSpPr>
          <p:cNvPr id="15" name="Text 13"/>
          <p:cNvSpPr/>
          <p:nvPr/>
        </p:nvSpPr>
        <p:spPr>
          <a:xfrm>
            <a:off x="886968" y="5879592"/>
            <a:ext cx="53949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10360152"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marL="0" indent="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a:t>
            </a:r>
            <a:r>
              <a:rPr lang="en-US" sz="1500" i="1" dirty="0">
                <a:solidFill>
                  <a:srgbClr val="14283C"/>
                </a:solidFill>
                <a:latin typeface="Arial" pitchFamily="34" charset="0"/>
                <a:ea typeface="Arial" pitchFamily="34" charset="-122"/>
                <a:cs typeface="Arial" pitchFamily="34" charset="-120"/>
              </a:rPr>
              <a:t>et al.</a:t>
            </a:r>
            <a:r>
              <a:rPr lang="en-US" sz="1500" dirty="0">
                <a:solidFill>
                  <a:srgbClr val="14283C"/>
                </a:solidFill>
                <a:latin typeface="Arial" pitchFamily="34" charset="0"/>
                <a:ea typeface="Arial" pitchFamily="34" charset="-122"/>
                <a:cs typeface="Arial" pitchFamily="34" charset="-120"/>
              </a:rPr>
              <a:t>, 2021). </a:t>
            </a:r>
            <a:r>
              <a:rPr lang="en-US" sz="1500" b="1" dirty="0">
                <a:solidFill>
                  <a:srgbClr val="14283C"/>
                </a:solidFill>
                <a:latin typeface="Arial" pitchFamily="34" charset="0"/>
                <a:ea typeface="Arial" pitchFamily="34" charset="-122"/>
                <a:cs typeface="Arial" pitchFamily="34" charset="-120"/>
              </a:rPr>
              <a:t>No reviewed study combines</a:t>
            </a: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txBody>
          <a:bodyPr/>
          <a:lstStyle/>
          <a:p>
            <a:endParaRPr lang="en-CH"/>
          </a:p>
        </p:txBody>
      </p:sp>
      <p:sp>
        <p:nvSpPr>
          <p:cNvPr id="6" name="Text 4"/>
          <p:cNvSpPr/>
          <p:nvPr/>
        </p:nvSpPr>
        <p:spPr>
          <a:xfrm>
            <a:off x="914400" y="3044952"/>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00" dirty="0"/>
          </a:p>
        </p:txBody>
      </p:sp>
      <p:sp>
        <p:nvSpPr>
          <p:cNvPr id="8" name="Shape 6"/>
          <p:cNvSpPr/>
          <p:nvPr/>
        </p:nvSpPr>
        <p:spPr>
          <a:xfrm>
            <a:off x="685800" y="3904488"/>
            <a:ext cx="10789920" cy="868680"/>
          </a:xfrm>
          <a:prstGeom prst="rect">
            <a:avLst/>
          </a:prstGeom>
          <a:solidFill>
            <a:srgbClr val="FBF4E8"/>
          </a:solidFill>
          <a:ln/>
        </p:spPr>
        <p:txBody>
          <a:bodyPr/>
          <a:lstStyle/>
          <a:p>
            <a:endParaRPr lang="en-CH"/>
          </a:p>
        </p:txBody>
      </p:sp>
      <p:sp>
        <p:nvSpPr>
          <p:cNvPr id="9" name="Text 7"/>
          <p:cNvSpPr/>
          <p:nvPr/>
        </p:nvSpPr>
        <p:spPr>
          <a:xfrm>
            <a:off x="914400" y="4069080"/>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00" dirty="0"/>
          </a:p>
        </p:txBody>
      </p:sp>
      <p:sp>
        <p:nvSpPr>
          <p:cNvPr id="11" name="Shape 9"/>
          <p:cNvSpPr/>
          <p:nvPr/>
        </p:nvSpPr>
        <p:spPr>
          <a:xfrm>
            <a:off x="685800" y="4928616"/>
            <a:ext cx="10789920" cy="868680"/>
          </a:xfrm>
          <a:prstGeom prst="rect">
            <a:avLst/>
          </a:prstGeom>
          <a:solidFill>
            <a:srgbClr val="F7F9FA"/>
          </a:solidFill>
          <a:ln/>
        </p:spPr>
        <p:txBody>
          <a:bodyPr/>
          <a:lstStyle/>
          <a:p>
            <a:endParaRPr lang="en-CH"/>
          </a:p>
        </p:txBody>
      </p:sp>
      <p:sp>
        <p:nvSpPr>
          <p:cNvPr id="12" name="Text 10"/>
          <p:cNvSpPr/>
          <p:nvPr/>
        </p:nvSpPr>
        <p:spPr>
          <a:xfrm>
            <a:off x="914400" y="5093208"/>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marL="0" indent="0">
              <a:buNone/>
            </a:pPr>
            <a:r>
              <a:rPr lang="en-US" sz="1500" dirty="0">
                <a:solidFill>
                  <a:srgbClr val="2A3F55"/>
                </a:solidFill>
                <a:latin typeface="Arial" pitchFamily="34" charset="0"/>
                <a:ea typeface="Arial" pitchFamily="34" charset="-122"/>
                <a:cs typeface="Arial" pitchFamily="34" charset="-120"/>
              </a:rPr>
              <a:t>DSR (Hevner </a:t>
            </a:r>
            <a:r>
              <a:rPr lang="en-US" sz="1500" i="1" dirty="0">
                <a:solidFill>
                  <a:srgbClr val="2A3F55"/>
                </a:solidFill>
                <a:latin typeface="Arial" pitchFamily="34" charset="0"/>
                <a:ea typeface="Arial" pitchFamily="34" charset="-122"/>
                <a:cs typeface="Arial" pitchFamily="34" charset="-120"/>
              </a:rPr>
              <a:t>et al.</a:t>
            </a:r>
            <a:r>
              <a:rPr lang="en-US" sz="1500" dirty="0">
                <a:solidFill>
                  <a:srgbClr val="2A3F55"/>
                </a:solidFill>
                <a:latin typeface="Arial" pitchFamily="34" charset="0"/>
                <a:ea typeface="Arial" pitchFamily="34" charset="-122"/>
                <a:cs typeface="Arial" pitchFamily="34" charset="-120"/>
              </a:rPr>
              <a:t>, 2004) · single-organisation embedded case study · unit of analysis: the IT service as a configuration item</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2743200"/>
        </p:xfrm>
        <a:graphic>
          <a:graphicData uri="http://schemas.openxmlformats.org/drawingml/2006/table">
            <a:tbl>
              <a:tblPr/>
              <a:tblGrid>
                <a:gridCol w="42062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marL="0" indent="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txBody>
          <a:bodyPr/>
          <a:lstStyle/>
          <a:p>
            <a:endParaRPr lang="en-CH"/>
          </a:p>
        </p:txBody>
      </p:sp>
      <p:sp>
        <p:nvSpPr>
          <p:cNvPr id="6" name="Text 4"/>
          <p:cNvSpPr/>
          <p:nvPr/>
        </p:nvSpPr>
        <p:spPr>
          <a:xfrm>
            <a:off x="685800" y="22677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Extract indicators from live ITSM / CMDB records</a:t>
            </a:r>
            <a:endParaRPr lang="en-US" sz="1500" dirty="0"/>
          </a:p>
        </p:txBody>
      </p:sp>
      <p:sp>
        <p:nvSpPr>
          <p:cNvPr id="8" name="Shape 6"/>
          <p:cNvSpPr/>
          <p:nvPr/>
        </p:nvSpPr>
        <p:spPr>
          <a:xfrm>
            <a:off x="685800" y="2980944"/>
            <a:ext cx="384048" cy="384048"/>
          </a:xfrm>
          <a:prstGeom prst="ellipse">
            <a:avLst/>
          </a:prstGeom>
          <a:solidFill>
            <a:srgbClr val="14283C"/>
          </a:solidFill>
          <a:ln/>
        </p:spPr>
        <p:txBody>
          <a:bodyPr/>
          <a:lstStyle/>
          <a:p>
            <a:endParaRPr lang="en-CH"/>
          </a:p>
        </p:txBody>
      </p:sp>
      <p:sp>
        <p:nvSpPr>
          <p:cNvPr id="9" name="Text 7"/>
          <p:cNvSpPr/>
          <p:nvPr/>
        </p:nvSpPr>
        <p:spPr>
          <a:xfrm>
            <a:off x="685800" y="29809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Vector normalisation (preserves extreme observations)</a:t>
            </a:r>
            <a:endParaRPr lang="en-US" sz="1500" dirty="0"/>
          </a:p>
        </p:txBody>
      </p:sp>
      <p:sp>
        <p:nvSpPr>
          <p:cNvPr id="11" name="Shape 9"/>
          <p:cNvSpPr/>
          <p:nvPr/>
        </p:nvSpPr>
        <p:spPr>
          <a:xfrm>
            <a:off x="685800" y="3694176"/>
            <a:ext cx="384048" cy="384048"/>
          </a:xfrm>
          <a:prstGeom prst="ellipse">
            <a:avLst/>
          </a:prstGeom>
          <a:solidFill>
            <a:srgbClr val="14283C"/>
          </a:solidFill>
          <a:ln/>
        </p:spPr>
        <p:txBody>
          <a:bodyPr/>
          <a:lstStyle/>
          <a:p>
            <a:endParaRPr lang="en-CH"/>
          </a:p>
        </p:txBody>
      </p:sp>
      <p:sp>
        <p:nvSpPr>
          <p:cNvPr id="12" name="Text 10"/>
          <p:cNvSpPr/>
          <p:nvPr/>
        </p:nvSpPr>
        <p:spPr>
          <a:xfrm>
            <a:off x="685800" y="3694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500" dirty="0"/>
          </a:p>
        </p:txBody>
      </p:sp>
      <p:sp>
        <p:nvSpPr>
          <p:cNvPr id="14" name="Shape 12"/>
          <p:cNvSpPr/>
          <p:nvPr/>
        </p:nvSpPr>
        <p:spPr>
          <a:xfrm>
            <a:off x="685800" y="4407408"/>
            <a:ext cx="384048" cy="384048"/>
          </a:xfrm>
          <a:prstGeom prst="ellipse">
            <a:avLst/>
          </a:prstGeom>
          <a:solidFill>
            <a:srgbClr val="D98E1F"/>
          </a:solidFill>
          <a:ln/>
        </p:spPr>
        <p:txBody>
          <a:bodyPr/>
          <a:lstStyle/>
          <a:p>
            <a:endParaRPr lang="en-CH"/>
          </a:p>
        </p:txBody>
      </p:sp>
      <p:sp>
        <p:nvSpPr>
          <p:cNvPr id="15" name="Text 13"/>
          <p:cNvSpPr/>
          <p:nvPr/>
        </p:nvSpPr>
        <p:spPr>
          <a:xfrm>
            <a:off x="685800" y="44074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TOPSIS closeness coefficient Ci ∈ [0, 1]</a:t>
            </a:r>
            <a:endParaRPr lang="en-US" sz="1500" dirty="0"/>
          </a:p>
        </p:txBody>
      </p:sp>
      <p:sp>
        <p:nvSpPr>
          <p:cNvPr id="17" name="Shape 15"/>
          <p:cNvSpPr/>
          <p:nvPr/>
        </p:nvSpPr>
        <p:spPr>
          <a:xfrm>
            <a:off x="685800" y="5120640"/>
            <a:ext cx="384048" cy="384048"/>
          </a:xfrm>
          <a:prstGeom prst="ellipse">
            <a:avLst/>
          </a:prstGeom>
          <a:solidFill>
            <a:srgbClr val="14283C"/>
          </a:solidFill>
          <a:ln/>
        </p:spPr>
        <p:txBody>
          <a:bodyPr/>
          <a:lstStyle/>
          <a:p>
            <a:endParaRPr lang="en-CH"/>
          </a:p>
        </p:txBody>
      </p:sp>
      <p:sp>
        <p:nvSpPr>
          <p:cNvPr id="18" name="Text 16"/>
          <p:cNvSpPr/>
          <p:nvPr/>
        </p:nvSpPr>
        <p:spPr>
          <a:xfrm>
            <a:off x="685800" y="51206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Rank: lowest Ci = highest debt priority</a:t>
            </a:r>
            <a:endParaRPr lang="en-US" sz="150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Precedent: </a:t>
            </a:r>
            <a:r>
              <a:rPr lang="en-US" sz="1500" dirty="0" err="1">
                <a:solidFill>
                  <a:srgbClr val="14283C"/>
                </a:solidFill>
                <a:latin typeface="Arial" pitchFamily="34" charset="0"/>
                <a:ea typeface="Arial" pitchFamily="34" charset="-122"/>
                <a:cs typeface="Arial" pitchFamily="34" charset="-120"/>
              </a:rPr>
              <a:t>Albarak</a:t>
            </a:r>
            <a:r>
              <a:rPr lang="en-US" sz="1500" dirty="0">
                <a:solidFill>
                  <a:srgbClr val="14283C"/>
                </a:solidFill>
                <a:latin typeface="Arial" pitchFamily="34" charset="0"/>
                <a:ea typeface="Arial" pitchFamily="34" charset="-122"/>
                <a:cs typeface="Arial" pitchFamily="34" charset="-120"/>
              </a:rPr>
              <a:t> </a:t>
            </a:r>
            <a:r>
              <a:rPr lang="en-US" sz="1500" i="1" dirty="0">
                <a:solidFill>
                  <a:srgbClr val="14283C"/>
                </a:solidFill>
                <a:latin typeface="Arial" pitchFamily="34" charset="0"/>
                <a:ea typeface="Arial" pitchFamily="34" charset="-122"/>
                <a:cs typeface="Arial" pitchFamily="34" charset="-120"/>
              </a:rPr>
              <a:t>et al.</a:t>
            </a:r>
            <a:r>
              <a:rPr lang="en-US" sz="1500" dirty="0">
                <a:solidFill>
                  <a:srgbClr val="14283C"/>
                </a:solidFill>
                <a:latin typeface="Arial" pitchFamily="34" charset="0"/>
                <a:ea typeface="Arial" pitchFamily="34" charset="-122"/>
                <a:cs typeface="Arial" pitchFamily="34" charset="-120"/>
              </a:rPr>
              <a:t> (2022) for TD, but on controlled data</a:t>
            </a:r>
            <a:endParaRPr lang="en-US" sz="1500" dirty="0"/>
          </a:p>
          <a:p>
            <a:pPr marL="177800" indent="-177800">
              <a:lnSpc>
                <a:spcPct val="112000"/>
              </a:lnSpc>
              <a:spcAft>
                <a:spcPts val="1000"/>
              </a:spcAft>
              <a:buSzPct val="100000"/>
              <a:buChar char="•"/>
            </a:pPr>
            <a:r>
              <a:rPr lang="en-US" sz="150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500" dirty="0"/>
          </a:p>
        </p:txBody>
      </p:sp>
      <p:sp>
        <p:nvSpPr>
          <p:cNvPr id="22" name="Shape 20"/>
          <p:cNvSpPr/>
          <p:nvPr/>
        </p:nvSpPr>
        <p:spPr>
          <a:xfrm>
            <a:off x="685800" y="5806440"/>
            <a:ext cx="10789920" cy="713232"/>
          </a:xfrm>
          <a:prstGeom prst="rect">
            <a:avLst/>
          </a:prstGeom>
          <a:solidFill>
            <a:srgbClr val="F2F7F6"/>
          </a:solidFill>
          <a:ln/>
        </p:spPr>
        <p:txBody>
          <a:bodyPr/>
          <a:lstStyle/>
          <a:p>
            <a:endParaRPr lang="en-CH"/>
          </a:p>
        </p:txBody>
      </p:sp>
      <p:sp>
        <p:nvSpPr>
          <p:cNvPr id="23" name="Text 21"/>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500" dirty="0"/>
          </a:p>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500" dirty="0"/>
          </a:p>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50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500" dirty="0"/>
          </a:p>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500" dirty="0"/>
          </a:p>
          <a:p>
            <a:pPr marL="177800" indent="-177800">
              <a:lnSpc>
                <a:spcPct val="112000"/>
              </a:lnSpc>
              <a:spcAft>
                <a:spcPts val="1100"/>
              </a:spcAft>
              <a:buSzPct val="100000"/>
              <a:buChar char="•"/>
            </a:pPr>
            <a:r>
              <a:rPr lang="en-US" sz="150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500" dirty="0"/>
          </a:p>
        </p:txBody>
      </p:sp>
      <p:sp>
        <p:nvSpPr>
          <p:cNvPr id="8" name="Shape 6"/>
          <p:cNvSpPr/>
          <p:nvPr/>
        </p:nvSpPr>
        <p:spPr>
          <a:xfrm>
            <a:off x="685800" y="5806440"/>
            <a:ext cx="10789920" cy="713232"/>
          </a:xfrm>
          <a:prstGeom prst="rect">
            <a:avLst/>
          </a:prstGeom>
          <a:solidFill>
            <a:srgbClr val="F2F7F6"/>
          </a:solidFill>
          <a:ln/>
        </p:spPr>
        <p:txBody>
          <a:bodyPr/>
          <a:lstStyle/>
          <a:p>
            <a:endParaRPr lang="en-CH"/>
          </a:p>
        </p:txBody>
      </p:sp>
      <p:sp>
        <p:nvSpPr>
          <p:cNvPr id="9" name="Text 7"/>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1847088"/>
            <a:ext cx="4663440" cy="182880"/>
          </a:xfrm>
          <a:prstGeom prst="rect">
            <a:avLst/>
          </a:prstGeom>
          <a:solidFill>
            <a:srgbClr val="E9EDF1"/>
          </a:solidFill>
          <a:ln/>
        </p:spPr>
        <p:txBody>
          <a:bodyPr/>
          <a:lstStyle/>
          <a:p>
            <a:endParaRPr lang="en-CH"/>
          </a:p>
        </p:txBody>
      </p:sp>
      <p:sp>
        <p:nvSpPr>
          <p:cNvPr id="6" name="Shape 4"/>
          <p:cNvSpPr/>
          <p:nvPr/>
        </p:nvSpPr>
        <p:spPr>
          <a:xfrm>
            <a:off x="1737360" y="1847088"/>
            <a:ext cx="2471623" cy="182880"/>
          </a:xfrm>
          <a:prstGeom prst="rect">
            <a:avLst/>
          </a:prstGeom>
          <a:solidFill>
            <a:srgbClr val="D98E1F"/>
          </a:solidFill>
          <a:ln/>
        </p:spPr>
        <p:txBody>
          <a:bodyPr/>
          <a:lstStyle/>
          <a:p>
            <a:endParaRPr lang="en-CH"/>
          </a:p>
        </p:txBody>
      </p:sp>
      <p:sp>
        <p:nvSpPr>
          <p:cNvPr id="7" name="Text 5"/>
          <p:cNvSpPr/>
          <p:nvPr/>
        </p:nvSpPr>
        <p:spPr>
          <a:xfrm>
            <a:off x="6446520" y="18288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0.470</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9" name="Shape 7"/>
          <p:cNvSpPr/>
          <p:nvPr/>
        </p:nvSpPr>
        <p:spPr>
          <a:xfrm>
            <a:off x="1737360" y="2258568"/>
            <a:ext cx="4663440" cy="182880"/>
          </a:xfrm>
          <a:prstGeom prst="rect">
            <a:avLst/>
          </a:prstGeom>
          <a:solidFill>
            <a:srgbClr val="E9EDF1"/>
          </a:solidFill>
          <a:ln/>
        </p:spPr>
        <p:txBody>
          <a:bodyPr/>
          <a:lstStyle/>
          <a:p>
            <a:endParaRPr lang="en-CH"/>
          </a:p>
        </p:txBody>
      </p:sp>
      <p:sp>
        <p:nvSpPr>
          <p:cNvPr id="10" name="Shape 8"/>
          <p:cNvSpPr/>
          <p:nvPr/>
        </p:nvSpPr>
        <p:spPr>
          <a:xfrm>
            <a:off x="1737360" y="2258568"/>
            <a:ext cx="2424989" cy="182880"/>
          </a:xfrm>
          <a:prstGeom prst="rect">
            <a:avLst/>
          </a:prstGeom>
          <a:solidFill>
            <a:srgbClr val="D98E1F"/>
          </a:solidFill>
          <a:ln/>
        </p:spPr>
        <p:txBody>
          <a:bodyPr/>
          <a:lstStyle/>
          <a:p>
            <a:endParaRPr lang="en-CH"/>
          </a:p>
        </p:txBody>
      </p:sp>
      <p:sp>
        <p:nvSpPr>
          <p:cNvPr id="11" name="Text 9"/>
          <p:cNvSpPr/>
          <p:nvPr/>
        </p:nvSpPr>
        <p:spPr>
          <a:xfrm>
            <a:off x="6446520" y="224028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0.478</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13" name="Shape 11"/>
          <p:cNvSpPr/>
          <p:nvPr/>
        </p:nvSpPr>
        <p:spPr>
          <a:xfrm>
            <a:off x="1737360" y="2670048"/>
            <a:ext cx="4663440" cy="182880"/>
          </a:xfrm>
          <a:prstGeom prst="rect">
            <a:avLst/>
          </a:prstGeom>
          <a:solidFill>
            <a:srgbClr val="E9EDF1"/>
          </a:solidFill>
          <a:ln/>
        </p:spPr>
        <p:txBody>
          <a:bodyPr/>
          <a:lstStyle/>
          <a:p>
            <a:endParaRPr lang="en-CH"/>
          </a:p>
        </p:txBody>
      </p:sp>
      <p:sp>
        <p:nvSpPr>
          <p:cNvPr id="14" name="Shape 12"/>
          <p:cNvSpPr/>
          <p:nvPr/>
        </p:nvSpPr>
        <p:spPr>
          <a:xfrm>
            <a:off x="1737360" y="2670048"/>
            <a:ext cx="2098548" cy="182880"/>
          </a:xfrm>
          <a:prstGeom prst="rect">
            <a:avLst/>
          </a:prstGeom>
          <a:solidFill>
            <a:srgbClr val="D98E1F"/>
          </a:solidFill>
          <a:ln/>
        </p:spPr>
        <p:txBody>
          <a:bodyPr/>
          <a:lstStyle/>
          <a:p>
            <a:endParaRPr lang="en-CH"/>
          </a:p>
        </p:txBody>
      </p:sp>
      <p:sp>
        <p:nvSpPr>
          <p:cNvPr id="15" name="Text 13"/>
          <p:cNvSpPr/>
          <p:nvPr/>
        </p:nvSpPr>
        <p:spPr>
          <a:xfrm>
            <a:off x="6446520" y="265176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0.554</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7" name="Shape 15"/>
          <p:cNvSpPr/>
          <p:nvPr/>
        </p:nvSpPr>
        <p:spPr>
          <a:xfrm>
            <a:off x="1737360" y="3081528"/>
            <a:ext cx="4663440" cy="182880"/>
          </a:xfrm>
          <a:prstGeom prst="rect">
            <a:avLst/>
          </a:prstGeom>
          <a:solidFill>
            <a:srgbClr val="E9EDF1"/>
          </a:solidFill>
          <a:ln/>
        </p:spPr>
        <p:txBody>
          <a:bodyPr/>
          <a:lstStyle/>
          <a:p>
            <a:endParaRPr lang="en-CH"/>
          </a:p>
        </p:txBody>
      </p:sp>
      <p:sp>
        <p:nvSpPr>
          <p:cNvPr id="18" name="Shape 16"/>
          <p:cNvSpPr/>
          <p:nvPr/>
        </p:nvSpPr>
        <p:spPr>
          <a:xfrm>
            <a:off x="1737360" y="3081528"/>
            <a:ext cx="1072591" cy="182880"/>
          </a:xfrm>
          <a:prstGeom prst="rect">
            <a:avLst/>
          </a:prstGeom>
          <a:solidFill>
            <a:srgbClr val="5C7186"/>
          </a:solidFill>
          <a:ln/>
        </p:spPr>
        <p:txBody>
          <a:bodyPr/>
          <a:lstStyle/>
          <a:p>
            <a:endParaRPr lang="en-CH"/>
          </a:p>
        </p:txBody>
      </p:sp>
      <p:sp>
        <p:nvSpPr>
          <p:cNvPr id="19" name="Text 17"/>
          <p:cNvSpPr/>
          <p:nvPr/>
        </p:nvSpPr>
        <p:spPr>
          <a:xfrm>
            <a:off x="6446520" y="306324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0.768</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txBody>
          <a:bodyPr/>
          <a:lstStyle/>
          <a:p>
            <a:endParaRPr lang="en-CH"/>
          </a:p>
        </p:txBody>
      </p:sp>
      <p:sp>
        <p:nvSpPr>
          <p:cNvPr id="22" name="Shape 20"/>
          <p:cNvSpPr/>
          <p:nvPr/>
        </p:nvSpPr>
        <p:spPr>
          <a:xfrm>
            <a:off x="1737360" y="3493008"/>
            <a:ext cx="1025957" cy="182880"/>
          </a:xfrm>
          <a:prstGeom prst="rect">
            <a:avLst/>
          </a:prstGeom>
          <a:solidFill>
            <a:srgbClr val="5C7186"/>
          </a:solidFill>
          <a:ln/>
        </p:spPr>
        <p:txBody>
          <a:bodyPr/>
          <a:lstStyle/>
          <a:p>
            <a:endParaRPr lang="en-CH"/>
          </a:p>
        </p:txBody>
      </p:sp>
      <p:sp>
        <p:nvSpPr>
          <p:cNvPr id="23" name="Text 21"/>
          <p:cNvSpPr/>
          <p:nvPr/>
        </p:nvSpPr>
        <p:spPr>
          <a:xfrm>
            <a:off x="6446520" y="347472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txBody>
          <a:bodyPr/>
          <a:lstStyle/>
          <a:p>
            <a:endParaRPr lang="en-CH"/>
          </a:p>
        </p:txBody>
      </p:sp>
      <p:sp>
        <p:nvSpPr>
          <p:cNvPr id="26" name="Shape 24"/>
          <p:cNvSpPr/>
          <p:nvPr/>
        </p:nvSpPr>
        <p:spPr>
          <a:xfrm>
            <a:off x="1737360" y="3904488"/>
            <a:ext cx="93269" cy="182880"/>
          </a:xfrm>
          <a:prstGeom prst="rect">
            <a:avLst/>
          </a:prstGeom>
          <a:solidFill>
            <a:srgbClr val="5C7186"/>
          </a:solidFill>
          <a:ln/>
        </p:spPr>
        <p:txBody>
          <a:bodyPr/>
          <a:lstStyle/>
          <a:p>
            <a:endParaRPr lang="en-CH"/>
          </a:p>
        </p:txBody>
      </p:sp>
      <p:sp>
        <p:nvSpPr>
          <p:cNvPr id="27" name="Text 25"/>
          <p:cNvSpPr/>
          <p:nvPr/>
        </p:nvSpPr>
        <p:spPr>
          <a:xfrm>
            <a:off x="6446520" y="38862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BF4E8"/>
          </a:solidFill>
          <a:ln/>
        </p:spPr>
        <p:txBody>
          <a:bodyPr/>
          <a:lstStyle/>
          <a:p>
            <a:endParaRPr lang="en-CH"/>
          </a:p>
        </p:txBody>
      </p:sp>
      <p:sp>
        <p:nvSpPr>
          <p:cNvPr id="29" name="Text 27"/>
          <p:cNvSpPr/>
          <p:nvPr/>
        </p:nvSpPr>
        <p:spPr>
          <a:xfrm>
            <a:off x="7909560" y="1874520"/>
            <a:ext cx="3429000" cy="274320"/>
          </a:xfrm>
          <a:prstGeom prst="rect">
            <a:avLst/>
          </a:prstGeom>
          <a:noFill/>
          <a:ln/>
        </p:spPr>
        <p:txBody>
          <a:bodyPr wrap="square" lIns="0" tIns="0" rIns="0" bIns="0" rtlCol="0" anchor="ctr"/>
          <a:lstStyle/>
          <a:p>
            <a:pPr marL="0" indent="0">
              <a:buNone/>
            </a:pPr>
            <a:r>
              <a:rPr lang="en-US" sz="1400" b="1" dirty="0">
                <a:solidFill>
                  <a:srgbClr val="D98E1F"/>
                </a:solidFill>
                <a:latin typeface="Courier New" pitchFamily="34" charset="0"/>
                <a:ea typeface="Courier New" pitchFamily="34" charset="-122"/>
                <a:cs typeface="Courier New" pitchFamily="34" charset="-120"/>
              </a:rPr>
              <a:t>SVC-01 · rank 1</a:t>
            </a:r>
            <a:endParaRPr lang="en-US" sz="140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Only 64 incidents/yr, but 4,210 unsupported component months and patch recency 63.2 → the debt an incident count cannot see</a:t>
            </a:r>
            <a:endParaRPr lang="en-US" sz="1400" dirty="0"/>
          </a:p>
        </p:txBody>
      </p:sp>
      <p:sp>
        <p:nvSpPr>
          <p:cNvPr id="31" name="Shape 29"/>
          <p:cNvSpPr/>
          <p:nvPr/>
        </p:nvSpPr>
        <p:spPr>
          <a:xfrm>
            <a:off x="7726680" y="3154680"/>
            <a:ext cx="3749040" cy="1225296"/>
          </a:xfrm>
          <a:prstGeom prst="rect">
            <a:avLst/>
          </a:prstGeom>
          <a:solidFill>
            <a:srgbClr val="F7F9FA"/>
          </a:solidFill>
          <a:ln/>
        </p:spPr>
        <p:txBody>
          <a:bodyPr/>
          <a:lstStyle/>
          <a:p>
            <a:endParaRPr lang="en-CH"/>
          </a:p>
        </p:txBody>
      </p:sp>
      <p:sp>
        <p:nvSpPr>
          <p:cNvPr id="32" name="Text 30"/>
          <p:cNvSpPr/>
          <p:nvPr/>
        </p:nvSpPr>
        <p:spPr>
          <a:xfrm>
            <a:off x="7909560" y="3246120"/>
            <a:ext cx="3429000" cy="274320"/>
          </a:xfrm>
          <a:prstGeom prst="rect">
            <a:avLst/>
          </a:prstGeom>
          <a:noFill/>
          <a:ln/>
        </p:spPr>
        <p:txBody>
          <a:bodyPr wrap="square" lIns="0" tIns="0" rIns="0" bIns="0" rtlCol="0" anchor="ctr"/>
          <a:lstStyle/>
          <a:p>
            <a:pPr marL="0" indent="0">
              <a:buNone/>
            </a:pPr>
            <a:r>
              <a:rPr lang="en-US" sz="1400" b="1" dirty="0">
                <a:solidFill>
                  <a:srgbClr val="14283C"/>
                </a:solidFill>
                <a:latin typeface="Courier New" pitchFamily="34" charset="0"/>
                <a:ea typeface="Courier New" pitchFamily="34" charset="-122"/>
                <a:cs typeface="Courier New" pitchFamily="34" charset="-120"/>
              </a:rPr>
              <a:t>SVC-04 · rank 2</a:t>
            </a:r>
            <a:endParaRPr lang="en-US" sz="140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574 incidents/yr, MTTR 41.9 h, CFR 3.38, yet a clean lifecycle record → architectural &amp; process debt</a:t>
            </a:r>
            <a:endParaRPr lang="en-US" sz="1400" dirty="0"/>
          </a:p>
        </p:txBody>
      </p:sp>
      <p:sp>
        <p:nvSpPr>
          <p:cNvPr id="34" name="Shape 32"/>
          <p:cNvSpPr/>
          <p:nvPr/>
        </p:nvSpPr>
        <p:spPr>
          <a:xfrm>
            <a:off x="7726680" y="4526280"/>
            <a:ext cx="3749040" cy="1225296"/>
          </a:xfrm>
          <a:prstGeom prst="rect">
            <a:avLst/>
          </a:prstGeom>
          <a:solidFill>
            <a:srgbClr val="F7F9FA"/>
          </a:solidFill>
          <a:ln/>
        </p:spPr>
        <p:txBody>
          <a:bodyPr/>
          <a:lstStyle/>
          <a:p>
            <a:endParaRPr lang="en-CH"/>
          </a:p>
        </p:txBody>
      </p:sp>
      <p:sp>
        <p:nvSpPr>
          <p:cNvPr id="35" name="Text 33"/>
          <p:cNvSpPr/>
          <p:nvPr/>
        </p:nvSpPr>
        <p:spPr>
          <a:xfrm>
            <a:off x="7909560" y="4617720"/>
            <a:ext cx="3429000" cy="274320"/>
          </a:xfrm>
          <a:prstGeom prst="rect">
            <a:avLst/>
          </a:prstGeom>
          <a:noFill/>
          <a:ln/>
        </p:spPr>
        <p:txBody>
          <a:bodyPr wrap="square" lIns="0" tIns="0" rIns="0" bIns="0" rtlCol="0" anchor="ctr"/>
          <a:lstStyle/>
          <a:p>
            <a:pPr marL="0" indent="0">
              <a:buNone/>
            </a:pPr>
            <a:r>
              <a:rPr lang="en-US" sz="1400" b="1" dirty="0">
                <a:solidFill>
                  <a:srgbClr val="14283C"/>
                </a:solidFill>
                <a:latin typeface="Courier New" pitchFamily="34" charset="0"/>
                <a:ea typeface="Courier New" pitchFamily="34" charset="-122"/>
                <a:cs typeface="Courier New" pitchFamily="34" charset="-120"/>
              </a:rPr>
              <a:t>SVC-03 · rank 6</a:t>
            </a:r>
            <a:endParaRPr lang="en-US" sz="140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The portfolio's reference for a well-maintained service</a:t>
            </a:r>
            <a:endParaRPr lang="en-US" sz="1400" dirty="0"/>
          </a:p>
        </p:txBody>
      </p:sp>
      <p:sp>
        <p:nvSpPr>
          <p:cNvPr id="37" name="Shape 35"/>
          <p:cNvSpPr/>
          <p:nvPr/>
        </p:nvSpPr>
        <p:spPr>
          <a:xfrm>
            <a:off x="685800" y="5943600"/>
            <a:ext cx="10789920" cy="713232"/>
          </a:xfrm>
          <a:prstGeom prst="rect">
            <a:avLst/>
          </a:prstGeom>
          <a:solidFill>
            <a:srgbClr val="F2F7F6"/>
          </a:solidFill>
          <a:ln/>
        </p:spPr>
        <p:txBody>
          <a:bodyPr/>
          <a:lstStyle/>
          <a:p>
            <a:endParaRPr lang="en-CH"/>
          </a:p>
        </p:txBody>
      </p:sp>
      <p:sp>
        <p:nvSpPr>
          <p:cNvPr id="38" name="Text 36"/>
          <p:cNvSpPr/>
          <p:nvPr/>
        </p:nvSpPr>
        <p:spPr>
          <a:xfrm>
            <a:off x="886968" y="601675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5" name="Text 3"/>
          <p:cNvSpPr/>
          <p:nvPr/>
        </p:nvSpPr>
        <p:spPr>
          <a:xfrm>
            <a:off x="868680"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4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marL="0" indent="0">
              <a:buNone/>
            </a:pPr>
            <a:r>
              <a:rPr lang="en-US" sz="1400" b="1" dirty="0">
                <a:solidFill>
                  <a:srgbClr val="1E7F82"/>
                </a:solidFill>
                <a:latin typeface="Courier New" pitchFamily="34" charset="0"/>
                <a:ea typeface="Courier New" pitchFamily="34" charset="-122"/>
                <a:cs typeface="Courier New" pitchFamily="34" charset="-120"/>
              </a:rPr>
              <a:t>τ = 0.60–1.00</a:t>
            </a:r>
            <a:endParaRPr lang="en-US" sz="1400" dirty="0"/>
          </a:p>
        </p:txBody>
      </p:sp>
      <p:sp>
        <p:nvSpPr>
          <p:cNvPr id="8" name="Shape 6"/>
          <p:cNvSpPr/>
          <p:nvPr/>
        </p:nvSpPr>
        <p:spPr>
          <a:xfrm>
            <a:off x="4498848"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9" name="Text 7"/>
          <p:cNvSpPr/>
          <p:nvPr/>
        </p:nvSpPr>
        <p:spPr>
          <a:xfrm>
            <a:off x="4681728"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20,000 Dirichlet-sampled weightings, rank-acceptability analysis</a:t>
            </a:r>
            <a:endParaRPr lang="en-US" sz="14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marL="0" indent="0">
              <a:buNone/>
            </a:pPr>
            <a:r>
              <a:rPr lang="en-US" sz="1400" b="1" dirty="0">
                <a:solidFill>
                  <a:srgbClr val="1E7F82"/>
                </a:solidFill>
                <a:latin typeface="Courier New" pitchFamily="34" charset="0"/>
                <a:ea typeface="Courier New" pitchFamily="34" charset="-122"/>
                <a:cs typeface="Courier New" pitchFamily="34" charset="-120"/>
              </a:rPr>
              <a:t>extremes robust</a:t>
            </a:r>
            <a:endParaRPr lang="en-US" sz="1400" dirty="0"/>
          </a:p>
        </p:txBody>
      </p:sp>
      <p:sp>
        <p:nvSpPr>
          <p:cNvPr id="12" name="Shape 10"/>
          <p:cNvSpPr/>
          <p:nvPr/>
        </p:nvSpPr>
        <p:spPr>
          <a:xfrm>
            <a:off x="8311896"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13" name="Text 11"/>
          <p:cNvSpPr/>
          <p:nvPr/>
        </p:nvSpPr>
        <p:spPr>
          <a:xfrm>
            <a:off x="8494776"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Re-ranked with SAW &amp; VIKOR</a:t>
            </a:r>
            <a:endParaRPr lang="en-US" sz="14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marL="0" indent="0">
              <a:buNone/>
            </a:pPr>
            <a:r>
              <a:rPr lang="en-US" sz="1400" b="1" dirty="0">
                <a:solidFill>
                  <a:srgbClr val="1E7F82"/>
                </a:solidFill>
                <a:latin typeface="Courier New" pitchFamily="34" charset="0"/>
                <a:ea typeface="Courier New" pitchFamily="34" charset="-122"/>
                <a:cs typeface="Courier New" pitchFamily="34" charset="-120"/>
              </a:rPr>
              <a:t>τ = 0.60–1.00</a:t>
            </a:r>
            <a:endParaRPr lang="en-US" sz="1400" dirty="0"/>
          </a:p>
        </p:txBody>
      </p:sp>
      <p:sp>
        <p:nvSpPr>
          <p:cNvPr id="16" name="Shape 14"/>
          <p:cNvSpPr/>
          <p:nvPr/>
        </p:nvSpPr>
        <p:spPr>
          <a:xfrm>
            <a:off x="2592324" y="379476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17" name="Text 15"/>
          <p:cNvSpPr/>
          <p:nvPr/>
        </p:nvSpPr>
        <p:spPr>
          <a:xfrm>
            <a:off x="2775204"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Against an incident-only baseline</a:t>
            </a:r>
            <a:endParaRPr lang="en-US" sz="14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marL="0" indent="0">
              <a:buNone/>
            </a:pPr>
            <a:r>
              <a:rPr lang="en-US" sz="1400" b="1" dirty="0">
                <a:solidFill>
                  <a:srgbClr val="1E7F82"/>
                </a:solidFill>
                <a:latin typeface="Courier New" pitchFamily="34" charset="0"/>
                <a:ea typeface="Courier New" pitchFamily="34" charset="-122"/>
                <a:cs typeface="Courier New" pitchFamily="34" charset="-120"/>
              </a:rPr>
              <a:t>τ = 0.47 / 0.33</a:t>
            </a:r>
            <a:endParaRPr lang="en-US" sz="1400" dirty="0"/>
          </a:p>
        </p:txBody>
      </p:sp>
      <p:sp>
        <p:nvSpPr>
          <p:cNvPr id="20" name="Shape 18"/>
          <p:cNvSpPr/>
          <p:nvPr/>
        </p:nvSpPr>
        <p:spPr>
          <a:xfrm>
            <a:off x="6405372" y="3794760"/>
            <a:ext cx="3520440" cy="16002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CH"/>
          </a:p>
        </p:txBody>
      </p:sp>
      <p:sp>
        <p:nvSpPr>
          <p:cNvPr id="21" name="Text 19"/>
          <p:cNvSpPr/>
          <p:nvPr/>
        </p:nvSpPr>
        <p:spPr>
          <a:xfrm>
            <a:off x="6588252"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marL="0" indent="0">
              <a:buNone/>
            </a:pPr>
            <a:r>
              <a:rPr lang="en-US" sz="1400" dirty="0">
                <a:solidFill>
                  <a:srgbClr val="2A3F55"/>
                </a:solidFill>
                <a:latin typeface="Arial" pitchFamily="34" charset="0"/>
                <a:ea typeface="Arial" pitchFamily="34" charset="-122"/>
                <a:cs typeface="Arial" pitchFamily="34" charset="-120"/>
              </a:rPr>
              <a:t>Leave-one-out rank reversal; absolute-mode variant</a:t>
            </a:r>
            <a:endParaRPr lang="en-US" sz="14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marL="0" indent="0">
              <a:buNone/>
            </a:pPr>
            <a:r>
              <a:rPr lang="en-US" sz="1400" b="1" dirty="0">
                <a:solidFill>
                  <a:srgbClr val="D98E1F"/>
                </a:solidFill>
                <a:latin typeface="Courier New" pitchFamily="34" charset="0"/>
                <a:ea typeface="Courier New" pitchFamily="34" charset="-122"/>
                <a:cs typeface="Courier New" pitchFamily="34" charset="-120"/>
              </a:rPr>
              <a:t>reversal-free by construction</a:t>
            </a:r>
            <a:endParaRPr lang="en-US" sz="1400" dirty="0"/>
          </a:p>
        </p:txBody>
      </p:sp>
      <p:sp>
        <p:nvSpPr>
          <p:cNvPr id="24" name="Shape 22"/>
          <p:cNvSpPr/>
          <p:nvPr/>
        </p:nvSpPr>
        <p:spPr>
          <a:xfrm>
            <a:off x="685800" y="5897880"/>
            <a:ext cx="10789920" cy="713232"/>
          </a:xfrm>
          <a:prstGeom prst="rect">
            <a:avLst/>
          </a:prstGeom>
          <a:solidFill>
            <a:srgbClr val="F2F7F6"/>
          </a:solidFill>
          <a:ln/>
        </p:spPr>
        <p:txBody>
          <a:bodyPr/>
          <a:lstStyle/>
          <a:p>
            <a:endParaRPr lang="en-CH"/>
          </a:p>
        </p:txBody>
      </p:sp>
      <p:sp>
        <p:nvSpPr>
          <p:cNvPr id="25" name="Text 23"/>
          <p:cNvSpPr/>
          <p:nvPr/>
        </p:nvSpPr>
        <p:spPr>
          <a:xfrm>
            <a:off x="886968" y="597103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Weight sensitivity 2025: τ = 1.000 (identical order)</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Weight sensitivity 2024: τ = 0.867 (one swap at the top)</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Temporal 2025 vs 2024: τ = 0.600 / 0.733, tracking real profile change, above all SVC-06's broad deterioration</a:t>
            </a:r>
            <a:endParaRPr lang="en-US" sz="1500" dirty="0"/>
          </a:p>
          <a:p>
            <a:pPr marL="177800" indent="-177800">
              <a:lnSpc>
                <a:spcPct val="112000"/>
              </a:lnSpc>
              <a:spcAft>
                <a:spcPts val="1000"/>
              </a:spcAft>
              <a:buSzPct val="100000"/>
              <a:buChar char="•"/>
            </a:pPr>
            <a:r>
              <a:rPr lang="en-US" sz="1500" b="1" dirty="0">
                <a:solidFill>
                  <a:srgbClr val="14283C"/>
                </a:solidFill>
                <a:latin typeface="Arial" pitchFamily="34" charset="0"/>
                <a:ea typeface="Arial" pitchFamily="34" charset="-122"/>
                <a:cs typeface="Arial" pitchFamily="34" charset="-120"/>
              </a:rPr>
              <a:t>The lowest-priority position is identical in every run</a:t>
            </a:r>
            <a:endParaRPr lang="en-US" sz="1500" dirty="0"/>
          </a:p>
        </p:txBody>
      </p:sp>
      <p:sp>
        <p:nvSpPr>
          <p:cNvPr id="6" name="Shape 4"/>
          <p:cNvSpPr/>
          <p:nvPr/>
        </p:nvSpPr>
        <p:spPr>
          <a:xfrm>
            <a:off x="6583680" y="1828800"/>
            <a:ext cx="4892040" cy="3383280"/>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7" name="Text 5"/>
          <p:cNvSpPr/>
          <p:nvPr/>
        </p:nvSpPr>
        <p:spPr>
          <a:xfrm>
            <a:off x="6858000" y="2057400"/>
            <a:ext cx="4389120" cy="274320"/>
          </a:xfrm>
          <a:prstGeom prst="rect">
            <a:avLst/>
          </a:prstGeom>
          <a:noFill/>
          <a:ln/>
        </p:spPr>
        <p:txBody>
          <a:bodyPr wrap="square" lIns="0" tIns="0" rIns="0" bIns="0" rtlCol="0" anchor="ctr"/>
          <a:lstStyle/>
          <a:p>
            <a:pPr marL="0" indent="0">
              <a:buNone/>
            </a:pPr>
            <a:r>
              <a:rPr lang="en-US" sz="1400" b="1" kern="0" spc="200" dirty="0">
                <a:solidFill>
                  <a:srgbClr val="5C7186"/>
                </a:solidFill>
                <a:latin typeface="Courier New" pitchFamily="34" charset="0"/>
                <a:ea typeface="Courier New" pitchFamily="34" charset="-122"/>
                <a:cs typeface="Courier New" pitchFamily="34" charset="-120"/>
              </a:rPr>
              <a:t>FULL WEIGHT SPACE · 20,000 DRAWS</a:t>
            </a:r>
            <a:endParaRPr lang="en-US" sz="14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marL="0" indent="0">
              <a:buNone/>
            </a:pPr>
            <a:r>
              <a:rPr lang="en-US" sz="6000" b="1" dirty="0">
                <a:solidFill>
                  <a:srgbClr val="14283C"/>
                </a:solidFill>
                <a:latin typeface="Courier New" pitchFamily="34" charset="0"/>
                <a:ea typeface="Courier New" pitchFamily="34" charset="-122"/>
                <a:cs typeface="Courier New" pitchFamily="34" charset="-120"/>
              </a:rPr>
              <a:t>98.3%</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marL="0" indent="0">
              <a:lnSpc>
                <a:spcPct val="115000"/>
              </a:lnSpc>
              <a:buNone/>
            </a:pPr>
            <a:r>
              <a:rPr lang="en-US" sz="1400" dirty="0">
                <a:solidFill>
                  <a:srgbClr val="2A3F55"/>
                </a:solidFill>
                <a:latin typeface="Arial" pitchFamily="34" charset="0"/>
                <a:ea typeface="Arial" pitchFamily="34" charset="-122"/>
                <a:cs typeface="Arial" pitchFamily="34" charset="-120"/>
              </a:rPr>
              <a:t>of all admissible weightings place SVC-03 last, and rank 1 falls to SVC-01, SVC-06 or SVC-04 in every single draw (41%, 32%, 27%). The bottom is weight-independent; the single top rank is a property of the cluster.</a:t>
            </a:r>
            <a:endParaRPr lang="en-US" sz="1400" dirty="0"/>
          </a:p>
        </p:txBody>
      </p:sp>
      <p:sp>
        <p:nvSpPr>
          <p:cNvPr id="10" name="Shape 8"/>
          <p:cNvSpPr/>
          <p:nvPr/>
        </p:nvSpPr>
        <p:spPr>
          <a:xfrm>
            <a:off x="685800" y="5806440"/>
            <a:ext cx="10789920" cy="713232"/>
          </a:xfrm>
          <a:prstGeom prst="rect">
            <a:avLst/>
          </a:prstGeom>
          <a:solidFill>
            <a:srgbClr val="F2F7F6"/>
          </a:solidFill>
          <a:ln/>
        </p:spPr>
        <p:txBody>
          <a:bodyPr/>
          <a:lstStyle/>
          <a:p>
            <a:endParaRPr lang="en-CH"/>
          </a:p>
        </p:txBody>
      </p:sp>
      <p:sp>
        <p:nvSpPr>
          <p:cNvPr id="11" name="Text 9"/>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Against a ranking by incident frequency alone:  </a:t>
            </a:r>
            <a:r>
              <a:rPr lang="en-US" sz="1500" b="1" dirty="0">
                <a:solidFill>
                  <a:srgbClr val="14283C"/>
                </a:solidFill>
                <a:latin typeface="Courier New" pitchFamily="34" charset="0"/>
                <a:ea typeface="Courier New" pitchFamily="34" charset="-122"/>
                <a:cs typeface="Courier New" pitchFamily="34" charset="-120"/>
              </a:rPr>
              <a:t>τ = 0.467</a:t>
            </a:r>
            <a:r>
              <a:rPr lang="en-US" sz="1500" dirty="0">
                <a:solidFill>
                  <a:srgbClr val="14283C"/>
                </a:solidFill>
                <a:latin typeface="Arial" pitchFamily="34" charset="0"/>
                <a:ea typeface="Arial" pitchFamily="34" charset="-122"/>
                <a:cs typeface="Arial" pitchFamily="34" charset="-120"/>
              </a:rPr>
              <a:t> (2025),  </a:t>
            </a:r>
            <a:r>
              <a:rPr lang="en-US" sz="1500" b="1" dirty="0">
                <a:solidFill>
                  <a:srgbClr val="14283C"/>
                </a:solidFill>
                <a:latin typeface="Courier New" pitchFamily="34" charset="0"/>
                <a:ea typeface="Courier New" pitchFamily="34" charset="-122"/>
                <a:cs typeface="Courier New" pitchFamily="34" charset="-120"/>
              </a:rPr>
              <a:t>τ = 0.333</a:t>
            </a: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CH"/>
          </a:p>
        </p:txBody>
      </p:sp>
      <p:sp>
        <p:nvSpPr>
          <p:cNvPr id="6" name="Text 4"/>
          <p:cNvSpPr/>
          <p:nvPr/>
        </p:nvSpPr>
        <p:spPr>
          <a:xfrm>
            <a:off x="914400" y="2606040"/>
            <a:ext cx="4800600" cy="320040"/>
          </a:xfrm>
          <a:prstGeom prst="rect">
            <a:avLst/>
          </a:prstGeom>
          <a:noFill/>
          <a:ln/>
        </p:spPr>
        <p:txBody>
          <a:bodyPr wrap="square" lIns="0" tIns="0" rIns="0" bIns="0" rtlCol="0" anchor="ctr"/>
          <a:lstStyle/>
          <a:p>
            <a:pPr marL="0" indent="0">
              <a:buNone/>
            </a:pPr>
            <a:r>
              <a:rPr lang="en-US" sz="1600" b="1" dirty="0">
                <a:solidFill>
                  <a:srgbClr val="D98E1F"/>
                </a:solidFill>
                <a:latin typeface="Arial" pitchFamily="34" charset="0"/>
                <a:ea typeface="Arial" pitchFamily="34" charset="-122"/>
                <a:cs typeface="Arial" pitchFamily="34" charset="-120"/>
              </a:rPr>
              <a:t>SVC-01 rises, fourth to first</a:t>
            </a:r>
            <a:endParaRPr lang="en-US" sz="16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marL="0" indent="0">
              <a:lnSpc>
                <a:spcPct val="115000"/>
              </a:lnSpc>
              <a:buNone/>
            </a:pPr>
            <a:r>
              <a:rPr lang="en-US" sz="1400" dirty="0">
                <a:solidFill>
                  <a:srgbClr val="2A3F55"/>
                </a:solidFill>
                <a:latin typeface="Arial" pitchFamily="34" charset="0"/>
                <a:ea typeface="Arial" pitchFamily="34" charset="-122"/>
                <a:cs typeface="Arial" pitchFamily="34" charset="-120"/>
              </a:rPr>
              <a:t>Infrastructure lifecycle debt (4,210 unsupported component months, patch recency 63.18) is invisible to an incident count. This is precisely the signal the framework was built to surface.</a:t>
            </a:r>
            <a:endParaRPr lang="en-US" sz="1400" dirty="0"/>
          </a:p>
        </p:txBody>
      </p:sp>
      <p:sp>
        <p:nvSpPr>
          <p:cNvPr id="8" name="Shape 6"/>
          <p:cNvSpPr/>
          <p:nvPr/>
        </p:nvSpPr>
        <p:spPr>
          <a:xfrm>
            <a:off x="6217920" y="2423160"/>
            <a:ext cx="5257800" cy="22860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9" name="Text 7"/>
          <p:cNvSpPr/>
          <p:nvPr/>
        </p:nvSpPr>
        <p:spPr>
          <a:xfrm>
            <a:off x="6446520" y="2606040"/>
            <a:ext cx="480060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SVC-05 falls, third to fifth</a:t>
            </a:r>
            <a:endParaRPr lang="en-US" sz="16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marL="0" indent="0">
              <a:lnSpc>
                <a:spcPct val="115000"/>
              </a:lnSpc>
              <a:buNone/>
            </a:pPr>
            <a:r>
              <a:rPr lang="en-US" sz="14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400" dirty="0"/>
          </a:p>
        </p:txBody>
      </p:sp>
      <p:sp>
        <p:nvSpPr>
          <p:cNvPr id="11" name="Shape 9"/>
          <p:cNvSpPr/>
          <p:nvPr/>
        </p:nvSpPr>
        <p:spPr>
          <a:xfrm>
            <a:off x="685800" y="5850400"/>
            <a:ext cx="10789920" cy="713232"/>
          </a:xfrm>
          <a:prstGeom prst="rect">
            <a:avLst/>
          </a:prstGeom>
          <a:solidFill>
            <a:srgbClr val="F2F7F6"/>
          </a:solidFill>
          <a:ln/>
        </p:spPr>
        <p:txBody>
          <a:bodyPr/>
          <a:lstStyle/>
          <a:p>
            <a:endParaRPr lang="en-CH"/>
          </a:p>
        </p:txBody>
      </p:sp>
      <p:sp>
        <p:nvSpPr>
          <p:cNvPr id="12" name="Text 10"/>
          <p:cNvSpPr/>
          <p:nvPr/>
        </p:nvSpPr>
        <p:spPr>
          <a:xfrm>
            <a:off x="886968" y="592355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612472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t>
            </a:r>
            <a:r>
              <a:rPr lang="en-US" sz="1250" dirty="0" err="1">
                <a:solidFill>
                  <a:srgbClr val="14283C"/>
                </a:solidFill>
                <a:latin typeface="Arial" pitchFamily="34" charset="0"/>
                <a:ea typeface="Arial" pitchFamily="34" charset="-122"/>
                <a:cs typeface="Arial" pitchFamily="34" charset="-120"/>
              </a:rPr>
              <a:t>Albarak</a:t>
            </a:r>
            <a:r>
              <a:rPr lang="en-US" sz="1250" dirty="0">
                <a:solidFill>
                  <a:srgbClr val="14283C"/>
                </a:solidFill>
                <a:latin typeface="Arial" pitchFamily="34" charset="0"/>
                <a:ea typeface="Arial" pitchFamily="34" charset="-122"/>
                <a:cs typeface="Arial" pitchFamily="34" charset="-120"/>
              </a:rPr>
              <a:t> </a:t>
            </a:r>
            <a:r>
              <a:rPr lang="en-US" sz="1250" i="1" dirty="0">
                <a:solidFill>
                  <a:srgbClr val="14283C"/>
                </a:solidFill>
                <a:latin typeface="Arial" pitchFamily="34" charset="0"/>
                <a:ea typeface="Arial" pitchFamily="34" charset="-122"/>
                <a:cs typeface="Arial" pitchFamily="34" charset="-120"/>
              </a:rPr>
              <a:t>et al.</a:t>
            </a:r>
            <a:r>
              <a:rPr lang="en-US" sz="1250" dirty="0">
                <a:solidFill>
                  <a:srgbClr val="14283C"/>
                </a:solidFill>
                <a:latin typeface="Arial" pitchFamily="34" charset="0"/>
                <a:ea typeface="Arial" pitchFamily="34" charset="-122"/>
                <a:cs typeface="Arial" pitchFamily="34" charset="-120"/>
              </a:rPr>
              <a:t>,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In 2025 all methods agree exactly under equal weights, with SVC-01 first. The one disagreement is the 2024 equal-weights top rank, and it is a </a:t>
            </a:r>
            <a:r>
              <a:rPr lang="en-US" sz="1500" b="1" dirty="0">
                <a:solidFill>
                  <a:srgbClr val="D98E1F"/>
                </a:solidFill>
                <a:latin typeface="Arial" pitchFamily="34" charset="0"/>
                <a:ea typeface="Arial" pitchFamily="34" charset="-122"/>
                <a:cs typeface="Arial" pitchFamily="34" charset="-120"/>
              </a:rPr>
              <a:t>photo-finish.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2674304687"/>
              </p:ext>
            </p:extLst>
          </p:nvPr>
        </p:nvGraphicFramePr>
        <p:xfrm>
          <a:off x="685800" y="2377440"/>
          <a:ext cx="7589520" cy="2188464"/>
        </p:xfrm>
        <a:graphic>
          <a:graphicData uri="http://schemas.openxmlformats.org/drawingml/2006/table">
            <a:tbl>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14283C"/>
                          </a:solidFill>
                          <a:latin typeface="Arial" pitchFamily="34" charset="0"/>
                          <a:ea typeface="Arial" pitchFamily="34" charset="-122"/>
                          <a:cs typeface="Arial" pitchFamily="34" charset="-120"/>
                        </a:rPr>
                        <a:t>2024, equal weights</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TOPSIS classic</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SAW · VIKOR · TOPSIS absolute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Top-ranked service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SVC-04 (C* = 0.4847)</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Margin</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ΔC* = 0.004 to SVC-01 (0.4886)</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Each worst on exactly 2 criteria</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Agreement</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vs SAW τ = 0.600</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absolute vs VIKOR τ = 1.000</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2025 and 2024 adjusted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 first under every method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549640" y="2377439"/>
            <a:ext cx="2926080" cy="2458329"/>
          </a:xfrm>
          <a:prstGeom prst="rect">
            <a:avLst/>
          </a:prstGeom>
          <a:solidFill>
            <a:srgbClr val="FBF4E8"/>
          </a:solidFill>
          <a:ln/>
        </p:spPr>
        <p:txBody>
          <a:bodyPr/>
          <a:lstStyle/>
          <a:p>
            <a:endParaRPr lang="en-CH"/>
          </a:p>
        </p:txBody>
      </p:sp>
      <p:sp>
        <p:nvSpPr>
          <p:cNvPr id="7" name="Text 4"/>
          <p:cNvSpPr/>
          <p:nvPr/>
        </p:nvSpPr>
        <p:spPr>
          <a:xfrm>
            <a:off x="8732520" y="2514600"/>
            <a:ext cx="2560320" cy="228600"/>
          </a:xfrm>
          <a:prstGeom prst="rect">
            <a:avLst/>
          </a:prstGeom>
          <a:noFill/>
          <a:ln/>
        </p:spPr>
        <p:txBody>
          <a:bodyPr wrap="square" lIns="0" tIns="0" rIns="0" bIns="0" rtlCol="0" anchor="ctr"/>
          <a:lstStyle/>
          <a:p>
            <a:pPr marL="0" indent="0">
              <a:buNone/>
            </a:pPr>
            <a:r>
              <a:rPr lang="en-US" sz="1400" b="1" kern="0" spc="200" dirty="0">
                <a:solidFill>
                  <a:srgbClr val="D98E1F"/>
                </a:solidFill>
                <a:latin typeface="Courier New" pitchFamily="34" charset="0"/>
                <a:ea typeface="Courier New" pitchFamily="34" charset="-122"/>
                <a:cs typeface="Courier New" pitchFamily="34" charset="-120"/>
              </a:rPr>
              <a:t>MECHANISM</a:t>
            </a:r>
            <a:endParaRPr lang="en-US" sz="14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Both are worst on exactly two criteria. SVC-04 is perfect on the other two; SVC-01 is only good. Linear aggregation puts SVC-01 first; vector normalisation, preserving SVC-04’s outlying 410 incidents, reverses the pair by 0.004.</a:t>
            </a:r>
            <a:endParaRPr lang="en-US" sz="1400" dirty="0"/>
          </a:p>
        </p:txBody>
      </p:sp>
      <p:sp>
        <p:nvSpPr>
          <p:cNvPr id="9" name="Shape 6"/>
          <p:cNvSpPr/>
          <p:nvPr/>
        </p:nvSpPr>
        <p:spPr>
          <a:xfrm>
            <a:off x="685800" y="5822267"/>
            <a:ext cx="10789920" cy="713232"/>
          </a:xfrm>
          <a:prstGeom prst="rect">
            <a:avLst/>
          </a:prstGeom>
          <a:solidFill>
            <a:srgbClr val="F2F7F6"/>
          </a:solidFill>
          <a:ln/>
        </p:spPr>
        <p:txBody>
          <a:bodyPr/>
          <a:lstStyle/>
          <a:p>
            <a:endParaRPr lang="en-CH"/>
          </a:p>
        </p:txBody>
      </p:sp>
      <p:sp>
        <p:nvSpPr>
          <p:cNvPr id="10" name="Text 7"/>
          <p:cNvSpPr/>
          <p:nvPr/>
        </p:nvSpPr>
        <p:spPr>
          <a:xfrm>
            <a:off x="886968" y="5895419"/>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6096587"/>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A 0.004 margin decided by normalisation, not by a real gap. Three of four scorers say SVC-01. The framework reports the photo-finish rather than hiding it; by 2025 every method agrees.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Primary prioritisation signal</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Triangulation, not a single number: where scorers split by 0.004, the margin is too small to carry a remediation decision</a:t>
            </a:r>
            <a:endParaRPr lang="en-US" sz="150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Rank-reversal free by construction: every leave-one-out removal preserved, where the classic top rank flips (García-Cascales &amp; Lamata 2012; Yang 2020)</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500" dirty="0"/>
          </a:p>
          <a:p>
            <a:pPr marL="177800" indent="-177800">
              <a:lnSpc>
                <a:spcPct val="112000"/>
              </a:lnSpc>
              <a:spcAft>
                <a:spcPts val="1000"/>
              </a:spcAft>
              <a:buSzPct val="100000"/>
              <a:buChar char="•"/>
            </a:pPr>
            <a:r>
              <a:rPr lang="en-US" sz="1500" dirty="0">
                <a:solidFill>
                  <a:srgbClr val="14283C"/>
                </a:solidFill>
                <a:latin typeface="Arial" pitchFamily="34" charset="0"/>
                <a:ea typeface="Arial" pitchFamily="34" charset="-122"/>
                <a:cs typeface="Arial" pitchFamily="34" charset="-120"/>
              </a:rPr>
              <a:t>Complementary perspective; also powers the Monte Carlo cleanly</a:t>
            </a:r>
            <a:endParaRPr lang="en-US" sz="1500" dirty="0"/>
          </a:p>
        </p:txBody>
      </p:sp>
      <p:sp>
        <p:nvSpPr>
          <p:cNvPr id="8" name="Shape 6"/>
          <p:cNvSpPr/>
          <p:nvPr/>
        </p:nvSpPr>
        <p:spPr>
          <a:xfrm>
            <a:off x="685800" y="5822265"/>
            <a:ext cx="10789920" cy="713232"/>
          </a:xfrm>
          <a:prstGeom prst="rect">
            <a:avLst/>
          </a:prstGeom>
          <a:solidFill>
            <a:srgbClr val="F2F7F6"/>
          </a:solidFill>
          <a:ln/>
        </p:spPr>
        <p:txBody>
          <a:bodyPr/>
          <a:lstStyle/>
          <a:p>
            <a:endParaRPr lang="en-CH"/>
          </a:p>
        </p:txBody>
      </p:sp>
      <p:sp>
        <p:nvSpPr>
          <p:cNvPr id="9" name="Text 7"/>
          <p:cNvSpPr/>
          <p:nvPr/>
        </p:nvSpPr>
        <p:spPr>
          <a:xfrm>
            <a:off x="886968" y="5895417"/>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96585"/>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single top rank is contested within the SVC-01, SVC-04, SVC-06 cluster across the weight space: a compensability judgement the framework informs but does not settle,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600" b="1" dirty="0">
                <a:solidFill>
                  <a:srgbClr val="D98E1F"/>
                </a:solidFill>
                <a:latin typeface="Courier New" pitchFamily="34" charset="0"/>
                <a:ea typeface="Courier New" pitchFamily="34" charset="-122"/>
                <a:cs typeface="Courier New" pitchFamily="34" charset="-120"/>
              </a:rPr>
              <a:t>Q  </a:t>
            </a:r>
            <a:r>
              <a:rPr lang="en-US" sz="1600" b="1" dirty="0">
                <a:solidFill>
                  <a:srgbClr val="14283C"/>
                </a:solidFill>
                <a:latin typeface="Arial" pitchFamily="34" charset="0"/>
                <a:ea typeface="Arial" pitchFamily="34" charset="-122"/>
                <a:cs typeface="Arial" pitchFamily="34" charset="-120"/>
              </a:rPr>
              <a:t>Only six services: what can that prove?</a:t>
            </a:r>
            <a:endParaRPr lang="en-US" sz="1600" dirty="0"/>
          </a:p>
        </p:txBody>
      </p:sp>
      <p:sp>
        <p:nvSpPr>
          <p:cNvPr id="5" name="Text 3"/>
          <p:cNvSpPr/>
          <p:nvPr/>
        </p:nvSpPr>
        <p:spPr>
          <a:xfrm>
            <a:off x="1188720" y="2315473"/>
            <a:ext cx="10149840" cy="563763"/>
          </a:xfrm>
          <a:prstGeom prst="rect">
            <a:avLst/>
          </a:prstGeom>
          <a:noFill/>
          <a:ln/>
        </p:spPr>
        <p:txBody>
          <a:bodyPr wrap="square" lIns="0" tIns="0" rIns="0" bIns="0" rtlCol="0" anchor="t"/>
          <a:lstStyle/>
          <a:p>
            <a:pPr marL="0" indent="0">
              <a:lnSpc>
                <a:spcPct val="112000"/>
              </a:lnSpc>
              <a:buNone/>
            </a:pPr>
            <a:r>
              <a:rPr lang="en-US" sz="150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500" dirty="0"/>
          </a:p>
        </p:txBody>
      </p:sp>
      <p:sp>
        <p:nvSpPr>
          <p:cNvPr id="6" name="Text 4"/>
          <p:cNvSpPr/>
          <p:nvPr/>
        </p:nvSpPr>
        <p:spPr>
          <a:xfrm>
            <a:off x="685800" y="3043053"/>
            <a:ext cx="10789920" cy="347472"/>
          </a:xfrm>
          <a:prstGeom prst="rect">
            <a:avLst/>
          </a:prstGeom>
          <a:noFill/>
          <a:ln/>
        </p:spPr>
        <p:txBody>
          <a:bodyPr wrap="square" lIns="0" tIns="0" rIns="0" bIns="0" rtlCol="0" anchor="ctr"/>
          <a:lstStyle/>
          <a:p>
            <a:pPr marL="0" indent="0">
              <a:buNone/>
            </a:pPr>
            <a:r>
              <a:rPr lang="en-US" sz="1600" b="1" dirty="0">
                <a:solidFill>
                  <a:srgbClr val="D98E1F"/>
                </a:solidFill>
                <a:latin typeface="Courier New" pitchFamily="34" charset="0"/>
                <a:ea typeface="Courier New" pitchFamily="34" charset="-122"/>
                <a:cs typeface="Courier New" pitchFamily="34" charset="-120"/>
              </a:rPr>
              <a:t>Q  </a:t>
            </a:r>
            <a:r>
              <a:rPr lang="en-US" sz="1600" b="1" dirty="0">
                <a:solidFill>
                  <a:srgbClr val="14283C"/>
                </a:solidFill>
                <a:latin typeface="Arial" pitchFamily="34" charset="0"/>
                <a:ea typeface="Arial" pitchFamily="34" charset="-122"/>
                <a:cs typeface="Arial" pitchFamily="34" charset="-120"/>
              </a:rPr>
              <a:t>You built and evaluated on the same data. Circular?</a:t>
            </a:r>
            <a:endParaRPr lang="en-US" sz="1600" dirty="0"/>
          </a:p>
        </p:txBody>
      </p:sp>
      <p:sp>
        <p:nvSpPr>
          <p:cNvPr id="7" name="Text 5"/>
          <p:cNvSpPr/>
          <p:nvPr/>
        </p:nvSpPr>
        <p:spPr>
          <a:xfrm>
            <a:off x="1188720" y="3484006"/>
            <a:ext cx="10149840" cy="768096"/>
          </a:xfrm>
          <a:prstGeom prst="rect">
            <a:avLst/>
          </a:prstGeom>
          <a:noFill/>
          <a:ln/>
        </p:spPr>
        <p:txBody>
          <a:bodyPr wrap="square" lIns="0" tIns="0" rIns="0" bIns="0" rtlCol="0" anchor="t"/>
          <a:lstStyle/>
          <a:p>
            <a:pPr marL="0" indent="0">
              <a:lnSpc>
                <a:spcPct val="112000"/>
              </a:lnSpc>
              <a:buNone/>
            </a:pPr>
            <a:r>
              <a:rPr lang="en-US" sz="150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500" dirty="0"/>
          </a:p>
        </p:txBody>
      </p:sp>
      <p:sp>
        <p:nvSpPr>
          <p:cNvPr id="8" name="Text 6"/>
          <p:cNvSpPr/>
          <p:nvPr/>
        </p:nvSpPr>
        <p:spPr>
          <a:xfrm>
            <a:off x="685800" y="4415919"/>
            <a:ext cx="10789920" cy="347472"/>
          </a:xfrm>
          <a:prstGeom prst="rect">
            <a:avLst/>
          </a:prstGeom>
          <a:noFill/>
          <a:ln/>
        </p:spPr>
        <p:txBody>
          <a:bodyPr wrap="square" lIns="0" tIns="0" rIns="0" bIns="0" rtlCol="0" anchor="ctr"/>
          <a:lstStyle/>
          <a:p>
            <a:pPr marL="0" indent="0">
              <a:buNone/>
            </a:pPr>
            <a:r>
              <a:rPr lang="en-US" sz="1600" b="1" dirty="0">
                <a:solidFill>
                  <a:srgbClr val="D98E1F"/>
                </a:solidFill>
                <a:latin typeface="Courier New" pitchFamily="34" charset="0"/>
                <a:ea typeface="Courier New" pitchFamily="34" charset="-122"/>
                <a:cs typeface="Courier New" pitchFamily="34" charset="-120"/>
              </a:rPr>
              <a:t>Q  </a:t>
            </a:r>
            <a:r>
              <a:rPr lang="en-US" sz="1600" b="1" dirty="0">
                <a:solidFill>
                  <a:srgbClr val="14283C"/>
                </a:solidFill>
                <a:latin typeface="Arial" pitchFamily="34" charset="0"/>
                <a:ea typeface="Arial" pitchFamily="34" charset="-122"/>
                <a:cs typeface="Arial" pitchFamily="34" charset="-120"/>
              </a:rPr>
              <a:t>Are DORA metrics really debt proxies?</a:t>
            </a:r>
            <a:endParaRPr lang="en-US" sz="1600" dirty="0"/>
          </a:p>
        </p:txBody>
      </p:sp>
      <p:sp>
        <p:nvSpPr>
          <p:cNvPr id="9" name="Text 7"/>
          <p:cNvSpPr/>
          <p:nvPr/>
        </p:nvSpPr>
        <p:spPr>
          <a:xfrm>
            <a:off x="1188720" y="4856871"/>
            <a:ext cx="10149840" cy="805375"/>
          </a:xfrm>
          <a:prstGeom prst="rect">
            <a:avLst/>
          </a:prstGeom>
          <a:noFill/>
          <a:ln/>
        </p:spPr>
        <p:txBody>
          <a:bodyPr wrap="square" lIns="0" tIns="0" rIns="0" bIns="0" rtlCol="0" anchor="t"/>
          <a:lstStyle/>
          <a:p>
            <a:pPr>
              <a:lnSpc>
                <a:spcPct val="112000"/>
              </a:lnSpc>
            </a:pPr>
            <a:r>
              <a:rPr lang="en-US" sz="1500" dirty="0">
                <a:solidFill>
                  <a:srgbClr val="2A3F55"/>
                </a:solidFill>
                <a:latin typeface="Arial" pitchFamily="34" charset="0"/>
                <a:ea typeface="Arial" pitchFamily="34" charset="-122"/>
                <a:cs typeface="Arial" pitchFamily="34" charset="-120"/>
              </a:rPr>
              <a:t>Treated as the central testable hypothesis, never a premise. Forsgren </a:t>
            </a:r>
            <a:r>
              <a:rPr lang="en-US" sz="1500" i="1" dirty="0">
                <a:solidFill>
                  <a:srgbClr val="2A3F55"/>
                </a:solidFill>
                <a:latin typeface="Arial" pitchFamily="34" charset="0"/>
                <a:ea typeface="Arial" pitchFamily="34" charset="-122"/>
                <a:cs typeface="Arial" pitchFamily="34" charset="-120"/>
              </a:rPr>
              <a:t>et al. </a:t>
            </a:r>
            <a:r>
              <a:rPr lang="en-US" sz="1500" dirty="0">
                <a:solidFill>
                  <a:srgbClr val="2A3F55"/>
                </a:solidFill>
                <a:latin typeface="Arial" pitchFamily="34" charset="0"/>
                <a:ea typeface="Arial" pitchFamily="34" charset="-122"/>
                <a:cs typeface="Arial" pitchFamily="34" charset="-120"/>
              </a:rPr>
              <a:t>(2018) validate the metrics; Nord, </a:t>
            </a:r>
            <a:r>
              <a:rPr lang="en-US" sz="1500" dirty="0" err="1">
                <a:solidFill>
                  <a:srgbClr val="2A3F55"/>
                </a:solidFill>
                <a:latin typeface="Arial" pitchFamily="34" charset="0"/>
                <a:ea typeface="Arial" pitchFamily="34" charset="-122"/>
                <a:cs typeface="Arial" pitchFamily="34" charset="-120"/>
              </a:rPr>
              <a:t>Ozkaya</a:t>
            </a:r>
            <a:r>
              <a:rPr lang="en-US" sz="1500" dirty="0">
                <a:solidFill>
                  <a:srgbClr val="2A3F55"/>
                </a:solidFill>
                <a:latin typeface="Arial" pitchFamily="34" charset="0"/>
                <a:ea typeface="Arial" pitchFamily="34" charset="-122"/>
                <a:cs typeface="Arial" pitchFamily="34" charset="-120"/>
              </a:rPr>
              <a:t> and Woody (2021) ground the diagnostic reading; the rankings match literature-predicted profiles. Longitudinal tracking would move it from plausible to evidenced.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600" b="1" dirty="0">
                <a:solidFill>
                  <a:srgbClr val="D98E1F"/>
                </a:solidFill>
                <a:latin typeface="Courier New" pitchFamily="34" charset="0"/>
                <a:ea typeface="Courier New" pitchFamily="34" charset="-122"/>
                <a:cs typeface="Courier New" pitchFamily="34" charset="-120"/>
              </a:rPr>
              <a:t>Q  </a:t>
            </a:r>
            <a:r>
              <a:rPr lang="en-US" sz="1600" b="1" dirty="0">
                <a:solidFill>
                  <a:srgbClr val="14283C"/>
                </a:solidFill>
                <a:latin typeface="Arial" pitchFamily="34" charset="0"/>
                <a:ea typeface="Arial" pitchFamily="34" charset="-122"/>
                <a:cs typeface="Arial" pitchFamily="34" charset="-120"/>
              </a:rPr>
              <a:t>Aren't the differential weights arbitrary?</a:t>
            </a:r>
            <a:endParaRPr lang="en-US" sz="1600" dirty="0"/>
          </a:p>
        </p:txBody>
      </p:sp>
      <p:sp>
        <p:nvSpPr>
          <p:cNvPr id="5" name="Text 3"/>
          <p:cNvSpPr/>
          <p:nvPr/>
        </p:nvSpPr>
        <p:spPr>
          <a:xfrm>
            <a:off x="1188720" y="2256929"/>
            <a:ext cx="10149840" cy="749804"/>
          </a:xfrm>
          <a:prstGeom prst="rect">
            <a:avLst/>
          </a:prstGeom>
          <a:noFill/>
          <a:ln/>
        </p:spPr>
        <p:txBody>
          <a:bodyPr wrap="square" lIns="0" tIns="0" rIns="0" bIns="0" rtlCol="0" anchor="t"/>
          <a:lstStyle/>
          <a:p>
            <a:pPr marL="0" indent="0">
              <a:lnSpc>
                <a:spcPct val="112000"/>
              </a:lnSpc>
              <a:buNone/>
            </a:pPr>
            <a:r>
              <a:rPr lang="en-US" sz="150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across 20,000 Dirichlet-sampled weightings the lowest priority holds in 98.3% of draws and rank 1 stays inside the same three-service cluster in all of them.</a:t>
            </a:r>
            <a:endParaRPr lang="en-US" sz="1500" dirty="0"/>
          </a:p>
        </p:txBody>
      </p:sp>
      <p:sp>
        <p:nvSpPr>
          <p:cNvPr id="6" name="Text 4"/>
          <p:cNvSpPr/>
          <p:nvPr/>
        </p:nvSpPr>
        <p:spPr>
          <a:xfrm>
            <a:off x="685800" y="3112006"/>
            <a:ext cx="10789920" cy="347472"/>
          </a:xfrm>
          <a:prstGeom prst="rect">
            <a:avLst/>
          </a:prstGeom>
          <a:noFill/>
          <a:ln/>
        </p:spPr>
        <p:txBody>
          <a:bodyPr wrap="square" lIns="0" tIns="0" rIns="0" bIns="0" rtlCol="0" anchor="ctr"/>
          <a:lstStyle/>
          <a:p>
            <a:pPr marL="0" indent="0">
              <a:buNone/>
            </a:pPr>
            <a:r>
              <a:rPr lang="en-US" sz="1600" b="1" dirty="0">
                <a:solidFill>
                  <a:srgbClr val="D98E1F"/>
                </a:solidFill>
                <a:latin typeface="Courier New" pitchFamily="34" charset="0"/>
                <a:ea typeface="Courier New" pitchFamily="34" charset="-122"/>
                <a:cs typeface="Courier New" pitchFamily="34" charset="-120"/>
              </a:rPr>
              <a:t>Q  </a:t>
            </a:r>
            <a:r>
              <a:rPr lang="en-US" sz="1600" b="1" dirty="0">
                <a:solidFill>
                  <a:srgbClr val="14283C"/>
                </a:solidFill>
                <a:latin typeface="Arial" pitchFamily="34" charset="0"/>
                <a:ea typeface="Arial" pitchFamily="34" charset="-122"/>
                <a:cs typeface="Arial" pitchFamily="34" charset="-120"/>
              </a:rPr>
              <a:t>Could this be misused to judge teams?</a:t>
            </a:r>
            <a:endParaRPr lang="en-US" sz="1600" dirty="0"/>
          </a:p>
        </p:txBody>
      </p:sp>
      <p:sp>
        <p:nvSpPr>
          <p:cNvPr id="7" name="Text 5"/>
          <p:cNvSpPr/>
          <p:nvPr/>
        </p:nvSpPr>
        <p:spPr>
          <a:xfrm>
            <a:off x="1188720" y="3494416"/>
            <a:ext cx="10149840" cy="787438"/>
          </a:xfrm>
          <a:prstGeom prst="rect">
            <a:avLst/>
          </a:prstGeom>
          <a:noFill/>
          <a:ln/>
        </p:spPr>
        <p:txBody>
          <a:bodyPr wrap="square" lIns="0" tIns="0" rIns="0" bIns="0" rtlCol="0" anchor="t"/>
          <a:lstStyle/>
          <a:p>
            <a:pPr marL="0" indent="0">
              <a:lnSpc>
                <a:spcPct val="112000"/>
              </a:lnSpc>
              <a:buNone/>
            </a:pPr>
            <a:r>
              <a:rPr lang="en-US" sz="150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a:t>
            </a:r>
            <a:r>
              <a:rPr lang="en-US" sz="1500" i="1" dirty="0">
                <a:solidFill>
                  <a:srgbClr val="2A3F55"/>
                </a:solidFill>
                <a:latin typeface="Arial" pitchFamily="34" charset="0"/>
                <a:ea typeface="Arial" pitchFamily="34" charset="-122"/>
                <a:cs typeface="Arial" pitchFamily="34" charset="-120"/>
              </a:rPr>
              <a:t>et al.</a:t>
            </a:r>
            <a:r>
              <a:rPr lang="en-US" sz="1500" dirty="0">
                <a:solidFill>
                  <a:srgbClr val="2A3F55"/>
                </a:solidFill>
                <a:latin typeface="Arial" pitchFamily="34" charset="0"/>
                <a:ea typeface="Arial" pitchFamily="34" charset="-122"/>
                <a:cs typeface="Arial" pitchFamily="34" charset="-120"/>
              </a:rPr>
              <a:t>, 2026). No team, vendor or individual identifiers exist in the dataset.</a:t>
            </a:r>
            <a:endParaRPr lang="en-US" sz="1500" dirty="0"/>
          </a:p>
        </p:txBody>
      </p:sp>
      <p:sp>
        <p:nvSpPr>
          <p:cNvPr id="8" name="Shape 6"/>
          <p:cNvSpPr/>
          <p:nvPr/>
        </p:nvSpPr>
        <p:spPr>
          <a:xfrm>
            <a:off x="685800" y="5833868"/>
            <a:ext cx="10789920" cy="713232"/>
          </a:xfrm>
          <a:prstGeom prst="rect">
            <a:avLst/>
          </a:prstGeom>
          <a:solidFill>
            <a:srgbClr val="F2F7F6"/>
          </a:solidFill>
          <a:ln/>
        </p:spPr>
        <p:txBody>
          <a:bodyPr/>
          <a:lstStyle/>
          <a:p>
            <a:endParaRPr lang="en-CH"/>
          </a:p>
        </p:txBody>
      </p:sp>
      <p:sp>
        <p:nvSpPr>
          <p:cNvPr id="9" name="Text 7"/>
          <p:cNvSpPr/>
          <p:nvPr/>
        </p:nvSpPr>
        <p:spPr>
          <a:xfrm>
            <a:off x="886968" y="5907020"/>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108188"/>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txBody>
          <a:bodyPr/>
          <a:lstStyle/>
          <a:p>
            <a:endParaRPr lang="en-CH"/>
          </a:p>
        </p:txBody>
      </p:sp>
      <p:sp>
        <p:nvSpPr>
          <p:cNvPr id="5" name="Text 3"/>
          <p:cNvSpPr/>
          <p:nvPr/>
        </p:nvSpPr>
        <p:spPr>
          <a:xfrm>
            <a:off x="685800" y="1929384"/>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marL="0" indent="0">
              <a:lnSpc>
                <a:spcPct val="112000"/>
              </a:lnSpc>
              <a:buNone/>
            </a:pPr>
            <a:r>
              <a:rPr lang="en-US" sz="1500" b="1" dirty="0">
                <a:solidFill>
                  <a:srgbClr val="14283C"/>
                </a:solidFill>
                <a:latin typeface="Arial" pitchFamily="34" charset="0"/>
                <a:ea typeface="Arial" pitchFamily="34" charset="-122"/>
                <a:cs typeface="Arial" pitchFamily="34" charset="-120"/>
              </a:rPr>
              <a:t>First application: </a:t>
            </a:r>
            <a:r>
              <a:rPr lang="en-US" sz="15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a:t>
            </a:r>
            <a:r>
              <a:rPr lang="en-US" sz="1500" i="1" dirty="0">
                <a:solidFill>
                  <a:srgbClr val="14283C"/>
                </a:solidFill>
                <a:latin typeface="Arial" pitchFamily="34" charset="0"/>
                <a:ea typeface="Arial" pitchFamily="34" charset="-122"/>
                <a:cs typeface="Arial" pitchFamily="34" charset="-120"/>
              </a:rPr>
              <a:t>et al.</a:t>
            </a:r>
            <a:r>
              <a:rPr lang="en-US" sz="1500" dirty="0">
                <a:solidFill>
                  <a:srgbClr val="14283C"/>
                </a:solidFill>
                <a:latin typeface="Arial" pitchFamily="34" charset="0"/>
                <a:ea typeface="Arial" pitchFamily="34" charset="-122"/>
                <a:cs typeface="Arial" pitchFamily="34" charset="-120"/>
              </a:rPr>
              <a:t> (2021) identify field-wide</a:t>
            </a:r>
            <a:endParaRPr lang="en-US" sz="1500" dirty="0"/>
          </a:p>
        </p:txBody>
      </p:sp>
      <p:sp>
        <p:nvSpPr>
          <p:cNvPr id="7" name="Shape 5"/>
          <p:cNvSpPr/>
          <p:nvPr/>
        </p:nvSpPr>
        <p:spPr>
          <a:xfrm>
            <a:off x="685800" y="3099816"/>
            <a:ext cx="457200" cy="457200"/>
          </a:xfrm>
          <a:prstGeom prst="ellipse">
            <a:avLst/>
          </a:prstGeom>
          <a:solidFill>
            <a:srgbClr val="14283C"/>
          </a:solidFill>
          <a:ln/>
        </p:spPr>
        <p:txBody>
          <a:bodyPr/>
          <a:lstStyle/>
          <a:p>
            <a:endParaRPr lang="en-CH"/>
          </a:p>
        </p:txBody>
      </p:sp>
      <p:sp>
        <p:nvSpPr>
          <p:cNvPr id="8" name="Text 6"/>
          <p:cNvSpPr/>
          <p:nvPr/>
        </p:nvSpPr>
        <p:spPr>
          <a:xfrm>
            <a:off x="685800" y="3099816"/>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marL="0" indent="0">
              <a:lnSpc>
                <a:spcPct val="112000"/>
              </a:lnSpc>
              <a:buNone/>
            </a:pPr>
            <a:r>
              <a:rPr lang="en-US" sz="1500" b="1" dirty="0">
                <a:solidFill>
                  <a:srgbClr val="14283C"/>
                </a:solidFill>
                <a:latin typeface="Arial" pitchFamily="34" charset="0"/>
                <a:ea typeface="Arial" pitchFamily="34" charset="-122"/>
                <a:cs typeface="Arial" pitchFamily="34" charset="-120"/>
              </a:rPr>
              <a:t>An operationally defined indicator set: </a:t>
            </a:r>
            <a:r>
              <a:rPr lang="en-US" sz="15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500" dirty="0"/>
          </a:p>
        </p:txBody>
      </p:sp>
      <p:sp>
        <p:nvSpPr>
          <p:cNvPr id="10" name="Shape 8"/>
          <p:cNvSpPr/>
          <p:nvPr/>
        </p:nvSpPr>
        <p:spPr>
          <a:xfrm>
            <a:off x="685800" y="4270248"/>
            <a:ext cx="457200" cy="457200"/>
          </a:xfrm>
          <a:prstGeom prst="ellipse">
            <a:avLst/>
          </a:prstGeom>
          <a:solidFill>
            <a:srgbClr val="D98E1F"/>
          </a:solidFill>
          <a:ln/>
        </p:spPr>
        <p:txBody>
          <a:bodyPr/>
          <a:lstStyle/>
          <a:p>
            <a:endParaRPr lang="en-CH"/>
          </a:p>
        </p:txBody>
      </p:sp>
      <p:sp>
        <p:nvSpPr>
          <p:cNvPr id="11" name="Text 9"/>
          <p:cNvSpPr/>
          <p:nvPr/>
        </p:nvSpPr>
        <p:spPr>
          <a:xfrm>
            <a:off x="685800" y="427024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marL="0" indent="0">
              <a:lnSpc>
                <a:spcPct val="112000"/>
              </a:lnSpc>
              <a:buNone/>
            </a:pPr>
            <a:r>
              <a:rPr lang="en-US" sz="1500" b="1" dirty="0">
                <a:solidFill>
                  <a:srgbClr val="14283C"/>
                </a:solidFill>
                <a:latin typeface="Arial" pitchFamily="34" charset="0"/>
                <a:ea typeface="Arial" pitchFamily="34" charset="-122"/>
                <a:cs typeface="Arial" pitchFamily="34" charset="-120"/>
              </a:rPr>
              <a:t>A methodological finding of independent interest: </a:t>
            </a:r>
            <a:r>
              <a:rPr lang="en-US" sz="15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500" dirty="0"/>
          </a:p>
        </p:txBody>
      </p:sp>
      <p:sp>
        <p:nvSpPr>
          <p:cNvPr id="13" name="Shape 11"/>
          <p:cNvSpPr/>
          <p:nvPr/>
        </p:nvSpPr>
        <p:spPr>
          <a:xfrm>
            <a:off x="685800" y="5832817"/>
            <a:ext cx="10789920" cy="713232"/>
          </a:xfrm>
          <a:prstGeom prst="rect">
            <a:avLst/>
          </a:prstGeom>
          <a:solidFill>
            <a:srgbClr val="F2F7F6"/>
          </a:solidFill>
          <a:ln/>
        </p:spPr>
        <p:txBody>
          <a:bodyPr/>
          <a:lstStyle/>
          <a:p>
            <a:endParaRPr lang="en-CH"/>
          </a:p>
        </p:txBody>
      </p:sp>
      <p:sp>
        <p:nvSpPr>
          <p:cNvPr id="14" name="Text 12"/>
          <p:cNvSpPr/>
          <p:nvPr/>
        </p:nvSpPr>
        <p:spPr>
          <a:xfrm>
            <a:off x="886968" y="5905969"/>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6107137"/>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Practically: a portfolio-wide, auditable priority ordering from data organisations already hold,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a:effectLst/>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marL="0" indent="0">
              <a:buNone/>
            </a:pPr>
            <a:r>
              <a:rPr lang="en-US" sz="1100" b="1" kern="0" spc="30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marL="0" indent="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It orders services by the </a:t>
            </a:r>
            <a:r>
              <a:rPr lang="en-US" sz="2500" b="1" dirty="0">
                <a:solidFill>
                  <a:srgbClr val="F0C67A"/>
                </a:solidFill>
                <a:latin typeface="Arial" pitchFamily="34" charset="0"/>
                <a:ea typeface="Arial" pitchFamily="34" charset="-122"/>
                <a:cs typeface="Arial" pitchFamily="34" charset="-120"/>
              </a:rPr>
              <a:t>operational shadow debt casts</a:t>
            </a: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4133088"/>
            <a:ext cx="4663440" cy="182880"/>
          </a:xfrm>
          <a:prstGeom prst="rect">
            <a:avLst/>
          </a:prstGeom>
          <a:solidFill>
            <a:srgbClr val="24405C"/>
          </a:solidFill>
          <a:ln/>
        </p:spPr>
        <p:txBody>
          <a:bodyPr/>
          <a:lstStyle/>
          <a:p>
            <a:endParaRPr lang="en-CH"/>
          </a:p>
        </p:txBody>
      </p:sp>
      <p:sp>
        <p:nvSpPr>
          <p:cNvPr id="6" name="Shape 4"/>
          <p:cNvSpPr/>
          <p:nvPr/>
        </p:nvSpPr>
        <p:spPr>
          <a:xfrm>
            <a:off x="1737360" y="4133088"/>
            <a:ext cx="2471623" cy="182880"/>
          </a:xfrm>
          <a:prstGeom prst="rect">
            <a:avLst/>
          </a:prstGeom>
          <a:solidFill>
            <a:srgbClr val="D98E1F"/>
          </a:solidFill>
          <a:ln/>
        </p:spPr>
        <p:txBody>
          <a:bodyPr/>
          <a:lstStyle/>
          <a:p>
            <a:endParaRPr lang="en-CH"/>
          </a:p>
        </p:txBody>
      </p:sp>
      <p:sp>
        <p:nvSpPr>
          <p:cNvPr id="7" name="Text 5"/>
          <p:cNvSpPr/>
          <p:nvPr/>
        </p:nvSpPr>
        <p:spPr>
          <a:xfrm>
            <a:off x="6446520" y="4114800"/>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txBody>
          <a:bodyPr/>
          <a:lstStyle/>
          <a:p>
            <a:endParaRPr lang="en-CH"/>
          </a:p>
        </p:txBody>
      </p:sp>
      <p:sp>
        <p:nvSpPr>
          <p:cNvPr id="10" name="Shape 8"/>
          <p:cNvSpPr/>
          <p:nvPr/>
        </p:nvSpPr>
        <p:spPr>
          <a:xfrm>
            <a:off x="1737360" y="4572000"/>
            <a:ext cx="93269" cy="182880"/>
          </a:xfrm>
          <a:prstGeom prst="rect">
            <a:avLst/>
          </a:prstGeom>
          <a:solidFill>
            <a:srgbClr val="8FA6BC"/>
          </a:solidFill>
          <a:ln/>
        </p:spPr>
        <p:txBody>
          <a:bodyPr/>
          <a:lstStyle/>
          <a:p>
            <a:endParaRPr lang="en-CH"/>
          </a:p>
        </p:txBody>
      </p:sp>
      <p:sp>
        <p:nvSpPr>
          <p:cNvPr id="11" name="Text 9"/>
          <p:cNvSpPr/>
          <p:nvPr/>
        </p:nvSpPr>
        <p:spPr>
          <a:xfrm>
            <a:off x="6446520" y="4553712"/>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marL="0" indent="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icPr>
            <a:picLocks noChangeAspect="1"/>
          </p:cNvPicPr>
          <p:nvPr/>
        </p:nvPicPr>
        <p:blipFill>
          <a:blip r:embed="rId3"/>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a:t>
            </a:r>
            <a:r>
              <a:rPr lang="en-US" sz="950" i="1" dirty="0">
                <a:solidFill>
                  <a:srgbClr val="2A3F55"/>
                </a:solidFill>
                <a:latin typeface="Arial" pitchFamily="34" charset="0"/>
                <a:ea typeface="Arial" pitchFamily="34" charset="-122"/>
                <a:cs typeface="Arial" pitchFamily="34" charset="-120"/>
              </a:rPr>
              <a:t>Journal of Systems and Software</a:t>
            </a:r>
            <a:r>
              <a:rPr lang="en-US" sz="950" dirty="0">
                <a:solidFill>
                  <a:srgbClr val="2A3F55"/>
                </a:solidFill>
                <a:latin typeface="Arial" pitchFamily="34" charset="0"/>
                <a:ea typeface="Arial" pitchFamily="34" charset="-122"/>
                <a:cs typeface="Arial" pitchFamily="34" charset="-120"/>
              </a:rPr>
              <a:t>, 234, p. 112719. Available at: https://doi.org/10.1016/j.jss.2025.112719.</a:t>
            </a:r>
            <a:endParaRPr lang="en-US" sz="950" dirty="0"/>
          </a:p>
        </p:txBody>
      </p:sp>
      <p:sp>
        <p:nvSpPr>
          <p:cNvPr id="5" name="Text 3"/>
          <p:cNvSpPr/>
          <p:nvPr/>
        </p:nvSpPr>
        <p:spPr>
          <a:xfrm>
            <a:off x="685800" y="254948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a:t>
            </a:r>
            <a:r>
              <a:rPr lang="en-US" sz="950" i="1" dirty="0">
                <a:solidFill>
                  <a:srgbClr val="2A3F55"/>
                </a:solidFill>
                <a:latin typeface="Arial" pitchFamily="34" charset="0"/>
                <a:ea typeface="Arial" pitchFamily="34" charset="-122"/>
                <a:cs typeface="Arial" pitchFamily="34" charset="-120"/>
              </a:rPr>
              <a:t>IEEE Transactions on Software Engineering</a:t>
            </a:r>
            <a:r>
              <a:rPr lang="en-US" sz="950" dirty="0">
                <a:solidFill>
                  <a:srgbClr val="2A3F55"/>
                </a:solidFill>
                <a:latin typeface="Arial" pitchFamily="34" charset="0"/>
                <a:ea typeface="Arial" pitchFamily="34" charset="-122"/>
                <a:cs typeface="Arial" pitchFamily="34" charset="-120"/>
              </a:rPr>
              <a:t>, 48(3), pp. 755–772. Available at: https://doi.org/10.1109/TSE.2020.3001339.</a:t>
            </a:r>
            <a:endParaRPr lang="en-US" sz="950" dirty="0"/>
          </a:p>
        </p:txBody>
      </p:sp>
      <p:sp>
        <p:nvSpPr>
          <p:cNvPr id="6" name="Text 4"/>
          <p:cNvSpPr/>
          <p:nvPr/>
        </p:nvSpPr>
        <p:spPr>
          <a:xfrm>
            <a:off x="685800" y="3270176"/>
            <a:ext cx="5303520" cy="328481"/>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20997"/>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a:t>
            </a:r>
            <a:r>
              <a:rPr lang="en-US" sz="950" i="1" dirty="0">
                <a:solidFill>
                  <a:srgbClr val="2A3F55"/>
                </a:solidFill>
                <a:latin typeface="Arial" pitchFamily="34" charset="0"/>
                <a:ea typeface="Arial" pitchFamily="34" charset="-122"/>
                <a:cs typeface="Arial" pitchFamily="34" charset="-120"/>
              </a:rPr>
              <a:t>2021 47th Euromicro Conference on Software Engineering and Advanced Applications (SEAA)</a:t>
            </a:r>
            <a:r>
              <a:rPr lang="en-US" sz="950" dirty="0">
                <a:solidFill>
                  <a:srgbClr val="2A3F55"/>
                </a:solidFill>
                <a:latin typeface="Arial" pitchFamily="34" charset="0"/>
                <a:ea typeface="Arial" pitchFamily="34" charset="-122"/>
                <a:cs typeface="Arial" pitchFamily="34" charset="-120"/>
              </a:rPr>
              <a:t>, pp. 196–205. Available at: https://doi.org/10.1109/SEAA53835.2021.00033.</a:t>
            </a:r>
            <a:endParaRPr lang="en-US" sz="950" dirty="0"/>
          </a:p>
        </p:txBody>
      </p:sp>
      <p:sp>
        <p:nvSpPr>
          <p:cNvPr id="8" name="Text 6"/>
          <p:cNvSpPr/>
          <p:nvPr/>
        </p:nvSpPr>
        <p:spPr>
          <a:xfrm>
            <a:off x="685800" y="4692561"/>
            <a:ext cx="5303520" cy="498348"/>
          </a:xfrm>
          <a:prstGeom prst="rect">
            <a:avLst/>
          </a:prstGeom>
          <a:noFill/>
          <a:ln/>
        </p:spPr>
        <p:txBody>
          <a:bodyPr wrap="square" lIns="0" tIns="0" rIns="0" bIns="0" rtlCol="0" anchor="t"/>
          <a:lstStyle/>
          <a:p>
            <a:pPr marL="0" indent="0">
              <a:lnSpc>
                <a:spcPct val="105000"/>
              </a:lnSpc>
              <a:buNone/>
            </a:pPr>
            <a:r>
              <a:rPr lang="en-US" sz="950" i="1" dirty="0">
                <a:solidFill>
                  <a:srgbClr val="2A3F55"/>
                </a:solidFill>
                <a:latin typeface="Arial" pitchFamily="34" charset="0"/>
                <a:ea typeface="Arial" pitchFamily="34" charset="-122"/>
                <a:cs typeface="Arial" pitchFamily="34" charset="-120"/>
              </a:rPr>
              <a:t>FINMA Circular 2023/1 - Operational risks and resilience – banks </a:t>
            </a:r>
            <a:r>
              <a:rPr lang="en-US" sz="950" dirty="0">
                <a:solidFill>
                  <a:srgbClr val="2A3F55"/>
                </a:solidFill>
                <a:latin typeface="Arial" pitchFamily="34" charset="0"/>
                <a:ea typeface="Arial" pitchFamily="34" charset="-122"/>
                <a:cs typeface="Arial" pitchFamily="34" charset="-120"/>
              </a:rPr>
              <a:t>(2024).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t>
            </a:r>
            <a:r>
              <a:rPr lang="en-US" sz="950" i="1" dirty="0">
                <a:solidFill>
                  <a:srgbClr val="2A3F55"/>
                </a:solidFill>
                <a:latin typeface="Arial" pitchFamily="34" charset="0"/>
                <a:ea typeface="Arial" pitchFamily="34" charset="-122"/>
                <a:cs typeface="Arial" pitchFamily="34" charset="-120"/>
              </a:rPr>
              <a:t>Accelerate: The Science of Lean Software and DevOps: Building and Scaling High Performing Technology Organizations</a:t>
            </a:r>
            <a:r>
              <a:rPr lang="en-US" sz="950" dirty="0">
                <a:solidFill>
                  <a:srgbClr val="2A3F55"/>
                </a:solidFill>
                <a:latin typeface="Arial" pitchFamily="34" charset="0"/>
                <a:ea typeface="Arial" pitchFamily="34" charset="-122"/>
                <a:cs typeface="Arial" pitchFamily="34" charset="-120"/>
              </a:rPr>
              <a:t>. Portland, OR: IT Revolution Press.</a:t>
            </a:r>
            <a:endParaRPr lang="en-US" sz="950" dirty="0"/>
          </a:p>
        </p:txBody>
      </p:sp>
      <p:sp>
        <p:nvSpPr>
          <p:cNvPr id="10" name="Text 8"/>
          <p:cNvSpPr/>
          <p:nvPr/>
        </p:nvSpPr>
        <p:spPr>
          <a:xfrm>
            <a:off x="6217920" y="183161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a:t>
            </a:r>
            <a:r>
              <a:rPr lang="en-US" sz="950" i="1" dirty="0">
                <a:solidFill>
                  <a:srgbClr val="2A3F55"/>
                </a:solidFill>
                <a:latin typeface="Arial" pitchFamily="34" charset="0"/>
                <a:ea typeface="Arial" pitchFamily="34" charset="-122"/>
                <a:cs typeface="Arial" pitchFamily="34" charset="-120"/>
              </a:rPr>
              <a:t>Mathematical and Computer Modelling</a:t>
            </a:r>
            <a:r>
              <a:rPr lang="en-US" sz="950" dirty="0">
                <a:solidFill>
                  <a:srgbClr val="2A3F55"/>
                </a:solidFill>
                <a:latin typeface="Arial" pitchFamily="34" charset="0"/>
                <a:ea typeface="Arial" pitchFamily="34" charset="-122"/>
                <a:cs typeface="Arial" pitchFamily="34" charset="-120"/>
              </a:rPr>
              <a:t>, 56(5), pp. 123–132. Available at: https://doi.org/10.1016/j.mcm.2011.12.022.</a:t>
            </a:r>
            <a:endParaRPr lang="en-US" sz="950" dirty="0"/>
          </a:p>
        </p:txBody>
      </p:sp>
      <p:sp>
        <p:nvSpPr>
          <p:cNvPr id="11" name="Text 9"/>
          <p:cNvSpPr/>
          <p:nvPr/>
        </p:nvSpPr>
        <p:spPr>
          <a:xfrm>
            <a:off x="6217920" y="2549207"/>
            <a:ext cx="5303520" cy="33199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a:t>
            </a:r>
            <a:r>
              <a:rPr lang="en-US" sz="950" i="1" dirty="0">
                <a:solidFill>
                  <a:srgbClr val="2A3F55"/>
                </a:solidFill>
                <a:latin typeface="Arial" pitchFamily="34" charset="0"/>
                <a:ea typeface="Arial" pitchFamily="34" charset="-122"/>
                <a:cs typeface="Arial" pitchFamily="34" charset="-120"/>
              </a:rPr>
              <a:t>MIS Quarterly</a:t>
            </a:r>
            <a:r>
              <a:rPr lang="en-US" sz="950" dirty="0">
                <a:solidFill>
                  <a:srgbClr val="2A3F55"/>
                </a:solidFill>
                <a:latin typeface="Arial" pitchFamily="34" charset="0"/>
                <a:ea typeface="Arial" pitchFamily="34" charset="-122"/>
                <a:cs typeface="Arial" pitchFamily="34" charset="-120"/>
              </a:rPr>
              <a:t>, 28(1), pp. 75–105. Available at: https://doi.org/10.2307/25148625.</a:t>
            </a:r>
            <a:endParaRPr lang="en-US" sz="950" dirty="0"/>
          </a:p>
        </p:txBody>
      </p:sp>
      <p:sp>
        <p:nvSpPr>
          <p:cNvPr id="12" name="Text 10"/>
          <p:cNvSpPr/>
          <p:nvPr/>
        </p:nvSpPr>
        <p:spPr>
          <a:xfrm>
            <a:off x="6217920" y="3100309"/>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a:t>
            </a:r>
            <a:r>
              <a:rPr lang="en-US" sz="950" i="1" dirty="0">
                <a:solidFill>
                  <a:srgbClr val="2A3F55"/>
                </a:solidFill>
                <a:latin typeface="Arial" pitchFamily="34" charset="0"/>
                <a:ea typeface="Arial" pitchFamily="34" charset="-122"/>
                <a:cs typeface="Arial" pitchFamily="34" charset="-120"/>
              </a:rPr>
              <a:t>Journal of Systems and Software</a:t>
            </a:r>
            <a:r>
              <a:rPr lang="en-US" sz="950" dirty="0">
                <a:solidFill>
                  <a:srgbClr val="2A3F55"/>
                </a:solidFill>
                <a:latin typeface="Arial" pitchFamily="34" charset="0"/>
                <a:ea typeface="Arial" pitchFamily="34" charset="-122"/>
                <a:cs typeface="Arial" pitchFamily="34" charset="-120"/>
              </a:rPr>
              <a:t>, 171, p. 110827. Available at: https://doi.org/10.1016/j.jss.2020.110827.</a:t>
            </a:r>
            <a:endParaRPr lang="en-US" sz="950" dirty="0"/>
          </a:p>
        </p:txBody>
      </p:sp>
      <p:sp>
        <p:nvSpPr>
          <p:cNvPr id="13" name="Text 11"/>
          <p:cNvSpPr/>
          <p:nvPr/>
        </p:nvSpPr>
        <p:spPr>
          <a:xfrm>
            <a:off x="6217920" y="3817761"/>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a:t>
            </a:r>
            <a:r>
              <a:rPr lang="en-US" sz="950" i="1" dirty="0">
                <a:solidFill>
                  <a:srgbClr val="2A3F55"/>
                </a:solidFill>
                <a:latin typeface="Arial" pitchFamily="34" charset="0"/>
                <a:ea typeface="Arial" pitchFamily="34" charset="-122"/>
                <a:cs typeface="Arial" pitchFamily="34" charset="-120"/>
              </a:rPr>
              <a:t>Examples of Technical Debt’s Cybersecurity Impact</a:t>
            </a:r>
            <a:r>
              <a:rPr lang="en-US" sz="950" dirty="0">
                <a:solidFill>
                  <a:srgbClr val="2A3F55"/>
                </a:solidFill>
                <a:latin typeface="Arial" pitchFamily="34" charset="0"/>
                <a:ea typeface="Arial" pitchFamily="34" charset="-122"/>
                <a:cs typeface="Arial" pitchFamily="34" charset="-120"/>
              </a:rPr>
              <a:t>. Pittsburgh, PA, USA: Carnegie Mellon University, pp. 1–21. Available at: https://apps.dtic.mil/sti/trecms/pdf/AD1144728.pdf (Accessed: April 27, 2026).</a:t>
            </a:r>
            <a:endParaRPr lang="en-US" sz="950" dirty="0"/>
          </a:p>
        </p:txBody>
      </p:sp>
      <p:sp>
        <p:nvSpPr>
          <p:cNvPr id="14" name="Text 12"/>
          <p:cNvSpPr/>
          <p:nvPr/>
        </p:nvSpPr>
        <p:spPr>
          <a:xfrm>
            <a:off x="6217920" y="4530149"/>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a:t>
            </a:r>
            <a:r>
              <a:rPr lang="en-US" sz="950" i="1" dirty="0">
                <a:solidFill>
                  <a:srgbClr val="2A3F55"/>
                </a:solidFill>
                <a:latin typeface="Arial" pitchFamily="34" charset="0"/>
                <a:ea typeface="Arial" pitchFamily="34" charset="-122"/>
                <a:cs typeface="Arial" pitchFamily="34" charset="-120"/>
              </a:rPr>
              <a:t>IEEE Transactions on Software Engineering</a:t>
            </a:r>
            <a:r>
              <a:rPr lang="en-US" sz="950" dirty="0">
                <a:solidFill>
                  <a:srgbClr val="2A3F55"/>
                </a:solidFill>
                <a:latin typeface="Arial" pitchFamily="34" charset="0"/>
                <a:ea typeface="Arial" pitchFamily="34" charset="-122"/>
                <a:cs typeface="Arial" pitchFamily="34" charset="-120"/>
              </a:rPr>
              <a:t>, 49(3), pp. 1359–1373. Available at: https://doi.org/10.1109/TSE.2022.3176674.</a:t>
            </a:r>
            <a:endParaRPr lang="en-US" sz="950" dirty="0"/>
          </a:p>
        </p:txBody>
      </p:sp>
      <p:sp>
        <p:nvSpPr>
          <p:cNvPr id="15" name="Text 13"/>
          <p:cNvSpPr/>
          <p:nvPr/>
        </p:nvSpPr>
        <p:spPr>
          <a:xfrm>
            <a:off x="6217920" y="5242537"/>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a:t>
            </a:r>
            <a:r>
              <a:rPr lang="en-US" sz="950" i="1" dirty="0">
                <a:solidFill>
                  <a:srgbClr val="2A3F55"/>
                </a:solidFill>
                <a:latin typeface="Arial" pitchFamily="34" charset="0"/>
                <a:ea typeface="Arial" pitchFamily="34" charset="-122"/>
                <a:cs typeface="Arial" pitchFamily="34" charset="-120"/>
              </a:rPr>
              <a:t>Mathematical Problems in Engineering</a:t>
            </a:r>
            <a:r>
              <a:rPr lang="en-US" sz="950" dirty="0">
                <a:solidFill>
                  <a:srgbClr val="2A3F55"/>
                </a:solidFill>
                <a:latin typeface="Arial" pitchFamily="34" charset="0"/>
                <a:ea typeface="Arial" pitchFamily="34" charset="-122"/>
                <a:cs typeface="Arial" pitchFamily="34" charset="-120"/>
              </a:rPr>
              <a:t>,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3459</Words>
  <Application>Microsoft Macintosh PowerPoint</Application>
  <PresentationFormat>Widescreen</PresentationFormat>
  <Paragraphs>257</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University of Essex</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and Prioritising Technical Debt in Mission-Critical Trading Systems</dc:title>
  <dc:subject>Master's Thesis Defense Presentation</dc:subject>
  <dc:creator>Tobias Zeier</dc:creator>
  <cp:keywords>MSc, thesis, technical debt, trading IT</cp:keywords>
  <dc:description/>
  <cp:lastModifiedBy>Tobi Zeier</cp:lastModifiedBy>
  <cp:revision>5</cp:revision>
  <dcterms:created xsi:type="dcterms:W3CDTF">2026-07-15T17:54:37Z</dcterms:created>
  <dcterms:modified xsi:type="dcterms:W3CDTF">2026-07-15T18:50:32Z</dcterms:modified>
  <cp:category/>
</cp:coreProperties>
</file>