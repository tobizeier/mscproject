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SVC-02 is the money case: stable in isolation, largest structural exposure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distinctive finding. SVC-06's 2024 debt was concentrated (worst-in-portfolio patch recency and unsupported components in 2024; by 2025 patch recency and change failure rate), so the compensatory, absolutely anchored variant read it as mid-ranking in 2024 while sample-relative methods flagged it first. By 2025 the deterioration had broadened and everything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p:bgPr>
    </p:bg>
    <p:spTree>
      <p:nvGrpSpPr>
        <p:cNvPr id="1" name=""/>
        <p:cNvGrpSpPr/>
        <p:nvPr/>
      </p:nvGrpSpPr>
      <p:grpSpPr>
        <a:xfrm>
          <a:off x="0" y="0"/>
          <a:ext cx="0" cy="0"/>
          <a:chOff x="0" y="0"/>
          <a:chExt cx="0" cy="0"/>
        </a:xfrm>
      </p:grpSpPr>
      <p:pic>
        <p:nvPicPr>
          <p:cNvPr id="2" name="Image 0" descr="logo_white.png">    </p:cNvPr>
          <p:cNvPicPr>
            <a:picLocks noChangeAspect="1"/>
          </p:cNvPicPr>
          <p:nvPr/>
        </p:nvPicPr>
        <p:blipFill>
          <a:blip r:embed="rId1"/>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indent="0" marL="0">
              <a:buNone/>
            </a:pPr>
            <a:r>
              <a:rPr lang="en-US" sz="1200" b="1" spc="300" kern="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indent="0" marL="0">
              <a:buNone/>
            </a:pPr>
            <a:r>
              <a:rPr lang="en-US"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Tobias Zeier</a:t>
            </a:r>
            <a:pPr indent="0" marL="0">
              <a:buNone/>
            </a:pPr>
            <a:r>
              <a:rPr lang="en-US" sz="1500" dirty="0">
                <a:solidFill>
                  <a:srgbClr val="AFC2D4"/>
                </a:solidFill>
                <a:latin typeface="Arial" pitchFamily="34" charset="0"/>
                <a:ea typeface="Arial" pitchFamily="34" charset="-122"/>
                <a:cs typeface="Arial" pitchFamily="34" charset="-120"/>
              </a:rPr>
              <a:t>  ·  MSc Enterprise IT Management, University of Essex</a:t>
            </a:r>
            <a:endParaRPr lang="en-US" sz="1500" dirty="0"/>
          </a:p>
        </p:txBody>
      </p:sp>
      <p:sp>
        <p:nvSpPr>
          <p:cNvPr id="7" name="Shape 4"/>
          <p:cNvSpPr/>
          <p:nvPr/>
        </p:nvSpPr>
        <p:spPr>
          <a:xfrm>
            <a:off x="685800" y="3794760"/>
            <a:ext cx="2011680" cy="0"/>
          </a:xfrm>
          <a:prstGeom prst="line">
            <a:avLst/>
          </a:prstGeom>
          <a:noFill/>
          <a:ln w="25400">
            <a:solidFill>
              <a:srgbClr val="D98E1F"/>
            </a:solidFill>
            <a:prstDash val="solid"/>
          </a:ln>
        </p:spPr>
      </p:sp>
      <p:sp>
        <p:nvSpPr>
          <p:cNvPr id="8" name="Text 5"/>
          <p:cNvSpPr/>
          <p:nvPr/>
        </p:nvSpPr>
        <p:spPr>
          <a:xfrm>
            <a:off x="685800" y="6263640"/>
            <a:ext cx="1078992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6" name="Text 4"/>
          <p:cNvSpPr/>
          <p:nvPr/>
        </p:nvSpPr>
        <p:spPr>
          <a:xfrm>
            <a:off x="7040880" y="189280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et al.,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9" name="Text 7"/>
          <p:cNvSpPr/>
          <p:nvPr/>
        </p:nvSpPr>
        <p:spPr>
          <a:xfrm>
            <a:off x="7040880" y="321868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higher odds of compromise after one / three months of patch delay (Di Tizio et al.,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12" name="Text 10"/>
          <p:cNvSpPr/>
          <p:nvPr/>
        </p:nvSpPr>
        <p:spPr>
          <a:xfrm>
            <a:off x="7040880" y="4544568"/>
            <a:ext cx="2103120" cy="502920"/>
          </a:xfrm>
          <a:prstGeom prst="rect">
            <a:avLst/>
          </a:prstGeom>
          <a:noFill/>
          <a:ln/>
        </p:spPr>
        <p:txBody>
          <a:bodyPr wrap="square" lIns="0" tIns="0" rIns="0" bIns="0" rtlCol="0" anchor="ctr"/>
          <a:lstStyle/>
          <a:p>
            <a:pPr indent="0" marL="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et al., 2021)</a:t>
            </a:r>
            <a:endParaRPr lang="en-US" sz="1100" dirty="0"/>
          </a:p>
        </p:txBody>
      </p:sp>
      <p:sp>
        <p:nvSpPr>
          <p:cNvPr id="14" name="Shape 12"/>
          <p:cNvSpPr/>
          <p:nvPr/>
        </p:nvSpPr>
        <p:spPr>
          <a:xfrm>
            <a:off x="685800" y="5806440"/>
            <a:ext cx="5760720" cy="713232"/>
          </a:xfrm>
          <a:prstGeom prst="rect">
            <a:avLst/>
          </a:prstGeom>
          <a:solidFill>
            <a:srgbClr val="F2F7F6"/>
          </a:solidFill>
          <a:ln/>
        </p:spPr>
      </p:sp>
      <p:sp>
        <p:nvSpPr>
          <p:cNvPr id="15" name="Text 13"/>
          <p:cNvSpPr/>
          <p:nvPr/>
        </p:nvSpPr>
        <p:spPr>
          <a:xfrm>
            <a:off x="886968" y="5879592"/>
            <a:ext cx="53949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53949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indent="0" marL="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et al., 2021). </a:t>
            </a:r>
            <a:pPr indent="0" marL="0">
              <a:lnSpc>
                <a:spcPct val="115000"/>
              </a:lnSpc>
              <a:buNone/>
            </a:pPr>
            <a:r>
              <a:rPr lang="en-US" sz="1500" b="1" dirty="0">
                <a:solidFill>
                  <a:srgbClr val="14283C"/>
                </a:solidFill>
                <a:latin typeface="Arial" pitchFamily="34" charset="0"/>
                <a:ea typeface="Arial" pitchFamily="34" charset="-122"/>
                <a:cs typeface="Arial" pitchFamily="34" charset="-120"/>
              </a:rPr>
              <a:t>No reviewed study combines</a:t>
            </a:r>
            <a:pPr indent="0" marL="0">
              <a:lnSpc>
                <a:spcPct val="115000"/>
              </a:lnSpc>
              <a:buNone/>
            </a:pP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sp>
      <p:sp>
        <p:nvSpPr>
          <p:cNvPr id="6" name="Text 4"/>
          <p:cNvSpPr/>
          <p:nvPr/>
        </p:nvSpPr>
        <p:spPr>
          <a:xfrm>
            <a:off x="914400" y="3044952"/>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50" dirty="0"/>
          </a:p>
        </p:txBody>
      </p:sp>
      <p:sp>
        <p:nvSpPr>
          <p:cNvPr id="8" name="Shape 6"/>
          <p:cNvSpPr/>
          <p:nvPr/>
        </p:nvSpPr>
        <p:spPr>
          <a:xfrm>
            <a:off x="685800" y="3904488"/>
            <a:ext cx="10789920" cy="868680"/>
          </a:xfrm>
          <a:prstGeom prst="rect">
            <a:avLst/>
          </a:prstGeom>
          <a:solidFill>
            <a:srgbClr val="FBF4E8"/>
          </a:solidFill>
          <a:ln/>
        </p:spPr>
      </p:sp>
      <p:sp>
        <p:nvSpPr>
          <p:cNvPr id="9" name="Text 7"/>
          <p:cNvSpPr/>
          <p:nvPr/>
        </p:nvSpPr>
        <p:spPr>
          <a:xfrm>
            <a:off x="914400" y="4069080"/>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50" dirty="0"/>
          </a:p>
        </p:txBody>
      </p:sp>
      <p:sp>
        <p:nvSpPr>
          <p:cNvPr id="11" name="Shape 9"/>
          <p:cNvSpPr/>
          <p:nvPr/>
        </p:nvSpPr>
        <p:spPr>
          <a:xfrm>
            <a:off x="685800" y="4928616"/>
            <a:ext cx="10789920" cy="868680"/>
          </a:xfrm>
          <a:prstGeom prst="rect">
            <a:avLst/>
          </a:prstGeom>
          <a:solidFill>
            <a:srgbClr val="F7F9FA"/>
          </a:solidFill>
          <a:ln/>
        </p:spPr>
      </p:sp>
      <p:sp>
        <p:nvSpPr>
          <p:cNvPr id="12" name="Text 10"/>
          <p:cNvSpPr/>
          <p:nvPr/>
        </p:nvSpPr>
        <p:spPr>
          <a:xfrm>
            <a:off x="914400" y="5093208"/>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indent="0" marL="0">
              <a:buNone/>
            </a:pPr>
            <a:r>
              <a:rPr lang="en-US" sz="1350" dirty="0">
                <a:solidFill>
                  <a:srgbClr val="2A3F55"/>
                </a:solidFill>
                <a:latin typeface="Arial" pitchFamily="34" charset="0"/>
                <a:ea typeface="Arial" pitchFamily="34" charset="-122"/>
                <a:cs typeface="Arial" pitchFamily="34" charset="-120"/>
              </a:rPr>
              <a:t>DSR (Hevner et al., 2004) · single-organisation embedded case study · unit of analysis: the IT service as a configuration item</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206240"/>
                <a:gridCol w="1737360"/>
                <a:gridCol w="4846320"/>
              </a:tblGrid>
              <a:tr h="457200">
                <a:tc>
                  <a:txBody>
                    <a:bodyPr/>
                    <a:lstStyle/>
                    <a:p>
                      <a:pPr indent="0" marL="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indent="0" marL="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sp>
      <p:sp>
        <p:nvSpPr>
          <p:cNvPr id="6" name="Text 4"/>
          <p:cNvSpPr/>
          <p:nvPr/>
        </p:nvSpPr>
        <p:spPr>
          <a:xfrm>
            <a:off x="685800" y="2267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Extract indicators from live ITSM / CMDB records</a:t>
            </a:r>
            <a:endParaRPr lang="en-US" sz="1350" dirty="0"/>
          </a:p>
        </p:txBody>
      </p:sp>
      <p:sp>
        <p:nvSpPr>
          <p:cNvPr id="8" name="Shape 6"/>
          <p:cNvSpPr/>
          <p:nvPr/>
        </p:nvSpPr>
        <p:spPr>
          <a:xfrm>
            <a:off x="685800" y="2980944"/>
            <a:ext cx="384048" cy="384048"/>
          </a:xfrm>
          <a:prstGeom prst="ellipse">
            <a:avLst/>
          </a:prstGeom>
          <a:solidFill>
            <a:srgbClr val="14283C"/>
          </a:solidFill>
          <a:ln/>
        </p:spPr>
      </p:sp>
      <p:sp>
        <p:nvSpPr>
          <p:cNvPr id="9" name="Text 7"/>
          <p:cNvSpPr/>
          <p:nvPr/>
        </p:nvSpPr>
        <p:spPr>
          <a:xfrm>
            <a:off x="6858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Vector normalisation (preserves extreme observations)</a:t>
            </a:r>
            <a:endParaRPr lang="en-US" sz="1350" dirty="0"/>
          </a:p>
        </p:txBody>
      </p:sp>
      <p:sp>
        <p:nvSpPr>
          <p:cNvPr id="11" name="Shape 9"/>
          <p:cNvSpPr/>
          <p:nvPr/>
        </p:nvSpPr>
        <p:spPr>
          <a:xfrm>
            <a:off x="685800" y="3694176"/>
            <a:ext cx="384048" cy="384048"/>
          </a:xfrm>
          <a:prstGeom prst="ellipse">
            <a:avLst/>
          </a:prstGeom>
          <a:solidFill>
            <a:srgbClr val="14283C"/>
          </a:solidFill>
          <a:ln/>
        </p:spPr>
      </p:sp>
      <p:sp>
        <p:nvSpPr>
          <p:cNvPr id="12" name="Text 10"/>
          <p:cNvSpPr/>
          <p:nvPr/>
        </p:nvSpPr>
        <p:spPr>
          <a:xfrm>
            <a:off x="68580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350" dirty="0"/>
          </a:p>
        </p:txBody>
      </p:sp>
      <p:sp>
        <p:nvSpPr>
          <p:cNvPr id="14" name="Shape 12"/>
          <p:cNvSpPr/>
          <p:nvPr/>
        </p:nvSpPr>
        <p:spPr>
          <a:xfrm>
            <a:off x="685800" y="4407408"/>
            <a:ext cx="384048" cy="384048"/>
          </a:xfrm>
          <a:prstGeom prst="ellipse">
            <a:avLst/>
          </a:prstGeom>
          <a:solidFill>
            <a:srgbClr val="D98E1F"/>
          </a:solidFill>
          <a:ln/>
        </p:spPr>
      </p:sp>
      <p:sp>
        <p:nvSpPr>
          <p:cNvPr id="15" name="Text 13"/>
          <p:cNvSpPr/>
          <p:nvPr/>
        </p:nvSpPr>
        <p:spPr>
          <a:xfrm>
            <a:off x="68580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TOPSIS closeness coefficient Ci ∈ [0, 1]</a:t>
            </a:r>
            <a:endParaRPr lang="en-US" sz="1350" dirty="0"/>
          </a:p>
        </p:txBody>
      </p:sp>
      <p:sp>
        <p:nvSpPr>
          <p:cNvPr id="17" name="Shape 15"/>
          <p:cNvSpPr/>
          <p:nvPr/>
        </p:nvSpPr>
        <p:spPr>
          <a:xfrm>
            <a:off x="685800" y="5120640"/>
            <a:ext cx="384048" cy="384048"/>
          </a:xfrm>
          <a:prstGeom prst="ellipse">
            <a:avLst/>
          </a:prstGeom>
          <a:solidFill>
            <a:srgbClr val="14283C"/>
          </a:solidFill>
          <a:ln/>
        </p:spPr>
      </p:sp>
      <p:sp>
        <p:nvSpPr>
          <p:cNvPr id="18" name="Text 16"/>
          <p:cNvSpPr/>
          <p:nvPr/>
        </p:nvSpPr>
        <p:spPr>
          <a:xfrm>
            <a:off x="685800" y="5120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Rank: lowest Ci = highest debt priority</a:t>
            </a:r>
            <a:endParaRPr lang="en-US" sz="135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Precedent: Albarak &amp; Bahsoon (2022) for TD, but on controlled data</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350" dirty="0"/>
          </a:p>
        </p:txBody>
      </p:sp>
      <p:sp>
        <p:nvSpPr>
          <p:cNvPr id="22" name="Shape 20"/>
          <p:cNvSpPr/>
          <p:nvPr/>
        </p:nvSpPr>
        <p:spPr>
          <a:xfrm>
            <a:off x="685800" y="5806440"/>
            <a:ext cx="10789920" cy="713232"/>
          </a:xfrm>
          <a:prstGeom prst="rect">
            <a:avLst/>
          </a:prstGeom>
          <a:solidFill>
            <a:srgbClr val="F2F7F6"/>
          </a:solidFill>
          <a:ln/>
        </p:spPr>
      </p:sp>
      <p:sp>
        <p:nvSpPr>
          <p:cNvPr id="23" name="Text 21"/>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350" dirty="0"/>
          </a:p>
        </p:txBody>
      </p:sp>
      <p:sp>
        <p:nvSpPr>
          <p:cNvPr id="8" name="Shape 6"/>
          <p:cNvSpPr/>
          <p:nvPr/>
        </p:nvSpPr>
        <p:spPr>
          <a:xfrm>
            <a:off x="685800" y="5806440"/>
            <a:ext cx="10789920" cy="713232"/>
          </a:xfrm>
          <a:prstGeom prst="rect">
            <a:avLst/>
          </a:prstGeom>
          <a:solidFill>
            <a:srgbClr val="F2F7F6"/>
          </a:solidFill>
          <a:ln/>
        </p:spPr>
      </p:sp>
      <p:sp>
        <p:nvSpPr>
          <p:cNvPr id="9" name="Text 7"/>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1847088"/>
            <a:ext cx="4663440" cy="182880"/>
          </a:xfrm>
          <a:prstGeom prst="rect">
            <a:avLst/>
          </a:prstGeom>
          <a:solidFill>
            <a:srgbClr val="E9EDF1"/>
          </a:solidFill>
          <a:ln/>
        </p:spPr>
      </p:sp>
      <p:sp>
        <p:nvSpPr>
          <p:cNvPr id="6" name="Shape 4"/>
          <p:cNvSpPr/>
          <p:nvPr/>
        </p:nvSpPr>
        <p:spPr>
          <a:xfrm>
            <a:off x="1737360" y="1847088"/>
            <a:ext cx="2424989" cy="182880"/>
          </a:xfrm>
          <a:prstGeom prst="rect">
            <a:avLst/>
          </a:prstGeom>
          <a:solidFill>
            <a:srgbClr val="D98E1F"/>
          </a:solidFill>
          <a:ln/>
        </p:spPr>
      </p:sp>
      <p:sp>
        <p:nvSpPr>
          <p:cNvPr id="7" name="Text 5"/>
          <p:cNvSpPr/>
          <p:nvPr/>
        </p:nvSpPr>
        <p:spPr>
          <a:xfrm>
            <a:off x="6446520" y="18288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0.478</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9" name="Shape 7"/>
          <p:cNvSpPr/>
          <p:nvPr/>
        </p:nvSpPr>
        <p:spPr>
          <a:xfrm>
            <a:off x="1737360" y="2258568"/>
            <a:ext cx="4663440" cy="182880"/>
          </a:xfrm>
          <a:prstGeom prst="rect">
            <a:avLst/>
          </a:prstGeom>
          <a:solidFill>
            <a:srgbClr val="E9EDF1"/>
          </a:solidFill>
          <a:ln/>
        </p:spPr>
      </p:sp>
      <p:sp>
        <p:nvSpPr>
          <p:cNvPr id="10" name="Shape 8"/>
          <p:cNvSpPr/>
          <p:nvPr/>
        </p:nvSpPr>
        <p:spPr>
          <a:xfrm>
            <a:off x="1737360" y="2258568"/>
            <a:ext cx="2285086" cy="182880"/>
          </a:xfrm>
          <a:prstGeom prst="rect">
            <a:avLst/>
          </a:prstGeom>
          <a:solidFill>
            <a:srgbClr val="D98E1F"/>
          </a:solidFill>
          <a:ln/>
        </p:spPr>
      </p:sp>
      <p:sp>
        <p:nvSpPr>
          <p:cNvPr id="11" name="Text 9"/>
          <p:cNvSpPr/>
          <p:nvPr/>
        </p:nvSpPr>
        <p:spPr>
          <a:xfrm>
            <a:off x="6446520" y="224028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0.510</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3" name="Shape 11"/>
          <p:cNvSpPr/>
          <p:nvPr/>
        </p:nvSpPr>
        <p:spPr>
          <a:xfrm>
            <a:off x="1737360" y="2670048"/>
            <a:ext cx="4663440" cy="182880"/>
          </a:xfrm>
          <a:prstGeom prst="rect">
            <a:avLst/>
          </a:prstGeom>
          <a:solidFill>
            <a:srgbClr val="E9EDF1"/>
          </a:solidFill>
          <a:ln/>
        </p:spPr>
      </p:sp>
      <p:sp>
        <p:nvSpPr>
          <p:cNvPr id="14" name="Shape 12"/>
          <p:cNvSpPr/>
          <p:nvPr/>
        </p:nvSpPr>
        <p:spPr>
          <a:xfrm>
            <a:off x="1737360" y="2670048"/>
            <a:ext cx="2238451" cy="182880"/>
          </a:xfrm>
          <a:prstGeom prst="rect">
            <a:avLst/>
          </a:prstGeom>
          <a:solidFill>
            <a:srgbClr val="D98E1F"/>
          </a:solidFill>
          <a:ln/>
        </p:spPr>
      </p:sp>
      <p:sp>
        <p:nvSpPr>
          <p:cNvPr id="15" name="Text 13"/>
          <p:cNvSpPr/>
          <p:nvPr/>
        </p:nvSpPr>
        <p:spPr>
          <a:xfrm>
            <a:off x="6446520" y="265176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0.524</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17" name="Shape 15"/>
          <p:cNvSpPr/>
          <p:nvPr/>
        </p:nvSpPr>
        <p:spPr>
          <a:xfrm>
            <a:off x="1737360" y="3081528"/>
            <a:ext cx="4663440" cy="182880"/>
          </a:xfrm>
          <a:prstGeom prst="rect">
            <a:avLst/>
          </a:prstGeom>
          <a:solidFill>
            <a:srgbClr val="E9EDF1"/>
          </a:solidFill>
          <a:ln/>
        </p:spPr>
      </p:sp>
      <p:sp>
        <p:nvSpPr>
          <p:cNvPr id="18" name="Shape 16"/>
          <p:cNvSpPr/>
          <p:nvPr/>
        </p:nvSpPr>
        <p:spPr>
          <a:xfrm>
            <a:off x="1737360" y="3081528"/>
            <a:ext cx="1212494" cy="182880"/>
          </a:xfrm>
          <a:prstGeom prst="rect">
            <a:avLst/>
          </a:prstGeom>
          <a:solidFill>
            <a:srgbClr val="5C7186"/>
          </a:solidFill>
          <a:ln/>
        </p:spPr>
      </p:sp>
      <p:sp>
        <p:nvSpPr>
          <p:cNvPr id="19" name="Text 17"/>
          <p:cNvSpPr/>
          <p:nvPr/>
        </p:nvSpPr>
        <p:spPr>
          <a:xfrm>
            <a:off x="6446520" y="306324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0.743</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sp>
      <p:sp>
        <p:nvSpPr>
          <p:cNvPr id="22" name="Shape 20"/>
          <p:cNvSpPr/>
          <p:nvPr/>
        </p:nvSpPr>
        <p:spPr>
          <a:xfrm>
            <a:off x="1737360" y="3493008"/>
            <a:ext cx="1025957" cy="182880"/>
          </a:xfrm>
          <a:prstGeom prst="rect">
            <a:avLst/>
          </a:prstGeom>
          <a:solidFill>
            <a:srgbClr val="5C7186"/>
          </a:solidFill>
          <a:ln/>
        </p:spPr>
      </p:sp>
      <p:sp>
        <p:nvSpPr>
          <p:cNvPr id="23" name="Text 21"/>
          <p:cNvSpPr/>
          <p:nvPr/>
        </p:nvSpPr>
        <p:spPr>
          <a:xfrm>
            <a:off x="6446520" y="347472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sp>
      <p:sp>
        <p:nvSpPr>
          <p:cNvPr id="26" name="Shape 24"/>
          <p:cNvSpPr/>
          <p:nvPr/>
        </p:nvSpPr>
        <p:spPr>
          <a:xfrm>
            <a:off x="1737360" y="3904488"/>
            <a:ext cx="93269" cy="182880"/>
          </a:xfrm>
          <a:prstGeom prst="rect">
            <a:avLst/>
          </a:prstGeom>
          <a:solidFill>
            <a:srgbClr val="5C7186"/>
          </a:solidFill>
          <a:ln/>
        </p:spPr>
      </p:sp>
      <p:sp>
        <p:nvSpPr>
          <p:cNvPr id="27" name="Text 25"/>
          <p:cNvSpPr/>
          <p:nvPr/>
        </p:nvSpPr>
        <p:spPr>
          <a:xfrm>
            <a:off x="6446520" y="38862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7F9FA"/>
          </a:solidFill>
          <a:ln/>
        </p:spPr>
      </p:sp>
      <p:sp>
        <p:nvSpPr>
          <p:cNvPr id="29" name="Text 27"/>
          <p:cNvSpPr/>
          <p:nvPr/>
        </p:nvSpPr>
        <p:spPr>
          <a:xfrm>
            <a:off x="7909560" y="18745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SVC-04 · rank 1</a:t>
            </a:r>
            <a:endParaRPr lang="en-US" sz="125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574 incidents/yr, MTTR 41.9 h, CFR 3.38, yet a clean lifecycle record → architectural, platform &amp; process debt</a:t>
            </a:r>
            <a:endParaRPr lang="en-US" sz="1100" dirty="0"/>
          </a:p>
        </p:txBody>
      </p:sp>
      <p:sp>
        <p:nvSpPr>
          <p:cNvPr id="31" name="Shape 29"/>
          <p:cNvSpPr/>
          <p:nvPr/>
        </p:nvSpPr>
        <p:spPr>
          <a:xfrm>
            <a:off x="7726680" y="3154680"/>
            <a:ext cx="3749040" cy="1225296"/>
          </a:xfrm>
          <a:prstGeom prst="rect">
            <a:avLst/>
          </a:prstGeom>
          <a:solidFill>
            <a:srgbClr val="FBF4E8"/>
          </a:solidFill>
          <a:ln/>
        </p:spPr>
      </p:sp>
      <p:sp>
        <p:nvSpPr>
          <p:cNvPr id="32" name="Text 30"/>
          <p:cNvSpPr/>
          <p:nvPr/>
        </p:nvSpPr>
        <p:spPr>
          <a:xfrm>
            <a:off x="7909560" y="3246120"/>
            <a:ext cx="3429000" cy="274320"/>
          </a:xfrm>
          <a:prstGeom prst="rect">
            <a:avLst/>
          </a:prstGeom>
          <a:noFill/>
          <a:ln/>
        </p:spPr>
        <p:txBody>
          <a:bodyPr wrap="square" lIns="0" tIns="0" rIns="0" bIns="0" rtlCol="0" anchor="ctr"/>
          <a:lstStyle/>
          <a:p>
            <a:pPr indent="0" marL="0">
              <a:buNone/>
            </a:pPr>
            <a:r>
              <a:rPr lang="en-US" sz="1250" b="1" dirty="0">
                <a:solidFill>
                  <a:srgbClr val="D98E1F"/>
                </a:solidFill>
                <a:latin typeface="Courier New" pitchFamily="34" charset="0"/>
                <a:ea typeface="Courier New" pitchFamily="34" charset="-122"/>
                <a:cs typeface="Courier New" pitchFamily="34" charset="-120"/>
              </a:rPr>
              <a:t>SVC-02 · rank 3</a:t>
            </a:r>
            <a:endParaRPr lang="en-US" sz="125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Only 30 incidents/yr, but 1,221 unsupported component months → the debt an incident count cannot see</a:t>
            </a:r>
            <a:endParaRPr lang="en-US" sz="1100" dirty="0"/>
          </a:p>
        </p:txBody>
      </p:sp>
      <p:sp>
        <p:nvSpPr>
          <p:cNvPr id="34" name="Shape 32"/>
          <p:cNvSpPr/>
          <p:nvPr/>
        </p:nvSpPr>
        <p:spPr>
          <a:xfrm>
            <a:off x="7726680" y="4526280"/>
            <a:ext cx="3749040" cy="1225296"/>
          </a:xfrm>
          <a:prstGeom prst="rect">
            <a:avLst/>
          </a:prstGeom>
          <a:solidFill>
            <a:srgbClr val="F7F9FA"/>
          </a:solidFill>
          <a:ln/>
        </p:spPr>
      </p:sp>
      <p:sp>
        <p:nvSpPr>
          <p:cNvPr id="35" name="Text 33"/>
          <p:cNvSpPr/>
          <p:nvPr/>
        </p:nvSpPr>
        <p:spPr>
          <a:xfrm>
            <a:off x="7909560" y="46177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SVC-03 · rank 6</a:t>
            </a:r>
            <a:endParaRPr lang="en-US" sz="125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The portfolio's reference for a well-maintained service</a:t>
            </a:r>
            <a:endParaRPr lang="en-US" sz="1100" dirty="0"/>
          </a:p>
        </p:txBody>
      </p:sp>
      <p:sp>
        <p:nvSpPr>
          <p:cNvPr id="37" name="Shape 35"/>
          <p:cNvSpPr/>
          <p:nvPr/>
        </p:nvSpPr>
        <p:spPr>
          <a:xfrm>
            <a:off x="685800" y="5943600"/>
            <a:ext cx="10789920" cy="713232"/>
          </a:xfrm>
          <a:prstGeom prst="rect">
            <a:avLst/>
          </a:prstGeom>
          <a:solidFill>
            <a:srgbClr val="F2F7F6"/>
          </a:solidFill>
          <a:ln/>
        </p:spPr>
      </p:sp>
      <p:sp>
        <p:nvSpPr>
          <p:cNvPr id="38" name="Text 36"/>
          <p:cNvSpPr/>
          <p:nvPr/>
        </p:nvSpPr>
        <p:spPr>
          <a:xfrm>
            <a:off x="886968" y="601675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5" name="Text 3"/>
          <p:cNvSpPr/>
          <p:nvPr/>
        </p:nvSpPr>
        <p:spPr>
          <a:xfrm>
            <a:off x="868680"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1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0.73–1.00</a:t>
            </a:r>
            <a:endParaRPr lang="en-US" sz="1200" dirty="0"/>
          </a:p>
        </p:txBody>
      </p:sp>
      <p:sp>
        <p:nvSpPr>
          <p:cNvPr id="8" name="Shape 6"/>
          <p:cNvSpPr/>
          <p:nvPr/>
        </p:nvSpPr>
        <p:spPr>
          <a:xfrm>
            <a:off x="4498848"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4681728"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20,000 Dirichlet-sampled weightings, rank-acceptability analysis</a:t>
            </a:r>
            <a:endParaRPr lang="en-US" sz="11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3" name="Text 11"/>
          <p:cNvSpPr/>
          <p:nvPr/>
        </p:nvSpPr>
        <p:spPr>
          <a:xfrm>
            <a:off x="8494776"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Re-ranked with SAW &amp; VIKOR</a:t>
            </a:r>
            <a:endParaRPr lang="en-US" sz="11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0.60–0.87</a:t>
            </a:r>
            <a:endParaRPr lang="en-US" sz="1200" dirty="0"/>
          </a:p>
        </p:txBody>
      </p:sp>
      <p:sp>
        <p:nvSpPr>
          <p:cNvPr id="16" name="Shape 14"/>
          <p:cNvSpPr/>
          <p:nvPr/>
        </p:nvSpPr>
        <p:spPr>
          <a:xfrm>
            <a:off x="2592324" y="379476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7" name="Text 15"/>
          <p:cNvSpPr/>
          <p:nvPr/>
        </p:nvSpPr>
        <p:spPr>
          <a:xfrm>
            <a:off x="2775204"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Against an incident-only baseline</a:t>
            </a:r>
            <a:endParaRPr lang="en-US" sz="11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 / 0.20</a:t>
            </a:r>
            <a:endParaRPr lang="en-US" sz="1200" dirty="0"/>
          </a:p>
        </p:txBody>
      </p:sp>
      <p:sp>
        <p:nvSpPr>
          <p:cNvPr id="20" name="Shape 18"/>
          <p:cNvSpPr/>
          <p:nvPr/>
        </p:nvSpPr>
        <p:spPr>
          <a:xfrm>
            <a:off x="6405372" y="3794760"/>
            <a:ext cx="3520440" cy="16002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21" name="Text 19"/>
          <p:cNvSpPr/>
          <p:nvPr/>
        </p:nvSpPr>
        <p:spPr>
          <a:xfrm>
            <a:off x="6588252"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Leave-one-out rank reversal; absolute-mode variant</a:t>
            </a:r>
            <a:endParaRPr lang="en-US" sz="11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indent="0" marL="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97880"/>
            <a:ext cx="10789920" cy="713232"/>
          </a:xfrm>
          <a:prstGeom prst="rect">
            <a:avLst/>
          </a:prstGeom>
          <a:solidFill>
            <a:srgbClr val="F2F7F6"/>
          </a:solidFill>
          <a:ln/>
        </p:spPr>
      </p:sp>
      <p:sp>
        <p:nvSpPr>
          <p:cNvPr id="25" name="Text 23"/>
          <p:cNvSpPr/>
          <p:nvPr/>
        </p:nvSpPr>
        <p:spPr>
          <a:xfrm>
            <a:off x="886968" y="597103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2025: τ = 0.867 (one adjacent swap)</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Temporal 2025 vs 2024: τ = 0.867 / 1.000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Weakest: 2024 weights, τ = 0.733, tightly grouped mid-field profiles</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Top and bottom positions identical in every run</a:t>
            </a:r>
            <a:endParaRPr lang="en-US" sz="1350" dirty="0"/>
          </a:p>
        </p:txBody>
      </p:sp>
      <p:sp>
        <p:nvSpPr>
          <p:cNvPr id="6" name="Shape 4"/>
          <p:cNvSpPr/>
          <p:nvPr/>
        </p:nvSpPr>
        <p:spPr>
          <a:xfrm>
            <a:off x="6583680" y="1828800"/>
            <a:ext cx="4892040" cy="3383280"/>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7" name="Text 5"/>
          <p:cNvSpPr/>
          <p:nvPr/>
        </p:nvSpPr>
        <p:spPr>
          <a:xfrm>
            <a:off x="6858000" y="2057400"/>
            <a:ext cx="4389120" cy="274320"/>
          </a:xfrm>
          <a:prstGeom prst="rect">
            <a:avLst/>
          </a:prstGeom>
          <a:noFill/>
          <a:ln/>
        </p:spPr>
        <p:txBody>
          <a:bodyPr wrap="square" lIns="0" tIns="0" rIns="0" bIns="0" rtlCol="0" anchor="ctr"/>
          <a:lstStyle/>
          <a:p>
            <a:pPr indent="0" marL="0">
              <a:buNone/>
            </a:pPr>
            <a:r>
              <a:rPr lang="en-US" sz="1100" b="1" spc="200" kern="0" dirty="0">
                <a:solidFill>
                  <a:srgbClr val="5C7186"/>
                </a:solidFill>
                <a:latin typeface="Courier New" pitchFamily="34" charset="0"/>
                <a:ea typeface="Courier New" pitchFamily="34" charset="-122"/>
                <a:cs typeface="Courier New" pitchFamily="34" charset="-120"/>
              </a:rPr>
              <a:t>FULL WEIGHT SPACE · 20,000 DRAWS</a:t>
            </a:r>
            <a:endParaRPr lang="en-US" sz="11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indent="0" marL="0">
              <a:buNone/>
            </a:pPr>
            <a:r>
              <a:rPr lang="en-US" sz="6000" b="1" dirty="0">
                <a:solidFill>
                  <a:srgbClr val="14283C"/>
                </a:solidFill>
                <a:latin typeface="Courier New" pitchFamily="34" charset="0"/>
                <a:ea typeface="Courier New" pitchFamily="34" charset="-122"/>
                <a:cs typeface="Courier New" pitchFamily="34" charset="-120"/>
              </a:rPr>
              <a:t>99.1%</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indent="0" marL="0">
              <a:lnSpc>
                <a:spcPct val="115000"/>
              </a:lnSpc>
              <a:buNone/>
            </a:pPr>
            <a:r>
              <a:rPr lang="en-US" sz="1250" dirty="0">
                <a:solidFill>
                  <a:srgbClr val="2A3F55"/>
                </a:solidFill>
                <a:latin typeface="Arial" pitchFamily="34" charset="0"/>
                <a:ea typeface="Arial" pitchFamily="34" charset="-122"/>
                <a:cs typeface="Arial" pitchFamily="34" charset="-120"/>
              </a:rPr>
              <a:t>of all admissible weightings place SVC-03 last; the high-priority cluster {SVC-04, SVC-06, SVC-02} holds the top three in the large majority. Sensitivity is confined to the middle ranks.</a:t>
            </a:r>
            <a:endParaRPr lang="en-US" sz="1250" dirty="0"/>
          </a:p>
        </p:txBody>
      </p:sp>
      <p:sp>
        <p:nvSpPr>
          <p:cNvPr id="10" name="Shape 8"/>
          <p:cNvSpPr/>
          <p:nvPr/>
        </p:nvSpPr>
        <p:spPr>
          <a:xfrm>
            <a:off x="685800" y="5806440"/>
            <a:ext cx="10789920" cy="713232"/>
          </a:xfrm>
          <a:prstGeom prst="rect">
            <a:avLst/>
          </a:prstGeom>
          <a:solidFill>
            <a:srgbClr val="F2F7F6"/>
          </a:solidFill>
          <a:ln/>
        </p:spPr>
      </p:sp>
      <p:sp>
        <p:nvSpPr>
          <p:cNvPr id="11" name="Text 9"/>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indent="0" marL="0">
              <a:buNone/>
            </a:pPr>
            <a:r>
              <a:rPr lang="en-US" sz="1500" dirty="0">
                <a:solidFill>
                  <a:srgbClr val="14283C"/>
                </a:solidFill>
                <a:latin typeface="Arial" pitchFamily="34" charset="0"/>
                <a:ea typeface="Arial" pitchFamily="34" charset="-122"/>
                <a:cs typeface="Arial" pitchFamily="34" charset="-120"/>
              </a:rPr>
              <a:t>Against a ranking by incident frequency alone:  </a:t>
            </a:r>
            <a:pPr indent="0" marL="0">
              <a:buNone/>
            </a:pPr>
            <a:r>
              <a:rPr lang="en-US" sz="1500" b="1" dirty="0">
                <a:solidFill>
                  <a:srgbClr val="14283C"/>
                </a:solidFill>
                <a:latin typeface="Courier New" pitchFamily="34" charset="0"/>
                <a:ea typeface="Courier New" pitchFamily="34" charset="-122"/>
                <a:cs typeface="Courier New" pitchFamily="34" charset="-120"/>
              </a:rPr>
              <a:t>τ = 0.600</a:t>
            </a:r>
            <a:pPr indent="0" marL="0">
              <a:buNone/>
            </a:pPr>
            <a:r>
              <a:rPr lang="en-US" sz="1500" dirty="0">
                <a:solidFill>
                  <a:srgbClr val="14283C"/>
                </a:solidFill>
                <a:latin typeface="Arial" pitchFamily="34" charset="0"/>
                <a:ea typeface="Arial" pitchFamily="34" charset="-122"/>
                <a:cs typeface="Arial" pitchFamily="34" charset="-120"/>
              </a:rPr>
              <a:t> (2025),  </a:t>
            </a:r>
            <a:pPr indent="0" marL="0">
              <a:buNone/>
            </a:pPr>
            <a:r>
              <a:rPr lang="en-US" sz="1500" b="1" dirty="0">
                <a:solidFill>
                  <a:srgbClr val="14283C"/>
                </a:solidFill>
                <a:latin typeface="Courier New" pitchFamily="34" charset="0"/>
                <a:ea typeface="Courier New" pitchFamily="34" charset="-122"/>
                <a:cs typeface="Courier New" pitchFamily="34" charset="-120"/>
              </a:rPr>
              <a:t>τ = 0.200</a:t>
            </a:r>
            <a:pPr indent="0" marL="0">
              <a:buNone/>
            </a:pP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6" name="Text 4"/>
          <p:cNvSpPr/>
          <p:nvPr/>
        </p:nvSpPr>
        <p:spPr>
          <a:xfrm>
            <a:off x="914400" y="2606040"/>
            <a:ext cx="4800600" cy="320040"/>
          </a:xfrm>
          <a:prstGeom prst="rect">
            <a:avLst/>
          </a:prstGeom>
          <a:noFill/>
          <a:ln/>
        </p:spPr>
        <p:txBody>
          <a:bodyPr wrap="square" lIns="0" tIns="0" rIns="0" bIns="0" rtlCol="0" anchor="ctr"/>
          <a:lstStyle/>
          <a:p>
            <a:pPr indent="0" marL="0">
              <a:buNone/>
            </a:pPr>
            <a:r>
              <a:rPr lang="en-US" sz="1700" b="1" dirty="0">
                <a:solidFill>
                  <a:srgbClr val="D98E1F"/>
                </a:solidFill>
                <a:latin typeface="Arial" pitchFamily="34" charset="0"/>
                <a:ea typeface="Arial" pitchFamily="34" charset="-122"/>
                <a:cs typeface="Arial" pitchFamily="34" charset="-120"/>
              </a:rPr>
              <a:t>SVC-02 rises</a:t>
            </a:r>
            <a:endParaRPr lang="en-US" sz="17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Infrastructure lifecycle debt (1,221 unsupported component months, patch recency of 59.93, second lowest) is invisible to an incident count. This is precisely the signal the framework was built to surface.</a:t>
            </a:r>
            <a:endParaRPr lang="en-US" sz="1300" dirty="0"/>
          </a:p>
        </p:txBody>
      </p:sp>
      <p:sp>
        <p:nvSpPr>
          <p:cNvPr id="8" name="Shape 6"/>
          <p:cNvSpPr/>
          <p:nvPr/>
        </p:nvSpPr>
        <p:spPr>
          <a:xfrm>
            <a:off x="6217920" y="2423160"/>
            <a:ext cx="5257800" cy="22860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6446520" y="2606040"/>
            <a:ext cx="4800600" cy="320040"/>
          </a:xfrm>
          <a:prstGeom prst="rect">
            <a:avLst/>
          </a:prstGeom>
          <a:noFill/>
          <a:ln/>
        </p:spPr>
        <p:txBody>
          <a:bodyPr wrap="square" lIns="0" tIns="0" rIns="0" bIns="0" rtlCol="0" anchor="ctr"/>
          <a:lstStyle/>
          <a:p>
            <a:pPr indent="0" marL="0">
              <a:buNone/>
            </a:pPr>
            <a:r>
              <a:rPr lang="en-US" sz="1700" b="1" dirty="0">
                <a:solidFill>
                  <a:srgbClr val="14283C"/>
                </a:solidFill>
                <a:latin typeface="Arial" pitchFamily="34" charset="0"/>
                <a:ea typeface="Arial" pitchFamily="34" charset="-122"/>
                <a:cs typeface="Arial" pitchFamily="34" charset="-120"/>
              </a:rPr>
              <a:t>SVC-05 falls</a:t>
            </a:r>
            <a:endParaRPr lang="en-US" sz="17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300" dirty="0"/>
          </a:p>
        </p:txBody>
      </p:sp>
      <p:sp>
        <p:nvSpPr>
          <p:cNvPr id="11" name="Shape 9"/>
          <p:cNvSpPr/>
          <p:nvPr/>
        </p:nvSpPr>
        <p:spPr>
          <a:xfrm>
            <a:off x="685800" y="5120640"/>
            <a:ext cx="10789920" cy="713232"/>
          </a:xfrm>
          <a:prstGeom prst="rect">
            <a:avLst/>
          </a:prstGeom>
          <a:solidFill>
            <a:srgbClr val="F2F7F6"/>
          </a:solidFill>
          <a:ln/>
        </p:spPr>
      </p:sp>
      <p:sp>
        <p:nvSpPr>
          <p:cNvPr id="12" name="Text 10"/>
          <p:cNvSpPr/>
          <p:nvPr/>
        </p:nvSpPr>
        <p:spPr>
          <a:xfrm>
            <a:off x="886968" y="51937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53949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(Albarak &amp; Bahsoon,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All methods agree on the portfolio halves and on SVC-03 last, in every year and configuration. They disagree on one thing: </a:t>
            </a:r>
            <a:pPr indent="0" marL="0">
              <a:buNone/>
            </a:pPr>
            <a:r>
              <a:rPr lang="en-US" sz="1450" b="1" dirty="0">
                <a:solidFill>
                  <a:srgbClr val="D98E1F"/>
                </a:solidFill>
                <a:latin typeface="Arial" pitchFamily="34" charset="0"/>
                <a:ea typeface="Arial" pitchFamily="34" charset="-122"/>
                <a:cs typeface="Arial" pitchFamily="34" charset="-120"/>
              </a:rPr>
              <a:t>SVC-06.</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7589520" cy="914400"/>
        </p:xfrm>
        <a:graphic>
          <a:graphicData uri="http://schemas.openxmlformats.org/drawingml/2006/table">
            <a:tbl>
              <a:tblPr/>
              <a:tblGrid>
                <a:gridCol w="2286000"/>
                <a:gridCol w="2651760"/>
                <a:gridCol w="2651760"/>
              </a:tblGrid>
              <a:tr h="384048">
                <a:tc>
                  <a:txBody>
                    <a:bodyPr/>
                    <a:lstStyle/>
                    <a:p>
                      <a:pPr indent="0" marL="0">
                        <a:buNone/>
                      </a:pP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SAW / VIKOR</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TOPSIS ABSOLUTE MODE</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2024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(VIKOR regret at maximum)</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5th (C* = 0.853)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2025 rank of SVC-06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1st (C* = 0.609)</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2024</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0.20 / 0.33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 2025</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τ = 1.00</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bl>
          </a:graphicData>
        </a:graphic>
      </p:graphicFrame>
      <p:sp>
        <p:nvSpPr>
          <p:cNvPr id="6" name="Shape 3"/>
          <p:cNvSpPr/>
          <p:nvPr/>
        </p:nvSpPr>
        <p:spPr>
          <a:xfrm>
            <a:off x="8549640" y="2377440"/>
            <a:ext cx="2926080" cy="2377440"/>
          </a:xfrm>
          <a:prstGeom prst="rect">
            <a:avLst/>
          </a:prstGeom>
          <a:solidFill>
            <a:srgbClr val="FBF4E8"/>
          </a:solidFill>
          <a:ln/>
        </p:spPr>
      </p:sp>
      <p:sp>
        <p:nvSpPr>
          <p:cNvPr id="7" name="Text 4"/>
          <p:cNvSpPr/>
          <p:nvPr/>
        </p:nvSpPr>
        <p:spPr>
          <a:xfrm>
            <a:off x="8732520" y="2514600"/>
            <a:ext cx="2560320" cy="228600"/>
          </a:xfrm>
          <a:prstGeom prst="rect">
            <a:avLst/>
          </a:prstGeom>
          <a:noFill/>
          <a:ln/>
        </p:spPr>
        <p:txBody>
          <a:bodyPr wrap="square" lIns="0" tIns="0" rIns="0" bIns="0" rtlCol="0" anchor="ctr"/>
          <a:lstStyle/>
          <a:p>
            <a:pPr indent="0" marL="0">
              <a:buNone/>
            </a:pPr>
            <a:r>
              <a:rPr lang="en-US" sz="1000" b="1" spc="200" kern="0" dirty="0">
                <a:solidFill>
                  <a:srgbClr val="D98E1F"/>
                </a:solidFill>
                <a:latin typeface="Courier New" pitchFamily="34" charset="0"/>
                <a:ea typeface="Courier New" pitchFamily="34" charset="-122"/>
                <a:cs typeface="Courier New" pitchFamily="34" charset="-120"/>
              </a:rPr>
              <a:t>MECHANISM</a:t>
            </a:r>
            <a:endParaRPr lang="en-US" sz="10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indent="0" marL="0">
              <a:lnSpc>
                <a:spcPct val="112000"/>
              </a:lnSpc>
              <a:buNone/>
            </a:pPr>
            <a:r>
              <a:rPr lang="en-US" sz="1050" dirty="0">
                <a:solidFill>
                  <a:srgbClr val="2A3F55"/>
                </a:solidFill>
                <a:latin typeface="Arial" pitchFamily="34" charset="0"/>
                <a:ea typeface="Arial" pitchFamily="34" charset="-122"/>
                <a:cs typeface="Arial" pitchFamily="34" charset="-120"/>
              </a:rPr>
              <a:t>Sample-relative methods punish a worst-in-portfolio value however moderate it is absolutely. Absolute-mode TOPSIS measures distance to fixed anchors, so squared aggregation lets strong criteria dilute one concentrated weakness.</a:t>
            </a:r>
            <a:endParaRPr lang="en-US" sz="1050" dirty="0"/>
          </a:p>
        </p:txBody>
      </p:sp>
      <p:sp>
        <p:nvSpPr>
          <p:cNvPr id="9" name="Shape 6"/>
          <p:cNvSpPr/>
          <p:nvPr/>
        </p:nvSpPr>
        <p:spPr>
          <a:xfrm>
            <a:off x="685800" y="5074920"/>
            <a:ext cx="10789920" cy="713232"/>
          </a:xfrm>
          <a:prstGeom prst="rect">
            <a:avLst/>
          </a:prstGeom>
          <a:solidFill>
            <a:srgbClr val="F2F7F6"/>
          </a:solidFill>
          <a:ln/>
        </p:spPr>
      </p:sp>
      <p:sp>
        <p:nvSpPr>
          <p:cNvPr id="10" name="Text 7"/>
          <p:cNvSpPr/>
          <p:nvPr/>
        </p:nvSpPr>
        <p:spPr>
          <a:xfrm>
            <a:off x="886968" y="51480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53492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SVC-06's 2024 debt was concentrated; by 2025 it had broadened in absolute magnitude (VIKOR utility 0.491 → 0.559, regret still capped) and every method converged. Two lenses, one coherent story.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Primary prioritisation signal</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Non-compensatory regret catches concentrated deficiencies, often the signal that matters most in debt work</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Rank-reversal free by construction: fixed bounds and anchors (García-Cascales &amp; Lamata 2012; Yang 2020)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Complementary perspective; also powers the Monte Carlo cleanly</a:t>
            </a:r>
            <a:endParaRPr lang="en-US" sz="1350" dirty="0"/>
          </a:p>
        </p:txBody>
      </p:sp>
      <p:sp>
        <p:nvSpPr>
          <p:cNvPr id="8" name="Shape 6"/>
          <p:cNvSpPr/>
          <p:nvPr/>
        </p:nvSpPr>
        <p:spPr>
          <a:xfrm>
            <a:off x="685800" y="5532120"/>
            <a:ext cx="10789920" cy="713232"/>
          </a:xfrm>
          <a:prstGeom prst="rect">
            <a:avLst/>
          </a:prstGeom>
          <a:solidFill>
            <a:srgbClr val="F2F7F6"/>
          </a:solidFill>
          <a:ln/>
        </p:spPr>
      </p:sp>
      <p:sp>
        <p:nvSpPr>
          <p:cNvPr id="9" name="Text 7"/>
          <p:cNvSpPr/>
          <p:nvPr/>
        </p:nvSpPr>
        <p:spPr>
          <a:xfrm>
            <a:off x="886968" y="56052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58064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Whether SVC-04 or SVC-06 deserves the first remediation slot is a judgement about whether debt dimensions are compensatory. The framework informs that judgement; it does not settle it,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25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25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Treated as the central testable hypothesis, never a premise. Forsgren et al. validate the metrics; Nord et al. ground the diagnostic reading; the rankings match literature-predicted profiles. Longitudinal tracking would move it from plausible to evidenced.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20,000 Dirichlet-sampled weightings show the extreme priorities hold under any admissible weighting.</a:t>
            </a:r>
            <a:endParaRPr lang="en-US" sz="125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et al., 2026). No team, vendor or individual identifiers exist in the dataset.</a:t>
            </a:r>
            <a:endParaRPr lang="en-US" sz="1250" dirty="0"/>
          </a:p>
        </p:txBody>
      </p:sp>
      <p:sp>
        <p:nvSpPr>
          <p:cNvPr id="8" name="Shape 6"/>
          <p:cNvSpPr/>
          <p:nvPr/>
        </p:nvSpPr>
        <p:spPr>
          <a:xfrm>
            <a:off x="685800" y="4690872"/>
            <a:ext cx="10789920" cy="713232"/>
          </a:xfrm>
          <a:prstGeom prst="rect">
            <a:avLst/>
          </a:prstGeom>
          <a:solidFill>
            <a:srgbClr val="F2F7F6"/>
          </a:solidFill>
          <a:ln/>
        </p:spPr>
      </p:sp>
      <p:sp>
        <p:nvSpPr>
          <p:cNvPr id="9" name="Text 7"/>
          <p:cNvSpPr/>
          <p:nvPr/>
        </p:nvSpPr>
        <p:spPr>
          <a:xfrm>
            <a:off x="886968" y="4764024"/>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4965192"/>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sp>
      <p:sp>
        <p:nvSpPr>
          <p:cNvPr id="5" name="Text 3"/>
          <p:cNvSpPr/>
          <p:nvPr/>
        </p:nvSpPr>
        <p:spPr>
          <a:xfrm>
            <a:off x="685800" y="19293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et al.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sp>
      <p:sp>
        <p:nvSpPr>
          <p:cNvPr id="8" name="Text 6"/>
          <p:cNvSpPr/>
          <p:nvPr/>
        </p:nvSpPr>
        <p:spPr>
          <a:xfrm>
            <a:off x="685800" y="309981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sp>
      <p:sp>
        <p:nvSpPr>
          <p:cNvPr id="11" name="Text 9"/>
          <p:cNvSpPr/>
          <p:nvPr/>
        </p:nvSpPr>
        <p:spPr>
          <a:xfrm>
            <a:off x="685800" y="427024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577840"/>
            <a:ext cx="10789920" cy="713232"/>
          </a:xfrm>
          <a:prstGeom prst="rect">
            <a:avLst/>
          </a:prstGeom>
          <a:solidFill>
            <a:srgbClr val="F2F7F6"/>
          </a:solidFill>
          <a:ln/>
        </p:spPr>
      </p:sp>
      <p:sp>
        <p:nvSpPr>
          <p:cNvPr id="14" name="Text 12"/>
          <p:cNvSpPr/>
          <p:nvPr/>
        </p:nvSpPr>
        <p:spPr>
          <a:xfrm>
            <a:off x="886968" y="56509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58521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Practically: an auditable priority ordering from data organisations already hold, aligned with FINMA 2023/1 operational-resilience expectations,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indent="0" marL="0">
              <a:buNone/>
            </a:pPr>
            <a:r>
              <a:rPr lang="en-US" sz="1100" b="1" spc="300" kern="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indent="0" marL="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a:t>
            </a:r>
            <a:pPr indent="0" marL="0">
              <a:lnSpc>
                <a:spcPct val="125000"/>
              </a:lnSpc>
              <a:buNone/>
            </a:pPr>
            <a:r>
              <a:rPr lang="en-US" sz="2500" dirty="0">
                <a:solidFill>
                  <a:srgbClr val="FFFFFF"/>
                </a:solidFill>
                <a:latin typeface="Arial" pitchFamily="34" charset="0"/>
                <a:ea typeface="Arial" pitchFamily="34" charset="-122"/>
                <a:cs typeface="Arial" pitchFamily="34" charset="-120"/>
              </a:rPr>
              <a:t>It orders services by the </a:t>
            </a:r>
            <a:pPr indent="0" marL="0">
              <a:lnSpc>
                <a:spcPct val="125000"/>
              </a:lnSpc>
              <a:buNone/>
            </a:pPr>
            <a:r>
              <a:rPr lang="en-US" sz="2500" b="1" dirty="0">
                <a:solidFill>
                  <a:srgbClr val="F0C67A"/>
                </a:solidFill>
                <a:latin typeface="Arial" pitchFamily="34" charset="0"/>
                <a:ea typeface="Arial" pitchFamily="34" charset="-122"/>
                <a:cs typeface="Arial" pitchFamily="34" charset="-120"/>
              </a:rPr>
              <a:t>operational shadow debt casts</a:t>
            </a:r>
            <a:pPr indent="0" marL="0">
              <a:lnSpc>
                <a:spcPct val="125000"/>
              </a:lnSpc>
              <a:buNone/>
            </a:pP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SVC-04</a:t>
            </a:r>
            <a:endParaRPr lang="en-US" sz="1200" dirty="0"/>
          </a:p>
        </p:txBody>
      </p:sp>
      <p:sp>
        <p:nvSpPr>
          <p:cNvPr id="5" name="Shape 3"/>
          <p:cNvSpPr/>
          <p:nvPr/>
        </p:nvSpPr>
        <p:spPr>
          <a:xfrm>
            <a:off x="1737360" y="4133088"/>
            <a:ext cx="4663440" cy="182880"/>
          </a:xfrm>
          <a:prstGeom prst="rect">
            <a:avLst/>
          </a:prstGeom>
          <a:solidFill>
            <a:srgbClr val="24405C"/>
          </a:solidFill>
          <a:ln/>
        </p:spPr>
      </p:sp>
      <p:sp>
        <p:nvSpPr>
          <p:cNvPr id="6" name="Shape 4"/>
          <p:cNvSpPr/>
          <p:nvPr/>
        </p:nvSpPr>
        <p:spPr>
          <a:xfrm>
            <a:off x="1737360" y="4133088"/>
            <a:ext cx="2424989" cy="182880"/>
          </a:xfrm>
          <a:prstGeom prst="rect">
            <a:avLst/>
          </a:prstGeom>
          <a:solidFill>
            <a:srgbClr val="D98E1F"/>
          </a:solidFill>
          <a:ln/>
        </p:spPr>
      </p:sp>
      <p:sp>
        <p:nvSpPr>
          <p:cNvPr id="7" name="Text 5"/>
          <p:cNvSpPr/>
          <p:nvPr/>
        </p:nvSpPr>
        <p:spPr>
          <a:xfrm>
            <a:off x="6446520" y="4114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sp>
      <p:sp>
        <p:nvSpPr>
          <p:cNvPr id="10" name="Shape 8"/>
          <p:cNvSpPr/>
          <p:nvPr/>
        </p:nvSpPr>
        <p:spPr>
          <a:xfrm>
            <a:off x="1737360" y="4572000"/>
            <a:ext cx="93269" cy="182880"/>
          </a:xfrm>
          <a:prstGeom prst="rect">
            <a:avLst/>
          </a:prstGeom>
          <a:solidFill>
            <a:srgbClr val="8FA6BC"/>
          </a:solidFill>
          <a:ln/>
        </p:spPr>
      </p:sp>
      <p:sp>
        <p:nvSpPr>
          <p:cNvPr id="11" name="Text 9"/>
          <p:cNvSpPr/>
          <p:nvPr/>
        </p:nvSpPr>
        <p:spPr>
          <a:xfrm>
            <a:off x="6446520" y="455371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indent="0" marL="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r>
          <p:cNvPicPr>
            <a:picLocks noChangeAspect="1"/>
          </p:cNvPicPr>
          <p:nvPr/>
        </p:nvPicPr>
        <p:blipFill>
          <a:blip r:embed="rId1"/>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MSc Thesis Defence</dc:creator>
  <cp:lastModifiedBy>MSc Thesis Defence</cp:lastModifiedBy>
  <cp:revision>1</cp:revision>
  <dcterms:created xsi:type="dcterms:W3CDTF">2026-07-12T08:00:12Z</dcterms:created>
  <dcterms:modified xsi:type="dcterms:W3CDTF">2026-07-12T08:00:12Z</dcterms:modified>
</cp:coreProperties>
</file>