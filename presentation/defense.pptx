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This chart is the thesis in one image: six production trading services, ranked by technical debt priority, computed entirely from operational records. No source code was read to produce it. The next 15 minutes explain why that matters, how it was built, and why you can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0:45-2:00. Frame the environment: continuous availability, FINMA oversight, vendor platforms that cannot be refactored. Then the three anchor numbers, delivered slowly. The last line sets up the whole design: the symptoms are already recorded, we just need an instrument that reads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Emphasise the four-way combination: each pairwise element exists in the literature, the combination does not. RQ2 is deliberately worded 'to what extent': the proxy link is treated as a testable hypothesis throughout, not a premise.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3:00-4:15. Walk one row fully (MTTR: Forsgren et al. validate the metric, Nord et al. ground its diagnostic reading as debt impeding recovery from change). State the exclusions and why: honesty about what could not be measured is part of the audit trail. Pre-empts 'why these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4:15-5:15. Keep this brisk; examiners know TOPSIS. Two points to land: differential weights are a declared practitioner assumption, not literature-derived, and are themselves stress-tested; and method choice is defended empirically, not a priori.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5:15-6:15. Say the right column unprompted; every point is a question the examiner would otherwise ask. Framing: n=6 was a completeness criterion, and the consequence is handled with exact permutation p-values read as effect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6:15-7:15. Read the ranking through the three profiles; each maps onto a distinct debt dimension, which is the practical-validity argument for RQ2. SVC-01 is the money case: quiet on incidents, dominant structural exposure, and it tops the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7:15-8:15. The evaluation architecture. Say the takeaway line verbatim: it answers the biggest examiner question (circularity, no ground truth) before it is asked. The next slides unpack the three most interesting strands.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8:15-9:15. RQ3 answered: stable at the extremes, sensitive in the middle, and the middle sensitivity is a property of the 2024 data (grouped profiles), not the method, as the flatter 2024 Monte Carlo confirms. The takeaway pre-empts 'isn't temporal instability a flaw?'.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9:15-10:00. One idea: if the framework merely reproduced the incident count, it would be redundant. It does not, and the two services that move are the ones that should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10:00-11:15. In 2024 all methods agree SVC-04 and SVC-06 are the high-priority pair; they split on which leads. TOPSIS puts SVC-04 first because vector normalisation preserves its 574-incident magnitude; SAW and VIKOR put SVC-06 first because its worst-in-portfolio change failure rate drives their linear and regret terms. Beneath the pair, all methods place SVC-02 and SVC-01 at ranks three and four, only 0.005 apart. If pressed: VIKOR utility is algebraically 1 minus SAW, so those two are not fully independent; VIKOR adds information only through regret. In 2025 everything agrees on SVC-01.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11:15-12:00. Disagreement as diagnostic rather than failure is the transferable design lesson beyond the case. The takeaway doubles as the answer to 'so which service is actually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12:00-13:15. Deliver these deadpan; each answer is one breath. The move: every hard question already has a stated, chapter-referenced answer in the thesis, so the defence is consistent with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13:15-14:00. The takeaway restates the scope sentence from Chapter 1: 'measuring' means a quantitative, reproducible ordering, not a claim to have quantified the debt itself. Ending the pre-emption block on it shows claim discipline from first page to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14:00-14:40. Three academic contributions, one practical. If pressed on novelty, the four-element combination from the gap table in Chapter 2 is the defensible claim: each element exists separately, no study combines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14:40-15:00. The closing sentence is the final sentence of Chapter 6, so the defence ends exactly where the thesis does.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part of the 15 minutes. Full reference list formatted in Cite Them Right Harvard with all authors listed. If asked for a source mid-defence, jump here, answer, and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3C"/>
        </a:solidFill>
      </p:bgPr>
    </p:bg>
    <p:spTree>
      <p:nvGrpSpPr>
        <p:cNvPr id="1" name=""/>
        <p:cNvGrpSpPr/>
        <p:nvPr/>
      </p:nvGrpSpPr>
      <p:grpSpPr>
        <a:xfrm>
          <a:off x="0" y="0"/>
          <a:ext cx="0" cy="0"/>
          <a:chOff x="0" y="0"/>
          <a:chExt cx="0" cy="0"/>
        </a:xfrm>
      </p:grpSpPr>
      <p:pic>
        <p:nvPicPr>
          <p:cNvPr id="2" name="Image 0" descr="logo_white.png">    </p:cNvPr>
          <p:cNvPicPr>
            <a:picLocks noChangeAspect="1"/>
          </p:cNvPicPr>
          <p:nvPr/>
        </p:nvPicPr>
        <p:blipFill>
          <a:blip r:embed="rId1"/>
          <a:stretch>
            <a:fillRect/>
          </a:stretch>
        </p:blipFill>
        <p:spPr>
          <a:xfrm>
            <a:off x="9784080" y="502920"/>
            <a:ext cx="1691640" cy="841248"/>
          </a:xfrm>
          <a:prstGeom prst="rect">
            <a:avLst/>
          </a:prstGeom>
        </p:spPr>
      </p:pic>
      <p:sp>
        <p:nvSpPr>
          <p:cNvPr id="3" name="Text 0"/>
          <p:cNvSpPr/>
          <p:nvPr/>
        </p:nvSpPr>
        <p:spPr>
          <a:xfrm>
            <a:off x="685800" y="1417320"/>
            <a:ext cx="7315200" cy="274320"/>
          </a:xfrm>
          <a:prstGeom prst="rect">
            <a:avLst/>
          </a:prstGeom>
          <a:noFill/>
          <a:ln/>
        </p:spPr>
        <p:txBody>
          <a:bodyPr wrap="square" lIns="0" tIns="0" rIns="0" bIns="0" rtlCol="0" anchor="ctr"/>
          <a:lstStyle/>
          <a:p>
            <a:pPr indent="0" marL="0">
              <a:buNone/>
            </a:pPr>
            <a:r>
              <a:rPr lang="en-US" sz="1200" b="1" spc="300" kern="0" dirty="0">
                <a:solidFill>
                  <a:srgbClr val="D98E1F"/>
                </a:solidFill>
                <a:latin typeface="Courier New" pitchFamily="34" charset="0"/>
                <a:ea typeface="Courier New" pitchFamily="34" charset="-122"/>
                <a:cs typeface="Courier New" pitchFamily="34" charset="-120"/>
              </a:rPr>
              <a:t>MSC THESIS DEFENCE</a:t>
            </a:r>
            <a:endParaRPr lang="en-US" sz="1200" dirty="0"/>
          </a:p>
        </p:txBody>
      </p:sp>
      <p:sp>
        <p:nvSpPr>
          <p:cNvPr id="4" name="Text 1"/>
          <p:cNvSpPr/>
          <p:nvPr/>
        </p:nvSpPr>
        <p:spPr>
          <a:xfrm>
            <a:off x="685800" y="1874520"/>
            <a:ext cx="9326880" cy="14630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Measuring and Prioritising Technical Debt in Mission-Critical Trading Systems</a:t>
            </a:r>
            <a:endParaRPr lang="en-US" sz="3400" dirty="0"/>
          </a:p>
        </p:txBody>
      </p:sp>
      <p:sp>
        <p:nvSpPr>
          <p:cNvPr id="5" name="Text 2"/>
          <p:cNvSpPr/>
          <p:nvPr/>
        </p:nvSpPr>
        <p:spPr>
          <a:xfrm>
            <a:off x="685800" y="3246120"/>
            <a:ext cx="9601200" cy="411480"/>
          </a:xfrm>
          <a:prstGeom prst="rect">
            <a:avLst/>
          </a:prstGeom>
          <a:noFill/>
          <a:ln/>
        </p:spPr>
        <p:txBody>
          <a:bodyPr wrap="square" lIns="0" tIns="0" rIns="0" bIns="0" rtlCol="0" anchor="ctr"/>
          <a:lstStyle/>
          <a:p>
            <a:pPr indent="0" marL="0">
              <a:buNone/>
            </a:pPr>
            <a:r>
              <a:rPr lang="en-US" sz="1600" dirty="0">
                <a:solidFill>
                  <a:srgbClr val="AFC2D4"/>
                </a:solidFill>
                <a:latin typeface="Arial" pitchFamily="34" charset="0"/>
                <a:ea typeface="Arial" pitchFamily="34" charset="-122"/>
                <a:cs typeface="Arial" pitchFamily="34" charset="-120"/>
              </a:rPr>
              <a:t>A TOPSIS framework on live ITSM and CMDB data from a regulated Swiss trading institution</a:t>
            </a:r>
            <a:endParaRPr lang="en-US" sz="1600" dirty="0"/>
          </a:p>
        </p:txBody>
      </p:sp>
      <p:sp>
        <p:nvSpPr>
          <p:cNvPr id="6" name="Text 3"/>
          <p:cNvSpPr/>
          <p:nvPr/>
        </p:nvSpPr>
        <p:spPr>
          <a:xfrm>
            <a:off x="685800" y="3977640"/>
            <a:ext cx="107899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Tobias Zeier</a:t>
            </a:r>
            <a:pPr indent="0" marL="0">
              <a:buNone/>
            </a:pPr>
            <a:r>
              <a:rPr lang="en-US" sz="1500" dirty="0">
                <a:solidFill>
                  <a:srgbClr val="AFC2D4"/>
                </a:solidFill>
                <a:latin typeface="Arial" pitchFamily="34" charset="0"/>
                <a:ea typeface="Arial" pitchFamily="34" charset="-122"/>
                <a:cs typeface="Arial" pitchFamily="34" charset="-120"/>
              </a:rPr>
              <a:t>  ·  MSc Enterprise IT Management, University of Essex</a:t>
            </a:r>
            <a:endParaRPr lang="en-US" sz="1500" dirty="0"/>
          </a:p>
        </p:txBody>
      </p:sp>
      <p:sp>
        <p:nvSpPr>
          <p:cNvPr id="7" name="Shape 4"/>
          <p:cNvSpPr/>
          <p:nvPr/>
        </p:nvSpPr>
        <p:spPr>
          <a:xfrm>
            <a:off x="685800" y="3794760"/>
            <a:ext cx="2011680" cy="0"/>
          </a:xfrm>
          <a:prstGeom prst="line">
            <a:avLst/>
          </a:prstGeom>
          <a:noFill/>
          <a:ln w="25400">
            <a:solidFill>
              <a:srgbClr val="D98E1F"/>
            </a:solidFill>
            <a:prstDash val="solid"/>
          </a:ln>
        </p:spPr>
      </p:sp>
      <p:sp>
        <p:nvSpPr>
          <p:cNvPr id="8" name="Text 5"/>
          <p:cNvSpPr/>
          <p:nvPr/>
        </p:nvSpPr>
        <p:spPr>
          <a:xfrm>
            <a:off x="685800" y="6263640"/>
            <a:ext cx="10789920" cy="256032"/>
          </a:xfrm>
          <a:prstGeom prst="rect">
            <a:avLst/>
          </a:prstGeom>
          <a:noFill/>
          <a:ln/>
        </p:spPr>
        <p:txBody>
          <a:bodyPr wrap="square" lIns="0" tIns="0" rIns="0" bIns="0" rtlCol="0" anchor="ctr"/>
          <a:lstStyle/>
          <a:p>
            <a:pPr indent="0" marL="0">
              <a:buNone/>
            </a:pPr>
            <a:r>
              <a:rPr lang="en-US" sz="1000" spc="200" kern="0" dirty="0">
                <a:solidFill>
                  <a:srgbClr val="8FA6BC"/>
                </a:solidFill>
                <a:latin typeface="Courier New" pitchFamily="34" charset="0"/>
                <a:ea typeface="Courier New" pitchFamily="34" charset="-122"/>
                <a:cs typeface="Courier New" pitchFamily="34" charset="-120"/>
              </a:rPr>
              <a:t>STUDENT ID 12696372  ·  SUPERVISOR DR ZAHID ULLAH  ·  CO-SUPERVISOR DOUG MILLWARD  ·  12 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MOTIVATION</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The problem lives outside the code</a:t>
            </a:r>
            <a:endParaRPr lang="en-US" sz="3000" dirty="0"/>
          </a:p>
        </p:txBody>
      </p:sp>
      <p:sp>
        <p:nvSpPr>
          <p:cNvPr id="4" name="Text 2"/>
          <p:cNvSpPr/>
          <p:nvPr/>
        </p:nvSpPr>
        <p:spPr>
          <a:xfrm>
            <a:off x="685800" y="1828800"/>
            <a:ext cx="5760720" cy="3108960"/>
          </a:xfrm>
          <a:prstGeom prst="rect">
            <a:avLst/>
          </a:prstGeom>
          <a:noFill/>
          <a:ln/>
        </p:spPr>
        <p:txBody>
          <a:bodyPr wrap="square" lIns="0" tIns="0" rIns="0" bIns="0" rtlCol="0" anchor="t"/>
          <a:lstStyle/>
          <a:p>
            <a:pPr marL="177800" indent="-177800">
              <a:lnSpc>
                <a:spcPct val="112000"/>
              </a:lnSpc>
              <a:spcAft>
                <a:spcPts val="1200"/>
              </a:spcAft>
              <a:buSzPct val="100000"/>
              <a:buChar char="•"/>
            </a:pPr>
            <a:r>
              <a:rPr lang="en-US" sz="1500" dirty="0">
                <a:solidFill>
                  <a:srgbClr val="14283C"/>
                </a:solidFill>
                <a:latin typeface="Arial" pitchFamily="34" charset="0"/>
                <a:ea typeface="Arial" pitchFamily="34" charset="-122"/>
                <a:cs typeface="Arial" pitchFamily="34" charset="-120"/>
              </a:rPr>
              <a:t>In vendor-dominated trading IT, source code is inaccessible, so the dominant tools (SonarQube, SQALE, CAST) are structurally inapplicable</a:t>
            </a:r>
            <a:endParaRPr lang="en-US" sz="1500" dirty="0"/>
          </a:p>
          <a:p>
            <a:pPr marL="177800" indent="-177800">
              <a:lnSpc>
                <a:spcPct val="112000"/>
              </a:lnSpc>
              <a:spcAft>
                <a:spcPts val="1200"/>
              </a:spcAft>
              <a:buSzPct val="100000"/>
              <a:buChar char="•"/>
            </a:pPr>
            <a:r>
              <a:rPr lang="en-US" sz="1500" dirty="0">
                <a:solidFill>
                  <a:srgbClr val="14283C"/>
                </a:solidFill>
                <a:latin typeface="Arial" pitchFamily="34" charset="0"/>
                <a:ea typeface="Arial" pitchFamily="34" charset="-122"/>
                <a:cs typeface="Arial" pitchFamily="34" charset="-120"/>
              </a:rPr>
              <a:t>The debt that matters sits in infrastructure lifecycle exposure, patch delay and operational instability, which code-centric tools cannot observe</a:t>
            </a:r>
            <a:endParaRPr lang="en-US" sz="1500" dirty="0"/>
          </a:p>
          <a:p>
            <a:pPr marL="177800" indent="-177800">
              <a:lnSpc>
                <a:spcPct val="112000"/>
              </a:lnSpc>
              <a:spcAft>
                <a:spcPts val="1200"/>
              </a:spcAft>
              <a:buSzPct val="100000"/>
              <a:buChar char="•"/>
            </a:pPr>
            <a:r>
              <a:rPr lang="en-US" sz="1500" dirty="0">
                <a:solidFill>
                  <a:srgbClr val="14283C"/>
                </a:solidFill>
                <a:latin typeface="Arial" pitchFamily="34" charset="0"/>
                <a:ea typeface="Arial" pitchFamily="34" charset="-122"/>
                <a:cs typeface="Arial" pitchFamily="34" charset="-120"/>
              </a:rPr>
              <a:t>Its symptoms, however, are recorded daily in ITSM and CMDB systems</a:t>
            </a:r>
            <a:endParaRPr lang="en-US" sz="1500" dirty="0"/>
          </a:p>
        </p:txBody>
      </p:sp>
      <p:sp>
        <p:nvSpPr>
          <p:cNvPr id="5" name="Shape 3"/>
          <p:cNvSpPr/>
          <p:nvPr/>
        </p:nvSpPr>
        <p:spPr>
          <a:xfrm>
            <a:off x="6812280" y="1783080"/>
            <a:ext cx="4663440" cy="1170432"/>
          </a:xfrm>
          <a:prstGeom prst="rect">
            <a:avLst/>
          </a:prstGeom>
          <a:solidFill>
            <a:srgbClr val="F7F9FA"/>
          </a:solidFill>
          <a:ln/>
          <a:effectLst>
            <a:outerShdw sx="100000" sy="100000" kx="0" ky="0" algn="bl" rotWithShape="0" blurRad="76200" dist="25400" dir="5400000">
              <a:srgbClr val="9AA7B2">
                <a:alpha val="25000"/>
              </a:srgbClr>
            </a:outerShdw>
          </a:effectLst>
        </p:spPr>
      </p:sp>
      <p:sp>
        <p:nvSpPr>
          <p:cNvPr id="6" name="Text 4"/>
          <p:cNvSpPr/>
          <p:nvPr/>
        </p:nvSpPr>
        <p:spPr>
          <a:xfrm>
            <a:off x="7040880" y="1892808"/>
            <a:ext cx="2103120" cy="502920"/>
          </a:xfrm>
          <a:prstGeom prst="rect">
            <a:avLst/>
          </a:prstGeom>
          <a:noFill/>
          <a:ln/>
        </p:spPr>
        <p:txBody>
          <a:bodyPr wrap="square" lIns="0" tIns="0" rIns="0" bIns="0" rtlCol="0" anchor="ctr"/>
          <a:lstStyle/>
          <a:p>
            <a:pPr indent="0" marL="0">
              <a:buNone/>
            </a:pPr>
            <a:r>
              <a:rPr lang="en-US" sz="2600" b="1" dirty="0">
                <a:solidFill>
                  <a:srgbClr val="D98E1F"/>
                </a:solidFill>
                <a:latin typeface="Courier New" pitchFamily="34" charset="0"/>
                <a:ea typeface="Courier New" pitchFamily="34" charset="-122"/>
                <a:cs typeface="Courier New" pitchFamily="34" charset="-120"/>
              </a:rPr>
              <a:t>−16%</a:t>
            </a:r>
            <a:endParaRPr lang="en-US" sz="2600" dirty="0"/>
          </a:p>
        </p:txBody>
      </p:sp>
      <p:sp>
        <p:nvSpPr>
          <p:cNvPr id="7" name="Text 5"/>
          <p:cNvSpPr/>
          <p:nvPr/>
        </p:nvSpPr>
        <p:spPr>
          <a:xfrm>
            <a:off x="7040880" y="2350008"/>
            <a:ext cx="4206240" cy="548640"/>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gross return on assets per 10% more technical debt in COTS platforms (Banker et al., 2020)</a:t>
            </a:r>
            <a:endParaRPr lang="en-US" sz="1100" dirty="0"/>
          </a:p>
        </p:txBody>
      </p:sp>
      <p:sp>
        <p:nvSpPr>
          <p:cNvPr id="8" name="Shape 6"/>
          <p:cNvSpPr/>
          <p:nvPr/>
        </p:nvSpPr>
        <p:spPr>
          <a:xfrm>
            <a:off x="6812280" y="3108960"/>
            <a:ext cx="4663440" cy="1170432"/>
          </a:xfrm>
          <a:prstGeom prst="rect">
            <a:avLst/>
          </a:prstGeom>
          <a:solidFill>
            <a:srgbClr val="F7F9FA"/>
          </a:solidFill>
          <a:ln/>
          <a:effectLst>
            <a:outerShdw sx="100000" sy="100000" kx="0" ky="0" algn="bl" rotWithShape="0" blurRad="76200" dist="25400" dir="5400000">
              <a:srgbClr val="9AA7B2">
                <a:alpha val="25000"/>
              </a:srgbClr>
            </a:outerShdw>
          </a:effectLst>
        </p:spPr>
      </p:sp>
      <p:sp>
        <p:nvSpPr>
          <p:cNvPr id="9" name="Text 7"/>
          <p:cNvSpPr/>
          <p:nvPr/>
        </p:nvSpPr>
        <p:spPr>
          <a:xfrm>
            <a:off x="7040880" y="3218688"/>
            <a:ext cx="2103120" cy="502920"/>
          </a:xfrm>
          <a:prstGeom prst="rect">
            <a:avLst/>
          </a:prstGeom>
          <a:noFill/>
          <a:ln/>
        </p:spPr>
        <p:txBody>
          <a:bodyPr wrap="square" lIns="0" tIns="0" rIns="0" bIns="0" rtlCol="0" anchor="ctr"/>
          <a:lstStyle/>
          <a:p>
            <a:pPr indent="0" marL="0">
              <a:buNone/>
            </a:pPr>
            <a:r>
              <a:rPr lang="en-US" sz="2600" b="1" dirty="0">
                <a:solidFill>
                  <a:srgbClr val="D98E1F"/>
                </a:solidFill>
                <a:latin typeface="Courier New" pitchFamily="34" charset="0"/>
                <a:ea typeface="Courier New" pitchFamily="34" charset="-122"/>
                <a:cs typeface="Courier New" pitchFamily="34" charset="-120"/>
              </a:rPr>
              <a:t>4.9× / 9.1×</a:t>
            </a:r>
            <a:endParaRPr lang="en-US" sz="2600" dirty="0"/>
          </a:p>
        </p:txBody>
      </p:sp>
      <p:sp>
        <p:nvSpPr>
          <p:cNvPr id="10" name="Text 8"/>
          <p:cNvSpPr/>
          <p:nvPr/>
        </p:nvSpPr>
        <p:spPr>
          <a:xfrm>
            <a:off x="7040880" y="3675888"/>
            <a:ext cx="4206240" cy="548640"/>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higher odds of compromise after one / three months of patch delay (Di Tizio et al., 2023)</a:t>
            </a:r>
            <a:endParaRPr lang="en-US" sz="1100" dirty="0"/>
          </a:p>
        </p:txBody>
      </p:sp>
      <p:sp>
        <p:nvSpPr>
          <p:cNvPr id="11" name="Shape 9"/>
          <p:cNvSpPr/>
          <p:nvPr/>
        </p:nvSpPr>
        <p:spPr>
          <a:xfrm>
            <a:off x="6812280" y="4434840"/>
            <a:ext cx="4663440" cy="1170432"/>
          </a:xfrm>
          <a:prstGeom prst="rect">
            <a:avLst/>
          </a:prstGeom>
          <a:solidFill>
            <a:srgbClr val="F7F9FA"/>
          </a:solidFill>
          <a:ln/>
          <a:effectLst>
            <a:outerShdw sx="100000" sy="100000" kx="0" ky="0" algn="bl" rotWithShape="0" blurRad="76200" dist="25400" dir="5400000">
              <a:srgbClr val="9AA7B2">
                <a:alpha val="25000"/>
              </a:srgbClr>
            </a:outerShdw>
          </a:effectLst>
        </p:spPr>
      </p:sp>
      <p:sp>
        <p:nvSpPr>
          <p:cNvPr id="12" name="Text 10"/>
          <p:cNvSpPr/>
          <p:nvPr/>
        </p:nvSpPr>
        <p:spPr>
          <a:xfrm>
            <a:off x="7040880" y="4544568"/>
            <a:ext cx="2103120" cy="502920"/>
          </a:xfrm>
          <a:prstGeom prst="rect">
            <a:avLst/>
          </a:prstGeom>
          <a:noFill/>
          <a:ln/>
        </p:spPr>
        <p:txBody>
          <a:bodyPr wrap="square" lIns="0" tIns="0" rIns="0" bIns="0" rtlCol="0" anchor="ctr"/>
          <a:lstStyle/>
          <a:p>
            <a:pPr indent="0" marL="0">
              <a:buNone/>
            </a:pPr>
            <a:r>
              <a:rPr lang="en-US" sz="2600" b="1" dirty="0">
                <a:solidFill>
                  <a:srgbClr val="1E7F82"/>
                </a:solidFill>
                <a:latin typeface="Courier New" pitchFamily="34" charset="0"/>
                <a:ea typeface="Courier New" pitchFamily="34" charset="-122"/>
                <a:cs typeface="Courier New" pitchFamily="34" charset="-120"/>
              </a:rPr>
              <a:t>−84%</a:t>
            </a:r>
            <a:endParaRPr lang="en-US" sz="2600" dirty="0"/>
          </a:p>
        </p:txBody>
      </p:sp>
      <p:sp>
        <p:nvSpPr>
          <p:cNvPr id="13" name="Text 11"/>
          <p:cNvSpPr/>
          <p:nvPr/>
        </p:nvSpPr>
        <p:spPr>
          <a:xfrm>
            <a:off x="7040880" y="5001768"/>
            <a:ext cx="4206240" cy="548640"/>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incidents after targeted architectural debt repayment (de Toledo et al., 2021)</a:t>
            </a:r>
            <a:endParaRPr lang="en-US" sz="1100" dirty="0"/>
          </a:p>
        </p:txBody>
      </p:sp>
      <p:sp>
        <p:nvSpPr>
          <p:cNvPr id="14" name="Shape 12"/>
          <p:cNvSpPr/>
          <p:nvPr/>
        </p:nvSpPr>
        <p:spPr>
          <a:xfrm>
            <a:off x="685800" y="5806440"/>
            <a:ext cx="5760720" cy="713232"/>
          </a:xfrm>
          <a:prstGeom prst="rect">
            <a:avLst/>
          </a:prstGeom>
          <a:solidFill>
            <a:srgbClr val="F2F7F6"/>
          </a:solidFill>
          <a:ln/>
        </p:spPr>
      </p:sp>
      <p:sp>
        <p:nvSpPr>
          <p:cNvPr id="15" name="Text 13"/>
          <p:cNvSpPr/>
          <p:nvPr/>
        </p:nvSpPr>
        <p:spPr>
          <a:xfrm>
            <a:off x="886968" y="5879592"/>
            <a:ext cx="53949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6" name="Text 14"/>
          <p:cNvSpPr/>
          <p:nvPr/>
        </p:nvSpPr>
        <p:spPr>
          <a:xfrm>
            <a:off x="886968" y="6080760"/>
            <a:ext cx="53949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The costliest debt in this environment is invisible to the standard tools, but its symptoms are already being recorded.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RESEARCH QUESTIONS · CHAPTERS 1–2</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The gap and the research questions</a:t>
            </a:r>
            <a:endParaRPr lang="en-US" sz="3000" dirty="0"/>
          </a:p>
        </p:txBody>
      </p:sp>
      <p:sp>
        <p:nvSpPr>
          <p:cNvPr id="4" name="Text 2"/>
          <p:cNvSpPr/>
          <p:nvPr/>
        </p:nvSpPr>
        <p:spPr>
          <a:xfrm>
            <a:off x="685800" y="1783080"/>
            <a:ext cx="10789920" cy="777240"/>
          </a:xfrm>
          <a:prstGeom prst="rect">
            <a:avLst/>
          </a:prstGeom>
          <a:noFill/>
          <a:ln/>
        </p:spPr>
        <p:txBody>
          <a:bodyPr wrap="square" lIns="0" tIns="0" rIns="0" bIns="0" rtlCol="0" anchor="t"/>
          <a:lstStyle/>
          <a:p>
            <a:pPr indent="0" marL="0">
              <a:lnSpc>
                <a:spcPct val="115000"/>
              </a:lnSpc>
              <a:buNone/>
            </a:pPr>
            <a:r>
              <a:rPr lang="en-US" sz="1500" dirty="0">
                <a:solidFill>
                  <a:srgbClr val="14283C"/>
                </a:solidFill>
                <a:latin typeface="Arial" pitchFamily="34" charset="0"/>
                <a:ea typeface="Arial" pitchFamily="34" charset="-122"/>
                <a:cs typeface="Arial" pitchFamily="34" charset="-120"/>
              </a:rPr>
              <a:t>Across 44 primary studies on TD prioritisation, quantitative multi-criteria approaches are uncommon and industrial validation is rare (Lenarduzzi et al., 2021). </a:t>
            </a:r>
            <a:pPr indent="0" marL="0">
              <a:lnSpc>
                <a:spcPct val="115000"/>
              </a:lnSpc>
              <a:buNone/>
            </a:pPr>
            <a:r>
              <a:rPr lang="en-US" sz="1500" b="1" dirty="0">
                <a:solidFill>
                  <a:srgbClr val="14283C"/>
                </a:solidFill>
                <a:latin typeface="Arial" pitchFamily="34" charset="0"/>
                <a:ea typeface="Arial" pitchFamily="34" charset="-122"/>
                <a:cs typeface="Arial" pitchFamily="34" charset="-120"/>
              </a:rPr>
              <a:t>No reviewed study combines</a:t>
            </a:r>
            <a:pPr indent="0" marL="0">
              <a:lnSpc>
                <a:spcPct val="115000"/>
              </a:lnSpc>
              <a:buNone/>
            </a:pPr>
            <a:r>
              <a:rPr lang="en-US" sz="1500" dirty="0">
                <a:solidFill>
                  <a:srgbClr val="14283C"/>
                </a:solidFill>
                <a:latin typeface="Arial" pitchFamily="34" charset="0"/>
                <a:ea typeface="Arial" pitchFamily="34" charset="-122"/>
                <a:cs typeface="Arial" pitchFamily="34" charset="-120"/>
              </a:rPr>
              <a:t> service-level indicators, multi-criteria prioritisation, live operational data and a trading IT context.</a:t>
            </a:r>
            <a:endParaRPr lang="en-US" sz="1500" dirty="0"/>
          </a:p>
        </p:txBody>
      </p:sp>
      <p:sp>
        <p:nvSpPr>
          <p:cNvPr id="5" name="Shape 3"/>
          <p:cNvSpPr/>
          <p:nvPr/>
        </p:nvSpPr>
        <p:spPr>
          <a:xfrm>
            <a:off x="685800" y="2880360"/>
            <a:ext cx="10789920" cy="868680"/>
          </a:xfrm>
          <a:prstGeom prst="rect">
            <a:avLst/>
          </a:prstGeom>
          <a:solidFill>
            <a:srgbClr val="F7F9FA"/>
          </a:solidFill>
          <a:ln/>
        </p:spPr>
      </p:sp>
      <p:sp>
        <p:nvSpPr>
          <p:cNvPr id="6" name="Text 4"/>
          <p:cNvSpPr/>
          <p:nvPr/>
        </p:nvSpPr>
        <p:spPr>
          <a:xfrm>
            <a:off x="914400" y="3044952"/>
            <a:ext cx="822960" cy="548640"/>
          </a:xfrm>
          <a:prstGeom prst="rect">
            <a:avLst/>
          </a:prstGeom>
          <a:noFill/>
          <a:ln/>
        </p:spPr>
        <p:txBody>
          <a:bodyPr wrap="square" lIns="0" tIns="0" rIns="0" bIns="0" rtlCol="0" anchor="ctr"/>
          <a:lstStyle/>
          <a:p>
            <a:pPr indent="0" marL="0">
              <a:buNone/>
            </a:pPr>
            <a:r>
              <a:rPr lang="en-US" sz="1800" b="1" dirty="0">
                <a:solidFill>
                  <a:srgbClr val="D98E1F"/>
                </a:solidFill>
                <a:latin typeface="Courier New" pitchFamily="34" charset="0"/>
                <a:ea typeface="Courier New" pitchFamily="34" charset="-122"/>
                <a:cs typeface="Courier New" pitchFamily="34" charset="-120"/>
              </a:rPr>
              <a:t>RQ1</a:t>
            </a:r>
            <a:endParaRPr lang="en-US" sz="1800" dirty="0"/>
          </a:p>
        </p:txBody>
      </p:sp>
      <p:sp>
        <p:nvSpPr>
          <p:cNvPr id="7" name="Text 5"/>
          <p:cNvSpPr/>
          <p:nvPr/>
        </p:nvSpPr>
        <p:spPr>
          <a:xfrm>
            <a:off x="1874520" y="2990088"/>
            <a:ext cx="9326880" cy="658368"/>
          </a:xfrm>
          <a:prstGeom prst="rect">
            <a:avLst/>
          </a:prstGeom>
          <a:noFill/>
          <a:ln/>
        </p:spPr>
        <p:txBody>
          <a:bodyPr wrap="square" lIns="0" tIns="0" rIns="0" bIns="0" rtlCol="0" anchor="ctr"/>
          <a:lstStyle/>
          <a:p>
            <a:pPr indent="0" marL="0">
              <a:buNone/>
            </a:pPr>
            <a:r>
              <a:rPr lang="en-US" sz="1450" dirty="0">
                <a:solidFill>
                  <a:srgbClr val="14283C"/>
                </a:solidFill>
                <a:latin typeface="Arial" pitchFamily="34" charset="0"/>
                <a:ea typeface="Arial" pitchFamily="34" charset="-122"/>
                <a:cs typeface="Arial" pitchFamily="34" charset="-120"/>
              </a:rPr>
              <a:t>How can technical debt in mission-critical trading systems be prioritised quantitatively at the service level using operational data?</a:t>
            </a:r>
            <a:endParaRPr lang="en-US" sz="1450" dirty="0"/>
          </a:p>
        </p:txBody>
      </p:sp>
      <p:sp>
        <p:nvSpPr>
          <p:cNvPr id="8" name="Shape 6"/>
          <p:cNvSpPr/>
          <p:nvPr/>
        </p:nvSpPr>
        <p:spPr>
          <a:xfrm>
            <a:off x="685800" y="3904488"/>
            <a:ext cx="10789920" cy="868680"/>
          </a:xfrm>
          <a:prstGeom prst="rect">
            <a:avLst/>
          </a:prstGeom>
          <a:solidFill>
            <a:srgbClr val="FBF4E8"/>
          </a:solidFill>
          <a:ln/>
        </p:spPr>
      </p:sp>
      <p:sp>
        <p:nvSpPr>
          <p:cNvPr id="9" name="Text 7"/>
          <p:cNvSpPr/>
          <p:nvPr/>
        </p:nvSpPr>
        <p:spPr>
          <a:xfrm>
            <a:off x="914400" y="4069080"/>
            <a:ext cx="822960" cy="548640"/>
          </a:xfrm>
          <a:prstGeom prst="rect">
            <a:avLst/>
          </a:prstGeom>
          <a:noFill/>
          <a:ln/>
        </p:spPr>
        <p:txBody>
          <a:bodyPr wrap="square" lIns="0" tIns="0" rIns="0" bIns="0" rtlCol="0" anchor="ctr"/>
          <a:lstStyle/>
          <a:p>
            <a:pPr indent="0" marL="0">
              <a:buNone/>
            </a:pPr>
            <a:r>
              <a:rPr lang="en-US" sz="1800" b="1" dirty="0">
                <a:solidFill>
                  <a:srgbClr val="D98E1F"/>
                </a:solidFill>
                <a:latin typeface="Courier New" pitchFamily="34" charset="0"/>
                <a:ea typeface="Courier New" pitchFamily="34" charset="-122"/>
                <a:cs typeface="Courier New" pitchFamily="34" charset="-120"/>
              </a:rPr>
              <a:t>RQ2</a:t>
            </a:r>
            <a:endParaRPr lang="en-US" sz="1800" dirty="0"/>
          </a:p>
        </p:txBody>
      </p:sp>
      <p:sp>
        <p:nvSpPr>
          <p:cNvPr id="10" name="Text 8"/>
          <p:cNvSpPr/>
          <p:nvPr/>
        </p:nvSpPr>
        <p:spPr>
          <a:xfrm>
            <a:off x="1874520" y="4014216"/>
            <a:ext cx="9326880" cy="658368"/>
          </a:xfrm>
          <a:prstGeom prst="rect">
            <a:avLst/>
          </a:prstGeom>
          <a:noFill/>
          <a:ln/>
        </p:spPr>
        <p:txBody>
          <a:bodyPr wrap="square" lIns="0" tIns="0" rIns="0" bIns="0" rtlCol="0" anchor="ctr"/>
          <a:lstStyle/>
          <a:p>
            <a:pPr indent="0" marL="0">
              <a:buNone/>
            </a:pPr>
            <a:r>
              <a:rPr lang="en-US" sz="1450" dirty="0">
                <a:solidFill>
                  <a:srgbClr val="14283C"/>
                </a:solidFill>
                <a:latin typeface="Arial" pitchFamily="34" charset="0"/>
                <a:ea typeface="Arial" pitchFamily="34" charset="-122"/>
                <a:cs typeface="Arial" pitchFamily="34" charset="-120"/>
              </a:rPr>
              <a:t>To what extent do operational service management metrics serve as valid proxies for technical debt severity?</a:t>
            </a:r>
            <a:endParaRPr lang="en-US" sz="1450" dirty="0"/>
          </a:p>
        </p:txBody>
      </p:sp>
      <p:sp>
        <p:nvSpPr>
          <p:cNvPr id="11" name="Shape 9"/>
          <p:cNvSpPr/>
          <p:nvPr/>
        </p:nvSpPr>
        <p:spPr>
          <a:xfrm>
            <a:off x="685800" y="4928616"/>
            <a:ext cx="10789920" cy="868680"/>
          </a:xfrm>
          <a:prstGeom prst="rect">
            <a:avLst/>
          </a:prstGeom>
          <a:solidFill>
            <a:srgbClr val="F7F9FA"/>
          </a:solidFill>
          <a:ln/>
        </p:spPr>
      </p:sp>
      <p:sp>
        <p:nvSpPr>
          <p:cNvPr id="12" name="Text 10"/>
          <p:cNvSpPr/>
          <p:nvPr/>
        </p:nvSpPr>
        <p:spPr>
          <a:xfrm>
            <a:off x="914400" y="5093208"/>
            <a:ext cx="822960" cy="548640"/>
          </a:xfrm>
          <a:prstGeom prst="rect">
            <a:avLst/>
          </a:prstGeom>
          <a:noFill/>
          <a:ln/>
        </p:spPr>
        <p:txBody>
          <a:bodyPr wrap="square" lIns="0" tIns="0" rIns="0" bIns="0" rtlCol="0" anchor="ctr"/>
          <a:lstStyle/>
          <a:p>
            <a:pPr indent="0" marL="0">
              <a:buNone/>
            </a:pPr>
            <a:r>
              <a:rPr lang="en-US" sz="1800" b="1" dirty="0">
                <a:solidFill>
                  <a:srgbClr val="D98E1F"/>
                </a:solidFill>
                <a:latin typeface="Courier New" pitchFamily="34" charset="0"/>
                <a:ea typeface="Courier New" pitchFamily="34" charset="-122"/>
                <a:cs typeface="Courier New" pitchFamily="34" charset="-120"/>
              </a:rPr>
              <a:t>RQ3</a:t>
            </a:r>
            <a:endParaRPr lang="en-US" sz="1800" dirty="0"/>
          </a:p>
        </p:txBody>
      </p:sp>
      <p:sp>
        <p:nvSpPr>
          <p:cNvPr id="13" name="Text 11"/>
          <p:cNvSpPr/>
          <p:nvPr/>
        </p:nvSpPr>
        <p:spPr>
          <a:xfrm>
            <a:off x="1874520" y="5038344"/>
            <a:ext cx="9326880" cy="658368"/>
          </a:xfrm>
          <a:prstGeom prst="rect">
            <a:avLst/>
          </a:prstGeom>
          <a:noFill/>
          <a:ln/>
        </p:spPr>
        <p:txBody>
          <a:bodyPr wrap="square" lIns="0" tIns="0" rIns="0" bIns="0" rtlCol="0" anchor="ctr"/>
          <a:lstStyle/>
          <a:p>
            <a:pPr indent="0" marL="0">
              <a:buNone/>
            </a:pPr>
            <a:r>
              <a:rPr lang="en-US" sz="1450" dirty="0">
                <a:solidFill>
                  <a:srgbClr val="14283C"/>
                </a:solidFill>
                <a:latin typeface="Arial" pitchFamily="34" charset="0"/>
                <a:ea typeface="Arial" pitchFamily="34" charset="-122"/>
                <a:cs typeface="Arial" pitchFamily="34" charset="-120"/>
              </a:rPr>
              <a:t>How stable are the resulting rankings when criterion weights are perturbed?</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METHOD · DESIGN SCIENCE RESEARCH</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Five indicators, one auditable instrument</a:t>
            </a:r>
            <a:endParaRPr lang="en-US" sz="3000" dirty="0"/>
          </a:p>
        </p:txBody>
      </p:sp>
      <p:sp>
        <p:nvSpPr>
          <p:cNvPr id="4" name="Text 2"/>
          <p:cNvSpPr/>
          <p:nvPr/>
        </p:nvSpPr>
        <p:spPr>
          <a:xfrm>
            <a:off x="685800" y="1737360"/>
            <a:ext cx="10789920" cy="320040"/>
          </a:xfrm>
          <a:prstGeom prst="rect">
            <a:avLst/>
          </a:prstGeom>
          <a:noFill/>
          <a:ln/>
        </p:spPr>
        <p:txBody>
          <a:bodyPr wrap="square" lIns="0" tIns="0" rIns="0" bIns="0" rtlCol="0" anchor="ctr"/>
          <a:lstStyle/>
          <a:p>
            <a:pPr indent="0" marL="0">
              <a:buNone/>
            </a:pPr>
            <a:r>
              <a:rPr lang="en-US" sz="1350" dirty="0">
                <a:solidFill>
                  <a:srgbClr val="2A3F55"/>
                </a:solidFill>
                <a:latin typeface="Arial" pitchFamily="34" charset="0"/>
                <a:ea typeface="Arial" pitchFamily="34" charset="-122"/>
                <a:cs typeface="Arial" pitchFamily="34" charset="-120"/>
              </a:rPr>
              <a:t>DSR (Hevner et al., 2004) · single-organisation embedded case study · unit of analysis: the IT service as a configuration item</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789920" cy="914400"/>
        </p:xfrm>
        <a:graphic>
          <a:graphicData uri="http://schemas.openxmlformats.org/drawingml/2006/table">
            <a:tbl>
              <a:tblPr/>
              <a:tblGrid>
                <a:gridCol w="4206240"/>
                <a:gridCol w="1737360"/>
                <a:gridCol w="4846320"/>
              </a:tblGrid>
              <a:tr h="457200">
                <a:tc>
                  <a:txBody>
                    <a:bodyPr/>
                    <a:lstStyle/>
                    <a:p>
                      <a:pPr indent="0" marL="0">
                        <a:buNone/>
                      </a:pPr>
                      <a:r>
                        <a:rPr lang="en-US" sz="1400" b="1" dirty="0">
                          <a:solidFill>
                            <a:srgbClr val="14283C"/>
                          </a:solidFill>
                          <a:latin typeface="Arial" pitchFamily="34" charset="0"/>
                          <a:ea typeface="Arial" pitchFamily="34" charset="-122"/>
                          <a:cs typeface="Arial" pitchFamily="34" charset="-120"/>
                        </a:rPr>
                        <a:t>INDICATOR</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b="1" dirty="0">
                          <a:solidFill>
                            <a:srgbClr val="14283C"/>
                          </a:solidFill>
                          <a:latin typeface="Arial" pitchFamily="34" charset="0"/>
                          <a:ea typeface="Arial" pitchFamily="34" charset="-122"/>
                          <a:cs typeface="Arial" pitchFamily="34" charset="-120"/>
                        </a:rPr>
                        <a:t>SOURCE</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b="1" dirty="0">
                          <a:solidFill>
                            <a:srgbClr val="14283C"/>
                          </a:solidFill>
                          <a:latin typeface="Arial" pitchFamily="34" charset="0"/>
                          <a:ea typeface="Arial" pitchFamily="34" charset="-122"/>
                          <a:cs typeface="Arial" pitchFamily="34" charset="-120"/>
                        </a:rPr>
                        <a:t>DEBT DIMENSION (TABLE 2.3)</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83C"/>
                          </a:solidFill>
                          <a:latin typeface="Arial" pitchFamily="34" charset="0"/>
                          <a:ea typeface="Arial" pitchFamily="34" charset="-122"/>
                          <a:cs typeface="Arial" pitchFamily="34" charset="-120"/>
                        </a:rPr>
                        <a:t>Incident frequency</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ITSM</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Architectural</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83C"/>
                          </a:solidFill>
                          <a:latin typeface="Arial" pitchFamily="34" charset="0"/>
                          <a:ea typeface="Arial" pitchFamily="34" charset="-122"/>
                          <a:cs typeface="Arial" pitchFamily="34" charset="-120"/>
                        </a:rPr>
                        <a:t>Mean time to restore (MTTR)</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ITSM</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Infrastructure / platform</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83C"/>
                          </a:solidFill>
                          <a:latin typeface="Arial" pitchFamily="34" charset="0"/>
                          <a:ea typeface="Arial" pitchFamily="34" charset="-122"/>
                          <a:cs typeface="Arial" pitchFamily="34" charset="-120"/>
                        </a:rPr>
                        <a:t>Change failure rate (CFR)</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ITSM</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Process</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83C"/>
                          </a:solidFill>
                          <a:latin typeface="Arial" pitchFamily="34" charset="0"/>
                          <a:ea typeface="Arial" pitchFamily="34" charset="-122"/>
                          <a:cs typeface="Arial" pitchFamily="34" charset="-120"/>
                        </a:rPr>
                        <a:t>Patch recency</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CMDB</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Vulnerability</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83C"/>
                          </a:solidFill>
                          <a:latin typeface="Arial" pitchFamily="34" charset="0"/>
                          <a:ea typeface="Arial" pitchFamily="34" charset="-122"/>
                          <a:cs typeface="Arial" pitchFamily="34" charset="-120"/>
                        </a:rPr>
                        <a:t>Unsupported component months</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CMDB</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c>
                  <a:txBody>
                    <a:bodyPr/>
                    <a:lstStyle/>
                    <a:p>
                      <a:pPr indent="0" marL="0">
                        <a:buNone/>
                      </a:pPr>
                      <a:r>
                        <a:rPr lang="en-US" sz="1400" dirty="0">
                          <a:solidFill>
                            <a:srgbClr val="14283C"/>
                          </a:solidFill>
                          <a:latin typeface="Arial" pitchFamily="34" charset="0"/>
                          <a:ea typeface="Arial" pitchFamily="34" charset="-122"/>
                          <a:cs typeface="Arial" pitchFamily="34" charset="-120"/>
                        </a:rPr>
                        <a:t>Infrastructure lifecycle</a:t>
                      </a:r>
                      <a:endParaRPr lang="en-US" sz="1400" dirty="0">
                        <a:latin typeface="Arial" charset="0"/>
                        <a:ea typeface="Arial" charset="0"/>
                        <a:cs typeface="Arial" charset="0"/>
                      </a:endParaRPr>
                    </a:p>
                  </a:txBody>
                  <a:tcPr marL="54864" marR="54864" marT="54864" marB="54864"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solidFill>
                      <a:srgbClr val="FFFFFF"/>
                    </a:solidFill>
                  </a:tcPr>
                </a:tc>
              </a:tr>
            </a:tbl>
          </a:graphicData>
        </a:graphic>
      </p:graphicFrame>
      <p:sp>
        <p:nvSpPr>
          <p:cNvPr id="6" name="Text 3"/>
          <p:cNvSpPr/>
          <p:nvPr/>
        </p:nvSpPr>
        <p:spPr>
          <a:xfrm>
            <a:off x="685800" y="5349240"/>
            <a:ext cx="10789920" cy="502920"/>
          </a:xfrm>
          <a:prstGeom prst="rect">
            <a:avLst/>
          </a:prstGeom>
          <a:noFill/>
          <a:ln/>
        </p:spPr>
        <p:txBody>
          <a:bodyPr wrap="square" lIns="0" tIns="0" rIns="0" bIns="0" rtlCol="0" anchor="ctr"/>
          <a:lstStyle/>
          <a:p>
            <a:pPr indent="0" marL="0">
              <a:buNone/>
            </a:pPr>
            <a:r>
              <a:rPr lang="en-US" sz="1200" i="1" dirty="0">
                <a:solidFill>
                  <a:srgbClr val="5C7186"/>
                </a:solidFill>
                <a:latin typeface="Arial" pitchFamily="34" charset="0"/>
                <a:ea typeface="Arial" pitchFamily="34" charset="-122"/>
                <a:cs typeface="Arial" pitchFamily="34" charset="-120"/>
              </a:rPr>
              <a:t>Dimension assignments are this study's literature-grounded synthesis. Documentation, test coverage and coupling indicators were excluded on data availability, not relevance.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METHOD · TOPSIS</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From records to ranking</a:t>
            </a:r>
            <a:endParaRPr lang="en-US" sz="3000" dirty="0"/>
          </a:p>
        </p:txBody>
      </p:sp>
      <p:sp>
        <p:nvSpPr>
          <p:cNvPr id="4" name="Text 2"/>
          <p:cNvSpPr/>
          <p:nvPr/>
        </p:nvSpPr>
        <p:spPr>
          <a:xfrm>
            <a:off x="685800" y="1783080"/>
            <a:ext cx="5120640" cy="320040"/>
          </a:xfrm>
          <a:prstGeom prst="rect">
            <a:avLst/>
          </a:prstGeom>
          <a:noFill/>
          <a:ln/>
        </p:spPr>
        <p:txBody>
          <a:bodyPr wrap="square" lIns="0" tIns="0" rIns="0" bIns="0" rtlCol="0" anchor="ctr"/>
          <a:lstStyle/>
          <a:p>
            <a:pPr indent="0" marL="0">
              <a:buNone/>
            </a:pPr>
            <a:r>
              <a:rPr lang="en-US" sz="1600" b="1" dirty="0">
                <a:solidFill>
                  <a:srgbClr val="14283C"/>
                </a:solidFill>
                <a:latin typeface="Arial" pitchFamily="34" charset="0"/>
                <a:ea typeface="Arial" pitchFamily="34" charset="-122"/>
                <a:cs typeface="Arial" pitchFamily="34" charset="-120"/>
              </a:rPr>
              <a:t>Pipeline</a:t>
            </a:r>
            <a:endParaRPr lang="en-US" sz="1600" dirty="0"/>
          </a:p>
        </p:txBody>
      </p:sp>
      <p:sp>
        <p:nvSpPr>
          <p:cNvPr id="5" name="Shape 3"/>
          <p:cNvSpPr/>
          <p:nvPr/>
        </p:nvSpPr>
        <p:spPr>
          <a:xfrm>
            <a:off x="685800" y="2267712"/>
            <a:ext cx="384048" cy="384048"/>
          </a:xfrm>
          <a:prstGeom prst="ellipse">
            <a:avLst/>
          </a:prstGeom>
          <a:solidFill>
            <a:srgbClr val="14283C"/>
          </a:solidFill>
          <a:ln/>
        </p:spPr>
      </p:sp>
      <p:sp>
        <p:nvSpPr>
          <p:cNvPr id="6" name="Text 4"/>
          <p:cNvSpPr/>
          <p:nvPr/>
        </p:nvSpPr>
        <p:spPr>
          <a:xfrm>
            <a:off x="685800" y="22677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7" name="Text 5"/>
          <p:cNvSpPr/>
          <p:nvPr/>
        </p:nvSpPr>
        <p:spPr>
          <a:xfrm>
            <a:off x="1234440" y="2240280"/>
            <a:ext cx="4754880" cy="548640"/>
          </a:xfrm>
          <a:prstGeom prst="rect">
            <a:avLst/>
          </a:prstGeom>
          <a:noFill/>
          <a:ln/>
        </p:spPr>
        <p:txBody>
          <a:bodyPr wrap="square" lIns="0" tIns="0" rIns="0" bIns="0" rtlCol="0" anchor="ctr"/>
          <a:lstStyle/>
          <a:p>
            <a:pPr indent="0" marL="0">
              <a:buNone/>
            </a:pPr>
            <a:r>
              <a:rPr lang="en-US" sz="1350" dirty="0">
                <a:solidFill>
                  <a:srgbClr val="14283C"/>
                </a:solidFill>
                <a:latin typeface="Arial" pitchFamily="34" charset="0"/>
                <a:ea typeface="Arial" pitchFamily="34" charset="-122"/>
                <a:cs typeface="Arial" pitchFamily="34" charset="-120"/>
              </a:rPr>
              <a:t>Extract indicators from live ITSM / CMDB records</a:t>
            </a:r>
            <a:endParaRPr lang="en-US" sz="1350" dirty="0"/>
          </a:p>
        </p:txBody>
      </p:sp>
      <p:sp>
        <p:nvSpPr>
          <p:cNvPr id="8" name="Shape 6"/>
          <p:cNvSpPr/>
          <p:nvPr/>
        </p:nvSpPr>
        <p:spPr>
          <a:xfrm>
            <a:off x="685800" y="2980944"/>
            <a:ext cx="384048" cy="384048"/>
          </a:xfrm>
          <a:prstGeom prst="ellipse">
            <a:avLst/>
          </a:prstGeom>
          <a:solidFill>
            <a:srgbClr val="14283C"/>
          </a:solidFill>
          <a:ln/>
        </p:spPr>
      </p:sp>
      <p:sp>
        <p:nvSpPr>
          <p:cNvPr id="9" name="Text 7"/>
          <p:cNvSpPr/>
          <p:nvPr/>
        </p:nvSpPr>
        <p:spPr>
          <a:xfrm>
            <a:off x="685800" y="2980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0" name="Text 8"/>
          <p:cNvSpPr/>
          <p:nvPr/>
        </p:nvSpPr>
        <p:spPr>
          <a:xfrm>
            <a:off x="1234440" y="2953512"/>
            <a:ext cx="4754880" cy="548640"/>
          </a:xfrm>
          <a:prstGeom prst="rect">
            <a:avLst/>
          </a:prstGeom>
          <a:noFill/>
          <a:ln/>
        </p:spPr>
        <p:txBody>
          <a:bodyPr wrap="square" lIns="0" tIns="0" rIns="0" bIns="0" rtlCol="0" anchor="ctr"/>
          <a:lstStyle/>
          <a:p>
            <a:pPr indent="0" marL="0">
              <a:buNone/>
            </a:pPr>
            <a:r>
              <a:rPr lang="en-US" sz="1350" dirty="0">
                <a:solidFill>
                  <a:srgbClr val="14283C"/>
                </a:solidFill>
                <a:latin typeface="Arial" pitchFamily="34" charset="0"/>
                <a:ea typeface="Arial" pitchFamily="34" charset="-122"/>
                <a:cs typeface="Arial" pitchFamily="34" charset="-120"/>
              </a:rPr>
              <a:t>Vector normalisation (preserves extreme observations)</a:t>
            </a:r>
            <a:endParaRPr lang="en-US" sz="1350" dirty="0"/>
          </a:p>
        </p:txBody>
      </p:sp>
      <p:sp>
        <p:nvSpPr>
          <p:cNvPr id="11" name="Shape 9"/>
          <p:cNvSpPr/>
          <p:nvPr/>
        </p:nvSpPr>
        <p:spPr>
          <a:xfrm>
            <a:off x="685800" y="3694176"/>
            <a:ext cx="384048" cy="384048"/>
          </a:xfrm>
          <a:prstGeom prst="ellipse">
            <a:avLst/>
          </a:prstGeom>
          <a:solidFill>
            <a:srgbClr val="14283C"/>
          </a:solidFill>
          <a:ln/>
        </p:spPr>
      </p:sp>
      <p:sp>
        <p:nvSpPr>
          <p:cNvPr id="12" name="Text 10"/>
          <p:cNvSpPr/>
          <p:nvPr/>
        </p:nvSpPr>
        <p:spPr>
          <a:xfrm>
            <a:off x="685800" y="36941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3" name="Text 11"/>
          <p:cNvSpPr/>
          <p:nvPr/>
        </p:nvSpPr>
        <p:spPr>
          <a:xfrm>
            <a:off x="1234440" y="3666744"/>
            <a:ext cx="4754880" cy="548640"/>
          </a:xfrm>
          <a:prstGeom prst="rect">
            <a:avLst/>
          </a:prstGeom>
          <a:noFill/>
          <a:ln/>
        </p:spPr>
        <p:txBody>
          <a:bodyPr wrap="square" lIns="0" tIns="0" rIns="0" bIns="0" rtlCol="0" anchor="ctr"/>
          <a:lstStyle/>
          <a:p>
            <a:pPr indent="0" marL="0">
              <a:buNone/>
            </a:pPr>
            <a:r>
              <a:rPr lang="en-US" sz="1350" dirty="0">
                <a:solidFill>
                  <a:srgbClr val="14283C"/>
                </a:solidFill>
                <a:latin typeface="Arial" pitchFamily="34" charset="0"/>
                <a:ea typeface="Arial" pitchFamily="34" charset="-122"/>
                <a:cs typeface="Arial" pitchFamily="34" charset="-120"/>
              </a:rPr>
              <a:t>Weighting: equal (0.20 each) and differential (0.30 MTTR &amp; patch recency)</a:t>
            </a:r>
            <a:endParaRPr lang="en-US" sz="1350" dirty="0"/>
          </a:p>
        </p:txBody>
      </p:sp>
      <p:sp>
        <p:nvSpPr>
          <p:cNvPr id="14" name="Shape 12"/>
          <p:cNvSpPr/>
          <p:nvPr/>
        </p:nvSpPr>
        <p:spPr>
          <a:xfrm>
            <a:off x="685800" y="4407408"/>
            <a:ext cx="384048" cy="384048"/>
          </a:xfrm>
          <a:prstGeom prst="ellipse">
            <a:avLst/>
          </a:prstGeom>
          <a:solidFill>
            <a:srgbClr val="D98E1F"/>
          </a:solidFill>
          <a:ln/>
        </p:spPr>
      </p:sp>
      <p:sp>
        <p:nvSpPr>
          <p:cNvPr id="15" name="Text 13"/>
          <p:cNvSpPr/>
          <p:nvPr/>
        </p:nvSpPr>
        <p:spPr>
          <a:xfrm>
            <a:off x="68580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16" name="Text 14"/>
          <p:cNvSpPr/>
          <p:nvPr/>
        </p:nvSpPr>
        <p:spPr>
          <a:xfrm>
            <a:off x="1234440" y="4379976"/>
            <a:ext cx="4754880" cy="548640"/>
          </a:xfrm>
          <a:prstGeom prst="rect">
            <a:avLst/>
          </a:prstGeom>
          <a:noFill/>
          <a:ln/>
        </p:spPr>
        <p:txBody>
          <a:bodyPr wrap="square" lIns="0" tIns="0" rIns="0" bIns="0" rtlCol="0" anchor="ctr"/>
          <a:lstStyle/>
          <a:p>
            <a:pPr indent="0" marL="0">
              <a:buNone/>
            </a:pPr>
            <a:r>
              <a:rPr lang="en-US" sz="1350" dirty="0">
                <a:solidFill>
                  <a:srgbClr val="14283C"/>
                </a:solidFill>
                <a:latin typeface="Arial" pitchFamily="34" charset="0"/>
                <a:ea typeface="Arial" pitchFamily="34" charset="-122"/>
                <a:cs typeface="Arial" pitchFamily="34" charset="-120"/>
              </a:rPr>
              <a:t>TOPSIS closeness coefficient Ci ∈ [0, 1]</a:t>
            </a:r>
            <a:endParaRPr lang="en-US" sz="1350" dirty="0"/>
          </a:p>
        </p:txBody>
      </p:sp>
      <p:sp>
        <p:nvSpPr>
          <p:cNvPr id="17" name="Shape 15"/>
          <p:cNvSpPr/>
          <p:nvPr/>
        </p:nvSpPr>
        <p:spPr>
          <a:xfrm>
            <a:off x="685800" y="5120640"/>
            <a:ext cx="384048" cy="384048"/>
          </a:xfrm>
          <a:prstGeom prst="ellipse">
            <a:avLst/>
          </a:prstGeom>
          <a:solidFill>
            <a:srgbClr val="14283C"/>
          </a:solidFill>
          <a:ln/>
        </p:spPr>
      </p:sp>
      <p:sp>
        <p:nvSpPr>
          <p:cNvPr id="18" name="Text 16"/>
          <p:cNvSpPr/>
          <p:nvPr/>
        </p:nvSpPr>
        <p:spPr>
          <a:xfrm>
            <a:off x="685800" y="5120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19" name="Text 17"/>
          <p:cNvSpPr/>
          <p:nvPr/>
        </p:nvSpPr>
        <p:spPr>
          <a:xfrm>
            <a:off x="1234440" y="5093208"/>
            <a:ext cx="4754880" cy="548640"/>
          </a:xfrm>
          <a:prstGeom prst="rect">
            <a:avLst/>
          </a:prstGeom>
          <a:noFill/>
          <a:ln/>
        </p:spPr>
        <p:txBody>
          <a:bodyPr wrap="square" lIns="0" tIns="0" rIns="0" bIns="0" rtlCol="0" anchor="ctr"/>
          <a:lstStyle/>
          <a:p>
            <a:pPr indent="0" marL="0">
              <a:buNone/>
            </a:pPr>
            <a:r>
              <a:rPr lang="en-US" sz="1350" dirty="0">
                <a:solidFill>
                  <a:srgbClr val="14283C"/>
                </a:solidFill>
                <a:latin typeface="Arial" pitchFamily="34" charset="0"/>
                <a:ea typeface="Arial" pitchFamily="34" charset="-122"/>
                <a:cs typeface="Arial" pitchFamily="34" charset="-120"/>
              </a:rPr>
              <a:t>Rank: lowest Ci = highest debt priority</a:t>
            </a:r>
            <a:endParaRPr lang="en-US" sz="1350" dirty="0"/>
          </a:p>
        </p:txBody>
      </p:sp>
      <p:sp>
        <p:nvSpPr>
          <p:cNvPr id="20" name="Text 18"/>
          <p:cNvSpPr/>
          <p:nvPr/>
        </p:nvSpPr>
        <p:spPr>
          <a:xfrm>
            <a:off x="6583680" y="1783080"/>
            <a:ext cx="4846320" cy="320040"/>
          </a:xfrm>
          <a:prstGeom prst="rect">
            <a:avLst/>
          </a:prstGeom>
          <a:noFill/>
          <a:ln/>
        </p:spPr>
        <p:txBody>
          <a:bodyPr wrap="square" lIns="0" tIns="0" rIns="0" bIns="0" rtlCol="0" anchor="ctr"/>
          <a:lstStyle/>
          <a:p>
            <a:pPr indent="0" marL="0">
              <a:buNone/>
            </a:pPr>
            <a:r>
              <a:rPr lang="en-US" sz="1600" b="1" dirty="0">
                <a:solidFill>
                  <a:srgbClr val="14283C"/>
                </a:solidFill>
                <a:latin typeface="Arial" pitchFamily="34" charset="0"/>
                <a:ea typeface="Arial" pitchFamily="34" charset="-122"/>
                <a:cs typeface="Arial" pitchFamily="34" charset="-120"/>
              </a:rPr>
              <a:t>Why TOPSIS</a:t>
            </a:r>
            <a:endParaRPr lang="en-US" sz="1600" dirty="0"/>
          </a:p>
        </p:txBody>
      </p:sp>
      <p:sp>
        <p:nvSpPr>
          <p:cNvPr id="21" name="Text 19"/>
          <p:cNvSpPr/>
          <p:nvPr/>
        </p:nvSpPr>
        <p:spPr>
          <a:xfrm>
            <a:off x="6583680" y="2240280"/>
            <a:ext cx="4846320" cy="329184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Handles mixed cost/benefit criteria and different scales in one procedure</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Produces a full ranking, unlike VIKOR's compromise set or AHP alone</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Precedent: Albarak &amp; Bahsoon (2022) for TD, but on controlled data</a:t>
            </a:r>
            <a:endParaRPr lang="en-US" sz="1350" dirty="0"/>
          </a:p>
          <a:p>
            <a:pPr marL="177800" indent="-177800">
              <a:lnSpc>
                <a:spcPct val="112000"/>
              </a:lnSpc>
              <a:spcAft>
                <a:spcPts val="1000"/>
              </a:spcAft>
              <a:buSzPct val="100000"/>
              <a:buChar char="•"/>
            </a:pPr>
            <a:r>
              <a:rPr lang="en-US" sz="1350" b="1" dirty="0">
                <a:solidFill>
                  <a:srgbClr val="14283C"/>
                </a:solidFill>
                <a:latin typeface="Arial" pitchFamily="34" charset="0"/>
                <a:ea typeface="Arial" pitchFamily="34" charset="-122"/>
                <a:cs typeface="Arial" pitchFamily="34" charset="-120"/>
              </a:rPr>
              <a:t>Method choice treated as a robustness question, tested against SAW and VIKOR</a:t>
            </a:r>
            <a:endParaRPr lang="en-US" sz="1350" dirty="0"/>
          </a:p>
        </p:txBody>
      </p:sp>
      <p:sp>
        <p:nvSpPr>
          <p:cNvPr id="22" name="Shape 20"/>
          <p:cNvSpPr/>
          <p:nvPr/>
        </p:nvSpPr>
        <p:spPr>
          <a:xfrm>
            <a:off x="685800" y="5806440"/>
            <a:ext cx="10789920" cy="713232"/>
          </a:xfrm>
          <a:prstGeom prst="rect">
            <a:avLst/>
          </a:prstGeom>
          <a:solidFill>
            <a:srgbClr val="F2F7F6"/>
          </a:solidFill>
          <a:ln/>
        </p:spPr>
      </p:sp>
      <p:sp>
        <p:nvSpPr>
          <p:cNvPr id="23" name="Text 21"/>
          <p:cNvSpPr/>
          <p:nvPr/>
        </p:nvSpPr>
        <p:spPr>
          <a:xfrm>
            <a:off x="886968" y="587959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24" name="Text 22"/>
          <p:cNvSpPr/>
          <p:nvPr/>
        </p:nvSpPr>
        <p:spPr>
          <a:xfrm>
            <a:off x="886968" y="608076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Differential weights are a declared practitioner assumption, and the evaluation is designed so nothing depends on them.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DATA · CHAPTER 4</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The data, and its honest limits</a:t>
            </a:r>
            <a:endParaRPr lang="en-US" sz="3000" dirty="0"/>
          </a:p>
        </p:txBody>
      </p:sp>
      <p:sp>
        <p:nvSpPr>
          <p:cNvPr id="4" name="Text 2"/>
          <p:cNvSpPr/>
          <p:nvPr/>
        </p:nvSpPr>
        <p:spPr>
          <a:xfrm>
            <a:off x="685800" y="1783080"/>
            <a:ext cx="5212080" cy="320040"/>
          </a:xfrm>
          <a:prstGeom prst="rect">
            <a:avLst/>
          </a:prstGeom>
          <a:noFill/>
          <a:ln/>
        </p:spPr>
        <p:txBody>
          <a:bodyPr wrap="square" lIns="0" tIns="0" rIns="0" bIns="0" rtlCol="0" anchor="ctr"/>
          <a:lstStyle/>
          <a:p>
            <a:pPr indent="0" marL="0">
              <a:buNone/>
            </a:pPr>
            <a:r>
              <a:rPr lang="en-US" sz="1600" b="1" dirty="0">
                <a:solidFill>
                  <a:srgbClr val="14283C"/>
                </a:solidFill>
                <a:latin typeface="Arial" pitchFamily="34" charset="0"/>
                <a:ea typeface="Arial" pitchFamily="34" charset="-122"/>
                <a:cs typeface="Arial" pitchFamily="34" charset="-120"/>
              </a:rPr>
              <a:t>Dataset</a:t>
            </a:r>
            <a:endParaRPr lang="en-US" sz="1600" dirty="0"/>
          </a:p>
        </p:txBody>
      </p:sp>
      <p:sp>
        <p:nvSpPr>
          <p:cNvPr id="5" name="Text 3"/>
          <p:cNvSpPr/>
          <p:nvPr/>
        </p:nvSpPr>
        <p:spPr>
          <a:xfrm>
            <a:off x="685800" y="2240280"/>
            <a:ext cx="5212080" cy="3383280"/>
          </a:xfrm>
          <a:prstGeom prst="rect">
            <a:avLst/>
          </a:prstGeom>
          <a:noFill/>
          <a:ln/>
        </p:spPr>
        <p:txBody>
          <a:bodyPr wrap="square" lIns="0" tIns="0" rIns="0" bIns="0" rtlCol="0" anchor="t"/>
          <a:lstStyle/>
          <a:p>
            <a:pPr marL="177800" indent="-177800">
              <a:lnSpc>
                <a:spcPct val="112000"/>
              </a:lnSpc>
              <a:spcAft>
                <a:spcPts val="1100"/>
              </a:spcAft>
              <a:buSzPct val="100000"/>
              <a:buChar char="•"/>
            </a:pPr>
            <a:r>
              <a:rPr lang="en-US" sz="1350" dirty="0">
                <a:solidFill>
                  <a:srgbClr val="14283C"/>
                </a:solidFill>
                <a:latin typeface="Arial" pitchFamily="34" charset="0"/>
                <a:ea typeface="Arial" pitchFamily="34" charset="-122"/>
                <a:cs typeface="Arial" pitchFamily="34" charset="-120"/>
              </a:rPr>
              <a:t>Portfolio of 108 services; 53 small vendor GUIs excluded; 6 selected for demonstration on data completeness over the full window</a:t>
            </a:r>
            <a:endParaRPr lang="en-US" sz="1350" dirty="0"/>
          </a:p>
          <a:p>
            <a:pPr marL="177800" indent="-177800">
              <a:lnSpc>
                <a:spcPct val="112000"/>
              </a:lnSpc>
              <a:spcAft>
                <a:spcPts val="1100"/>
              </a:spcAft>
              <a:buSzPct val="100000"/>
              <a:buChar char="•"/>
            </a:pPr>
            <a:r>
              <a:rPr lang="en-US" sz="1350" dirty="0">
                <a:solidFill>
                  <a:srgbClr val="14283C"/>
                </a:solidFill>
                <a:latin typeface="Arial" pitchFamily="34" charset="0"/>
                <a:ea typeface="Arial" pitchFamily="34" charset="-122"/>
                <a:cs typeface="Arial" pitchFamily="34" charset="-120"/>
              </a:rPr>
              <a:t>Jan 2024 – Dec 2025, production records only, anonymised at source</a:t>
            </a:r>
            <a:endParaRPr lang="en-US" sz="1350" dirty="0"/>
          </a:p>
          <a:p>
            <a:pPr marL="177800" indent="-177800">
              <a:lnSpc>
                <a:spcPct val="112000"/>
              </a:lnSpc>
              <a:spcAft>
                <a:spcPts val="1100"/>
              </a:spcAft>
              <a:buSzPct val="100000"/>
              <a:buChar char="•"/>
            </a:pPr>
            <a:r>
              <a:rPr lang="en-US" sz="1350" dirty="0">
                <a:solidFill>
                  <a:srgbClr val="14283C"/>
                </a:solidFill>
                <a:latin typeface="Arial" pitchFamily="34" charset="0"/>
                <a:ea typeface="Arial" pitchFamily="34" charset="-122"/>
                <a:cs typeface="Arial" pitchFamily="34" charset="-120"/>
              </a:rPr>
              <a:t>Quality filters: alarm-storm consolidation, &lt;0.1 h auto-closures removed, 98th percentile MTTR cap</a:t>
            </a:r>
            <a:endParaRPr lang="en-US" sz="1350" dirty="0"/>
          </a:p>
        </p:txBody>
      </p:sp>
      <p:sp>
        <p:nvSpPr>
          <p:cNvPr id="6" name="Text 4"/>
          <p:cNvSpPr/>
          <p:nvPr/>
        </p:nvSpPr>
        <p:spPr>
          <a:xfrm>
            <a:off x="6583680" y="1783080"/>
            <a:ext cx="4846320" cy="320040"/>
          </a:xfrm>
          <a:prstGeom prst="rect">
            <a:avLst/>
          </a:prstGeom>
          <a:noFill/>
          <a:ln/>
        </p:spPr>
        <p:txBody>
          <a:bodyPr wrap="square" lIns="0" tIns="0" rIns="0" bIns="0" rtlCol="0" anchor="ctr"/>
          <a:lstStyle/>
          <a:p>
            <a:pPr indent="0" marL="0">
              <a:buNone/>
            </a:pPr>
            <a:r>
              <a:rPr lang="en-US" sz="1600" b="1" dirty="0">
                <a:solidFill>
                  <a:srgbClr val="D98E1F"/>
                </a:solidFill>
                <a:latin typeface="Arial" pitchFamily="34" charset="0"/>
                <a:ea typeface="Arial" pitchFamily="34" charset="-122"/>
                <a:cs typeface="Arial" pitchFamily="34" charset="-120"/>
              </a:rPr>
              <a:t>Declared limitations</a:t>
            </a:r>
            <a:endParaRPr lang="en-US" sz="1600" dirty="0"/>
          </a:p>
        </p:txBody>
      </p:sp>
      <p:sp>
        <p:nvSpPr>
          <p:cNvPr id="7" name="Text 5"/>
          <p:cNvSpPr/>
          <p:nvPr/>
        </p:nvSpPr>
        <p:spPr>
          <a:xfrm>
            <a:off x="6583680" y="2240280"/>
            <a:ext cx="4846320" cy="3383280"/>
          </a:xfrm>
          <a:prstGeom prst="rect">
            <a:avLst/>
          </a:prstGeom>
          <a:noFill/>
          <a:ln/>
        </p:spPr>
        <p:txBody>
          <a:bodyPr wrap="square" lIns="0" tIns="0" rIns="0" bIns="0" rtlCol="0" anchor="t"/>
          <a:lstStyle/>
          <a:p>
            <a:pPr marL="177800" indent="-177800">
              <a:lnSpc>
                <a:spcPct val="112000"/>
              </a:lnSpc>
              <a:spcAft>
                <a:spcPts val="1100"/>
              </a:spcAft>
              <a:buSzPct val="100000"/>
              <a:buChar char="•"/>
            </a:pPr>
            <a:r>
              <a:rPr lang="en-US" sz="1350" dirty="0">
                <a:solidFill>
                  <a:srgbClr val="14283C"/>
                </a:solidFill>
                <a:latin typeface="Arial" pitchFamily="34" charset="0"/>
                <a:ea typeface="Arial" pitchFamily="34" charset="-122"/>
                <a:cs typeface="Arial" pitchFamily="34" charset="-120"/>
              </a:rPr>
              <a:t>Recording practices vary by team → scores are ordinal signals, not measurements</a:t>
            </a:r>
            <a:endParaRPr lang="en-US" sz="1350" dirty="0"/>
          </a:p>
          <a:p>
            <a:pPr marL="177800" indent="-177800">
              <a:lnSpc>
                <a:spcPct val="112000"/>
              </a:lnSpc>
              <a:spcAft>
                <a:spcPts val="1100"/>
              </a:spcAft>
              <a:buSzPct val="100000"/>
              <a:buChar char="•"/>
            </a:pPr>
            <a:r>
              <a:rPr lang="en-US" sz="1350" dirty="0">
                <a:solidFill>
                  <a:srgbClr val="14283C"/>
                </a:solidFill>
                <a:latin typeface="Arial" pitchFamily="34" charset="0"/>
                <a:ea typeface="Arial" pitchFamily="34" charset="-122"/>
                <a:cs typeface="Arial" pitchFamily="34" charset="-120"/>
              </a:rPr>
              <a:t>CFR shares its numerator with incident frequency (bounded by sensitivity analysis)</a:t>
            </a:r>
            <a:endParaRPr lang="en-US" sz="1350" dirty="0"/>
          </a:p>
          <a:p>
            <a:pPr marL="177800" indent="-177800">
              <a:lnSpc>
                <a:spcPct val="112000"/>
              </a:lnSpc>
              <a:spcAft>
                <a:spcPts val="1100"/>
              </a:spcAft>
              <a:buSzPct val="100000"/>
              <a:buChar char="•"/>
            </a:pPr>
            <a:r>
              <a:rPr lang="en-US" sz="1350" dirty="0">
                <a:solidFill>
                  <a:srgbClr val="14283C"/>
                </a:solidFill>
                <a:latin typeface="Arial" pitchFamily="34" charset="0"/>
                <a:ea typeface="Arial" pitchFamily="34" charset="-122"/>
                <a:cs typeface="Arial" pitchFamily="34" charset="-120"/>
              </a:rPr>
              <a:t>Demonstration set, not a portfolio ranking; the contribution is the instrument and its evaluation logic</a:t>
            </a:r>
            <a:endParaRPr lang="en-US" sz="1350" dirty="0"/>
          </a:p>
        </p:txBody>
      </p:sp>
      <p:sp>
        <p:nvSpPr>
          <p:cNvPr id="8" name="Shape 6"/>
          <p:cNvSpPr/>
          <p:nvPr/>
        </p:nvSpPr>
        <p:spPr>
          <a:xfrm>
            <a:off x="685800" y="5806440"/>
            <a:ext cx="10789920" cy="713232"/>
          </a:xfrm>
          <a:prstGeom prst="rect">
            <a:avLst/>
          </a:prstGeom>
          <a:solidFill>
            <a:srgbClr val="F2F7F6"/>
          </a:solidFill>
          <a:ln/>
        </p:spPr>
      </p:sp>
      <p:sp>
        <p:nvSpPr>
          <p:cNvPr id="9" name="Text 7"/>
          <p:cNvSpPr/>
          <p:nvPr/>
        </p:nvSpPr>
        <p:spPr>
          <a:xfrm>
            <a:off x="886968" y="587959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0" name="Text 8"/>
          <p:cNvSpPr/>
          <p:nvPr/>
        </p:nvSpPr>
        <p:spPr>
          <a:xfrm>
            <a:off x="886968" y="608076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Declared limitations are part of the audit trail: each is stated in the thesis, and the small-n consequence is handled statistically in the evaluation.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RESULTS · 2025, EQUAL WEIGHTS</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The priority ranking</a:t>
            </a:r>
            <a:endParaRPr lang="en-US" sz="3000" dirty="0"/>
          </a:p>
        </p:txBody>
      </p:sp>
      <p:sp>
        <p:nvSpPr>
          <p:cNvPr id="4" name="Text 2"/>
          <p:cNvSpPr/>
          <p:nvPr/>
        </p:nvSpPr>
        <p:spPr>
          <a:xfrm>
            <a:off x="685800" y="1828800"/>
            <a:ext cx="960120" cy="237744"/>
          </a:xfrm>
          <a:prstGeom prst="rect">
            <a:avLst/>
          </a:prstGeom>
          <a:noFill/>
          <a:ln/>
        </p:spPr>
        <p:txBody>
          <a:bodyPr wrap="square" lIns="0" tIns="0" rIns="0" bIns="0" rtlCol="0" anchor="ctr"/>
          <a:lstStyle/>
          <a:p>
            <a:pPr indent="0" marL="0">
              <a:buNone/>
            </a:pPr>
            <a:r>
              <a:rPr lang="en-US" sz="1200" b="1" dirty="0">
                <a:solidFill>
                  <a:srgbClr val="14283C"/>
                </a:solidFill>
                <a:latin typeface="Courier New" pitchFamily="34" charset="0"/>
                <a:ea typeface="Courier New" pitchFamily="34" charset="-122"/>
                <a:cs typeface="Courier New" pitchFamily="34" charset="-120"/>
              </a:rPr>
              <a:t>SVC-01</a:t>
            </a:r>
            <a:endParaRPr lang="en-US" sz="1200" dirty="0"/>
          </a:p>
        </p:txBody>
      </p:sp>
      <p:sp>
        <p:nvSpPr>
          <p:cNvPr id="5" name="Shape 3"/>
          <p:cNvSpPr/>
          <p:nvPr/>
        </p:nvSpPr>
        <p:spPr>
          <a:xfrm>
            <a:off x="1737360" y="1847088"/>
            <a:ext cx="4663440" cy="182880"/>
          </a:xfrm>
          <a:prstGeom prst="rect">
            <a:avLst/>
          </a:prstGeom>
          <a:solidFill>
            <a:srgbClr val="E9EDF1"/>
          </a:solidFill>
          <a:ln/>
        </p:spPr>
      </p:sp>
      <p:sp>
        <p:nvSpPr>
          <p:cNvPr id="6" name="Shape 4"/>
          <p:cNvSpPr/>
          <p:nvPr/>
        </p:nvSpPr>
        <p:spPr>
          <a:xfrm>
            <a:off x="1737360" y="1847088"/>
            <a:ext cx="2471623" cy="182880"/>
          </a:xfrm>
          <a:prstGeom prst="rect">
            <a:avLst/>
          </a:prstGeom>
          <a:solidFill>
            <a:srgbClr val="D98E1F"/>
          </a:solidFill>
          <a:ln/>
        </p:spPr>
      </p:sp>
      <p:sp>
        <p:nvSpPr>
          <p:cNvPr id="7" name="Text 5"/>
          <p:cNvSpPr/>
          <p:nvPr/>
        </p:nvSpPr>
        <p:spPr>
          <a:xfrm>
            <a:off x="6446520" y="1828800"/>
            <a:ext cx="685800" cy="237744"/>
          </a:xfrm>
          <a:prstGeom prst="rect">
            <a:avLst/>
          </a:prstGeom>
          <a:noFill/>
          <a:ln/>
        </p:spPr>
        <p:txBody>
          <a:bodyPr wrap="square" lIns="0" tIns="0" rIns="0" bIns="0" rtlCol="0" anchor="ctr"/>
          <a:lstStyle/>
          <a:p>
            <a:pPr algn="r" indent="0" marL="0">
              <a:buNone/>
            </a:pPr>
            <a:r>
              <a:rPr lang="en-US" sz="1100" dirty="0">
                <a:solidFill>
                  <a:srgbClr val="5C7186"/>
                </a:solidFill>
                <a:latin typeface="Courier New" pitchFamily="34" charset="0"/>
                <a:ea typeface="Courier New" pitchFamily="34" charset="-122"/>
                <a:cs typeface="Courier New" pitchFamily="34" charset="-120"/>
              </a:rPr>
              <a:t>0.465</a:t>
            </a:r>
            <a:endParaRPr lang="en-US" sz="1100" dirty="0"/>
          </a:p>
        </p:txBody>
      </p:sp>
      <p:sp>
        <p:nvSpPr>
          <p:cNvPr id="8" name="Text 6"/>
          <p:cNvSpPr/>
          <p:nvPr/>
        </p:nvSpPr>
        <p:spPr>
          <a:xfrm>
            <a:off x="685800" y="2240280"/>
            <a:ext cx="960120" cy="237744"/>
          </a:xfrm>
          <a:prstGeom prst="rect">
            <a:avLst/>
          </a:prstGeom>
          <a:noFill/>
          <a:ln/>
        </p:spPr>
        <p:txBody>
          <a:bodyPr wrap="square" lIns="0" tIns="0" rIns="0" bIns="0" rtlCol="0" anchor="ctr"/>
          <a:lstStyle/>
          <a:p>
            <a:pPr indent="0" marL="0">
              <a:buNone/>
            </a:pPr>
            <a:r>
              <a:rPr lang="en-US" sz="1200" b="1" dirty="0">
                <a:solidFill>
                  <a:srgbClr val="14283C"/>
                </a:solidFill>
                <a:latin typeface="Courier New" pitchFamily="34" charset="0"/>
                <a:ea typeface="Courier New" pitchFamily="34" charset="-122"/>
                <a:cs typeface="Courier New" pitchFamily="34" charset="-120"/>
              </a:rPr>
              <a:t>SVC-04</a:t>
            </a:r>
            <a:endParaRPr lang="en-US" sz="1200" dirty="0"/>
          </a:p>
        </p:txBody>
      </p:sp>
      <p:sp>
        <p:nvSpPr>
          <p:cNvPr id="9" name="Shape 7"/>
          <p:cNvSpPr/>
          <p:nvPr/>
        </p:nvSpPr>
        <p:spPr>
          <a:xfrm>
            <a:off x="1737360" y="2258568"/>
            <a:ext cx="4663440" cy="182880"/>
          </a:xfrm>
          <a:prstGeom prst="rect">
            <a:avLst/>
          </a:prstGeom>
          <a:solidFill>
            <a:srgbClr val="E9EDF1"/>
          </a:solidFill>
          <a:ln/>
        </p:spPr>
      </p:sp>
      <p:sp>
        <p:nvSpPr>
          <p:cNvPr id="10" name="Shape 8"/>
          <p:cNvSpPr/>
          <p:nvPr/>
        </p:nvSpPr>
        <p:spPr>
          <a:xfrm>
            <a:off x="1737360" y="2258568"/>
            <a:ext cx="2424989" cy="182880"/>
          </a:xfrm>
          <a:prstGeom prst="rect">
            <a:avLst/>
          </a:prstGeom>
          <a:solidFill>
            <a:srgbClr val="D98E1F"/>
          </a:solidFill>
          <a:ln/>
        </p:spPr>
      </p:sp>
      <p:sp>
        <p:nvSpPr>
          <p:cNvPr id="11" name="Text 9"/>
          <p:cNvSpPr/>
          <p:nvPr/>
        </p:nvSpPr>
        <p:spPr>
          <a:xfrm>
            <a:off x="6446520" y="2240280"/>
            <a:ext cx="685800" cy="237744"/>
          </a:xfrm>
          <a:prstGeom prst="rect">
            <a:avLst/>
          </a:prstGeom>
          <a:noFill/>
          <a:ln/>
        </p:spPr>
        <p:txBody>
          <a:bodyPr wrap="square" lIns="0" tIns="0" rIns="0" bIns="0" rtlCol="0" anchor="ctr"/>
          <a:lstStyle/>
          <a:p>
            <a:pPr algn="r" indent="0" marL="0">
              <a:buNone/>
            </a:pPr>
            <a:r>
              <a:rPr lang="en-US" sz="1100" dirty="0">
                <a:solidFill>
                  <a:srgbClr val="5C7186"/>
                </a:solidFill>
                <a:latin typeface="Courier New" pitchFamily="34" charset="0"/>
                <a:ea typeface="Courier New" pitchFamily="34" charset="-122"/>
                <a:cs typeface="Courier New" pitchFamily="34" charset="-120"/>
              </a:rPr>
              <a:t>0.479</a:t>
            </a:r>
            <a:endParaRPr lang="en-US" sz="1100" dirty="0"/>
          </a:p>
        </p:txBody>
      </p:sp>
      <p:sp>
        <p:nvSpPr>
          <p:cNvPr id="12" name="Text 10"/>
          <p:cNvSpPr/>
          <p:nvPr/>
        </p:nvSpPr>
        <p:spPr>
          <a:xfrm>
            <a:off x="685800" y="2651760"/>
            <a:ext cx="960120" cy="237744"/>
          </a:xfrm>
          <a:prstGeom prst="rect">
            <a:avLst/>
          </a:prstGeom>
          <a:noFill/>
          <a:ln/>
        </p:spPr>
        <p:txBody>
          <a:bodyPr wrap="square" lIns="0" tIns="0" rIns="0" bIns="0" rtlCol="0" anchor="ctr"/>
          <a:lstStyle/>
          <a:p>
            <a:pPr indent="0" marL="0">
              <a:buNone/>
            </a:pPr>
            <a:r>
              <a:rPr lang="en-US" sz="1200" b="1" dirty="0">
                <a:solidFill>
                  <a:srgbClr val="14283C"/>
                </a:solidFill>
                <a:latin typeface="Courier New" pitchFamily="34" charset="0"/>
                <a:ea typeface="Courier New" pitchFamily="34" charset="-122"/>
                <a:cs typeface="Courier New" pitchFamily="34" charset="-120"/>
              </a:rPr>
              <a:t>SVC-06</a:t>
            </a:r>
            <a:endParaRPr lang="en-US" sz="1200" dirty="0"/>
          </a:p>
        </p:txBody>
      </p:sp>
      <p:sp>
        <p:nvSpPr>
          <p:cNvPr id="13" name="Shape 11"/>
          <p:cNvSpPr/>
          <p:nvPr/>
        </p:nvSpPr>
        <p:spPr>
          <a:xfrm>
            <a:off x="1737360" y="2670048"/>
            <a:ext cx="4663440" cy="182880"/>
          </a:xfrm>
          <a:prstGeom prst="rect">
            <a:avLst/>
          </a:prstGeom>
          <a:solidFill>
            <a:srgbClr val="E9EDF1"/>
          </a:solidFill>
          <a:ln/>
        </p:spPr>
      </p:sp>
      <p:sp>
        <p:nvSpPr>
          <p:cNvPr id="14" name="Shape 12"/>
          <p:cNvSpPr/>
          <p:nvPr/>
        </p:nvSpPr>
        <p:spPr>
          <a:xfrm>
            <a:off x="1737360" y="2670048"/>
            <a:ext cx="2098548" cy="182880"/>
          </a:xfrm>
          <a:prstGeom prst="rect">
            <a:avLst/>
          </a:prstGeom>
          <a:solidFill>
            <a:srgbClr val="D98E1F"/>
          </a:solidFill>
          <a:ln/>
        </p:spPr>
      </p:sp>
      <p:sp>
        <p:nvSpPr>
          <p:cNvPr id="15" name="Text 13"/>
          <p:cNvSpPr/>
          <p:nvPr/>
        </p:nvSpPr>
        <p:spPr>
          <a:xfrm>
            <a:off x="6446520" y="2651760"/>
            <a:ext cx="685800" cy="237744"/>
          </a:xfrm>
          <a:prstGeom prst="rect">
            <a:avLst/>
          </a:prstGeom>
          <a:noFill/>
          <a:ln/>
        </p:spPr>
        <p:txBody>
          <a:bodyPr wrap="square" lIns="0" tIns="0" rIns="0" bIns="0" rtlCol="0" anchor="ctr"/>
          <a:lstStyle/>
          <a:p>
            <a:pPr algn="r" indent="0" marL="0">
              <a:buNone/>
            </a:pPr>
            <a:r>
              <a:rPr lang="en-US" sz="1100" dirty="0">
                <a:solidFill>
                  <a:srgbClr val="5C7186"/>
                </a:solidFill>
                <a:latin typeface="Courier New" pitchFamily="34" charset="0"/>
                <a:ea typeface="Courier New" pitchFamily="34" charset="-122"/>
                <a:cs typeface="Courier New" pitchFamily="34" charset="-120"/>
              </a:rPr>
              <a:t>0.549</a:t>
            </a:r>
            <a:endParaRPr lang="en-US" sz="1100" dirty="0"/>
          </a:p>
        </p:txBody>
      </p:sp>
      <p:sp>
        <p:nvSpPr>
          <p:cNvPr id="16" name="Text 14"/>
          <p:cNvSpPr/>
          <p:nvPr/>
        </p:nvSpPr>
        <p:spPr>
          <a:xfrm>
            <a:off x="685800" y="3063240"/>
            <a:ext cx="960120" cy="237744"/>
          </a:xfrm>
          <a:prstGeom prst="rect">
            <a:avLst/>
          </a:prstGeom>
          <a:noFill/>
          <a:ln/>
        </p:spPr>
        <p:txBody>
          <a:bodyPr wrap="square" lIns="0" tIns="0" rIns="0" bIns="0" rtlCol="0" anchor="ctr"/>
          <a:lstStyle/>
          <a:p>
            <a:pPr indent="0" marL="0">
              <a:buNone/>
            </a:pPr>
            <a:r>
              <a:rPr lang="en-US" sz="1200" b="1" dirty="0">
                <a:solidFill>
                  <a:srgbClr val="14283C"/>
                </a:solidFill>
                <a:latin typeface="Courier New" pitchFamily="34" charset="0"/>
                <a:ea typeface="Courier New" pitchFamily="34" charset="-122"/>
                <a:cs typeface="Courier New" pitchFamily="34" charset="-120"/>
              </a:rPr>
              <a:t>SVC-02</a:t>
            </a:r>
            <a:endParaRPr lang="en-US" sz="1200" dirty="0"/>
          </a:p>
        </p:txBody>
      </p:sp>
      <p:sp>
        <p:nvSpPr>
          <p:cNvPr id="17" name="Shape 15"/>
          <p:cNvSpPr/>
          <p:nvPr/>
        </p:nvSpPr>
        <p:spPr>
          <a:xfrm>
            <a:off x="1737360" y="3081528"/>
            <a:ext cx="4663440" cy="182880"/>
          </a:xfrm>
          <a:prstGeom prst="rect">
            <a:avLst/>
          </a:prstGeom>
          <a:solidFill>
            <a:srgbClr val="E9EDF1"/>
          </a:solidFill>
          <a:ln/>
        </p:spPr>
      </p:sp>
      <p:sp>
        <p:nvSpPr>
          <p:cNvPr id="18" name="Shape 16"/>
          <p:cNvSpPr/>
          <p:nvPr/>
        </p:nvSpPr>
        <p:spPr>
          <a:xfrm>
            <a:off x="1737360" y="3081528"/>
            <a:ext cx="1025957" cy="182880"/>
          </a:xfrm>
          <a:prstGeom prst="rect">
            <a:avLst/>
          </a:prstGeom>
          <a:solidFill>
            <a:srgbClr val="5C7186"/>
          </a:solidFill>
          <a:ln/>
        </p:spPr>
      </p:sp>
      <p:sp>
        <p:nvSpPr>
          <p:cNvPr id="19" name="Text 17"/>
          <p:cNvSpPr/>
          <p:nvPr/>
        </p:nvSpPr>
        <p:spPr>
          <a:xfrm>
            <a:off x="6446520" y="3063240"/>
            <a:ext cx="685800" cy="237744"/>
          </a:xfrm>
          <a:prstGeom prst="rect">
            <a:avLst/>
          </a:prstGeom>
          <a:noFill/>
          <a:ln/>
        </p:spPr>
        <p:txBody>
          <a:bodyPr wrap="square" lIns="0" tIns="0" rIns="0" bIns="0" rtlCol="0" anchor="ctr"/>
          <a:lstStyle/>
          <a:p>
            <a:pPr algn="r" indent="0" marL="0">
              <a:buNone/>
            </a:pPr>
            <a:r>
              <a:rPr lang="en-US" sz="1100" dirty="0">
                <a:solidFill>
                  <a:srgbClr val="5C7186"/>
                </a:solidFill>
                <a:latin typeface="Courier New" pitchFamily="34" charset="0"/>
                <a:ea typeface="Courier New" pitchFamily="34" charset="-122"/>
                <a:cs typeface="Courier New" pitchFamily="34" charset="-120"/>
              </a:rPr>
              <a:t>0.779</a:t>
            </a:r>
            <a:endParaRPr lang="en-US" sz="1100" dirty="0"/>
          </a:p>
        </p:txBody>
      </p:sp>
      <p:sp>
        <p:nvSpPr>
          <p:cNvPr id="20" name="Text 18"/>
          <p:cNvSpPr/>
          <p:nvPr/>
        </p:nvSpPr>
        <p:spPr>
          <a:xfrm>
            <a:off x="685800" y="3474720"/>
            <a:ext cx="960120" cy="237744"/>
          </a:xfrm>
          <a:prstGeom prst="rect">
            <a:avLst/>
          </a:prstGeom>
          <a:noFill/>
          <a:ln/>
        </p:spPr>
        <p:txBody>
          <a:bodyPr wrap="square" lIns="0" tIns="0" rIns="0" bIns="0" rtlCol="0" anchor="ctr"/>
          <a:lstStyle/>
          <a:p>
            <a:pPr indent="0" marL="0">
              <a:buNone/>
            </a:pPr>
            <a:r>
              <a:rPr lang="en-US" sz="1200" b="1" dirty="0">
                <a:solidFill>
                  <a:srgbClr val="14283C"/>
                </a:solidFill>
                <a:latin typeface="Courier New" pitchFamily="34" charset="0"/>
                <a:ea typeface="Courier New" pitchFamily="34" charset="-122"/>
                <a:cs typeface="Courier New" pitchFamily="34" charset="-120"/>
              </a:rPr>
              <a:t>SVC-05</a:t>
            </a:r>
            <a:endParaRPr lang="en-US" sz="1200" dirty="0"/>
          </a:p>
        </p:txBody>
      </p:sp>
      <p:sp>
        <p:nvSpPr>
          <p:cNvPr id="21" name="Shape 19"/>
          <p:cNvSpPr/>
          <p:nvPr/>
        </p:nvSpPr>
        <p:spPr>
          <a:xfrm>
            <a:off x="1737360" y="3493008"/>
            <a:ext cx="4663440" cy="182880"/>
          </a:xfrm>
          <a:prstGeom prst="rect">
            <a:avLst/>
          </a:prstGeom>
          <a:solidFill>
            <a:srgbClr val="E9EDF1"/>
          </a:solidFill>
          <a:ln/>
        </p:spPr>
      </p:sp>
      <p:sp>
        <p:nvSpPr>
          <p:cNvPr id="22" name="Shape 20"/>
          <p:cNvSpPr/>
          <p:nvPr/>
        </p:nvSpPr>
        <p:spPr>
          <a:xfrm>
            <a:off x="1737360" y="3493008"/>
            <a:ext cx="1025957" cy="182880"/>
          </a:xfrm>
          <a:prstGeom prst="rect">
            <a:avLst/>
          </a:prstGeom>
          <a:solidFill>
            <a:srgbClr val="5C7186"/>
          </a:solidFill>
          <a:ln/>
        </p:spPr>
      </p:sp>
      <p:sp>
        <p:nvSpPr>
          <p:cNvPr id="23" name="Text 21"/>
          <p:cNvSpPr/>
          <p:nvPr/>
        </p:nvSpPr>
        <p:spPr>
          <a:xfrm>
            <a:off x="6446520" y="3474720"/>
            <a:ext cx="685800" cy="237744"/>
          </a:xfrm>
          <a:prstGeom prst="rect">
            <a:avLst/>
          </a:prstGeom>
          <a:noFill/>
          <a:ln/>
        </p:spPr>
        <p:txBody>
          <a:bodyPr wrap="square" lIns="0" tIns="0" rIns="0" bIns="0" rtlCol="0" anchor="ctr"/>
          <a:lstStyle/>
          <a:p>
            <a:pPr algn="r" indent="0" marL="0">
              <a:buNone/>
            </a:pPr>
            <a:r>
              <a:rPr lang="en-US" sz="1100" dirty="0">
                <a:solidFill>
                  <a:srgbClr val="5C7186"/>
                </a:solidFill>
                <a:latin typeface="Courier New" pitchFamily="34" charset="0"/>
                <a:ea typeface="Courier New" pitchFamily="34" charset="-122"/>
                <a:cs typeface="Courier New" pitchFamily="34" charset="-120"/>
              </a:rPr>
              <a:t>0.780</a:t>
            </a:r>
            <a:endParaRPr lang="en-US" sz="1100" dirty="0"/>
          </a:p>
        </p:txBody>
      </p:sp>
      <p:sp>
        <p:nvSpPr>
          <p:cNvPr id="24" name="Text 22"/>
          <p:cNvSpPr/>
          <p:nvPr/>
        </p:nvSpPr>
        <p:spPr>
          <a:xfrm>
            <a:off x="685800" y="3886200"/>
            <a:ext cx="960120" cy="237744"/>
          </a:xfrm>
          <a:prstGeom prst="rect">
            <a:avLst/>
          </a:prstGeom>
          <a:noFill/>
          <a:ln/>
        </p:spPr>
        <p:txBody>
          <a:bodyPr wrap="square" lIns="0" tIns="0" rIns="0" bIns="0" rtlCol="0" anchor="ctr"/>
          <a:lstStyle/>
          <a:p>
            <a:pPr indent="0" marL="0">
              <a:buNone/>
            </a:pPr>
            <a:r>
              <a:rPr lang="en-US" sz="1200" b="1" dirty="0">
                <a:solidFill>
                  <a:srgbClr val="14283C"/>
                </a:solidFill>
                <a:latin typeface="Courier New" pitchFamily="34" charset="0"/>
                <a:ea typeface="Courier New" pitchFamily="34" charset="-122"/>
                <a:cs typeface="Courier New" pitchFamily="34" charset="-120"/>
              </a:rPr>
              <a:t>SVC-03</a:t>
            </a:r>
            <a:endParaRPr lang="en-US" sz="1200" dirty="0"/>
          </a:p>
        </p:txBody>
      </p:sp>
      <p:sp>
        <p:nvSpPr>
          <p:cNvPr id="25" name="Shape 23"/>
          <p:cNvSpPr/>
          <p:nvPr/>
        </p:nvSpPr>
        <p:spPr>
          <a:xfrm>
            <a:off x="1737360" y="3904488"/>
            <a:ext cx="4663440" cy="182880"/>
          </a:xfrm>
          <a:prstGeom prst="rect">
            <a:avLst/>
          </a:prstGeom>
          <a:solidFill>
            <a:srgbClr val="E9EDF1"/>
          </a:solidFill>
          <a:ln/>
        </p:spPr>
      </p:sp>
      <p:sp>
        <p:nvSpPr>
          <p:cNvPr id="26" name="Shape 24"/>
          <p:cNvSpPr/>
          <p:nvPr/>
        </p:nvSpPr>
        <p:spPr>
          <a:xfrm>
            <a:off x="1737360" y="3904488"/>
            <a:ext cx="93269" cy="182880"/>
          </a:xfrm>
          <a:prstGeom prst="rect">
            <a:avLst/>
          </a:prstGeom>
          <a:solidFill>
            <a:srgbClr val="5C7186"/>
          </a:solidFill>
          <a:ln/>
        </p:spPr>
      </p:sp>
      <p:sp>
        <p:nvSpPr>
          <p:cNvPr id="27" name="Text 25"/>
          <p:cNvSpPr/>
          <p:nvPr/>
        </p:nvSpPr>
        <p:spPr>
          <a:xfrm>
            <a:off x="6446520" y="3886200"/>
            <a:ext cx="685800" cy="237744"/>
          </a:xfrm>
          <a:prstGeom prst="rect">
            <a:avLst/>
          </a:prstGeom>
          <a:noFill/>
          <a:ln/>
        </p:spPr>
        <p:txBody>
          <a:bodyPr wrap="square" lIns="0" tIns="0" rIns="0" bIns="0" rtlCol="0" anchor="ctr"/>
          <a:lstStyle/>
          <a:p>
            <a:pPr algn="r" indent="0" marL="0">
              <a:buNone/>
            </a:pPr>
            <a:r>
              <a:rPr lang="en-US" sz="1100" dirty="0">
                <a:solidFill>
                  <a:srgbClr val="5C7186"/>
                </a:solidFill>
                <a:latin typeface="Courier New" pitchFamily="34" charset="0"/>
                <a:ea typeface="Courier New" pitchFamily="34" charset="-122"/>
                <a:cs typeface="Courier New" pitchFamily="34" charset="-120"/>
              </a:rPr>
              <a:t>0.977</a:t>
            </a:r>
            <a:endParaRPr lang="en-US" sz="1100" dirty="0"/>
          </a:p>
        </p:txBody>
      </p:sp>
      <p:sp>
        <p:nvSpPr>
          <p:cNvPr id="28" name="Shape 26"/>
          <p:cNvSpPr/>
          <p:nvPr/>
        </p:nvSpPr>
        <p:spPr>
          <a:xfrm>
            <a:off x="7726680" y="1783080"/>
            <a:ext cx="3749040" cy="1225296"/>
          </a:xfrm>
          <a:prstGeom prst="rect">
            <a:avLst/>
          </a:prstGeom>
          <a:solidFill>
            <a:srgbClr val="FBF4E8"/>
          </a:solidFill>
          <a:ln/>
        </p:spPr>
      </p:sp>
      <p:sp>
        <p:nvSpPr>
          <p:cNvPr id="29" name="Text 27"/>
          <p:cNvSpPr/>
          <p:nvPr/>
        </p:nvSpPr>
        <p:spPr>
          <a:xfrm>
            <a:off x="7909560" y="1874520"/>
            <a:ext cx="3429000" cy="274320"/>
          </a:xfrm>
          <a:prstGeom prst="rect">
            <a:avLst/>
          </a:prstGeom>
          <a:noFill/>
          <a:ln/>
        </p:spPr>
        <p:txBody>
          <a:bodyPr wrap="square" lIns="0" tIns="0" rIns="0" bIns="0" rtlCol="0" anchor="ctr"/>
          <a:lstStyle/>
          <a:p>
            <a:pPr indent="0" marL="0">
              <a:buNone/>
            </a:pPr>
            <a:r>
              <a:rPr lang="en-US" sz="1250" b="1" dirty="0">
                <a:solidFill>
                  <a:srgbClr val="D98E1F"/>
                </a:solidFill>
                <a:latin typeface="Courier New" pitchFamily="34" charset="0"/>
                <a:ea typeface="Courier New" pitchFamily="34" charset="-122"/>
                <a:cs typeface="Courier New" pitchFamily="34" charset="-120"/>
              </a:rPr>
              <a:t>SVC-01 · rank 1</a:t>
            </a:r>
            <a:endParaRPr lang="en-US" sz="1250" dirty="0"/>
          </a:p>
        </p:txBody>
      </p:sp>
      <p:sp>
        <p:nvSpPr>
          <p:cNvPr id="30" name="Text 28"/>
          <p:cNvSpPr/>
          <p:nvPr/>
        </p:nvSpPr>
        <p:spPr>
          <a:xfrm>
            <a:off x="7909560" y="2167128"/>
            <a:ext cx="3429000" cy="777240"/>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Only 64 incidents/yr, but 2,565 unsupported component months and patch recency 53.1 → the debt an incident count cannot see</a:t>
            </a:r>
            <a:endParaRPr lang="en-US" sz="1100" dirty="0"/>
          </a:p>
        </p:txBody>
      </p:sp>
      <p:sp>
        <p:nvSpPr>
          <p:cNvPr id="31" name="Shape 29"/>
          <p:cNvSpPr/>
          <p:nvPr/>
        </p:nvSpPr>
        <p:spPr>
          <a:xfrm>
            <a:off x="7726680" y="3154680"/>
            <a:ext cx="3749040" cy="1225296"/>
          </a:xfrm>
          <a:prstGeom prst="rect">
            <a:avLst/>
          </a:prstGeom>
          <a:solidFill>
            <a:srgbClr val="F7F9FA"/>
          </a:solidFill>
          <a:ln/>
        </p:spPr>
      </p:sp>
      <p:sp>
        <p:nvSpPr>
          <p:cNvPr id="32" name="Text 30"/>
          <p:cNvSpPr/>
          <p:nvPr/>
        </p:nvSpPr>
        <p:spPr>
          <a:xfrm>
            <a:off x="7909560" y="3246120"/>
            <a:ext cx="3429000" cy="274320"/>
          </a:xfrm>
          <a:prstGeom prst="rect">
            <a:avLst/>
          </a:prstGeom>
          <a:noFill/>
          <a:ln/>
        </p:spPr>
        <p:txBody>
          <a:bodyPr wrap="square" lIns="0" tIns="0" rIns="0" bIns="0" rtlCol="0" anchor="ctr"/>
          <a:lstStyle/>
          <a:p>
            <a:pPr indent="0" marL="0">
              <a:buNone/>
            </a:pPr>
            <a:r>
              <a:rPr lang="en-US" sz="1250" b="1" dirty="0">
                <a:solidFill>
                  <a:srgbClr val="14283C"/>
                </a:solidFill>
                <a:latin typeface="Courier New" pitchFamily="34" charset="0"/>
                <a:ea typeface="Courier New" pitchFamily="34" charset="-122"/>
                <a:cs typeface="Courier New" pitchFamily="34" charset="-120"/>
              </a:rPr>
              <a:t>SVC-04 · rank 2</a:t>
            </a:r>
            <a:endParaRPr lang="en-US" sz="1250" dirty="0"/>
          </a:p>
        </p:txBody>
      </p:sp>
      <p:sp>
        <p:nvSpPr>
          <p:cNvPr id="33" name="Text 31"/>
          <p:cNvSpPr/>
          <p:nvPr/>
        </p:nvSpPr>
        <p:spPr>
          <a:xfrm>
            <a:off x="7909560" y="3538728"/>
            <a:ext cx="3429000" cy="777240"/>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574 incidents/yr, MTTR 41.9 h, CFR 3.38, yet a clean lifecycle record → architectural &amp; process debt</a:t>
            </a:r>
            <a:endParaRPr lang="en-US" sz="1100" dirty="0"/>
          </a:p>
        </p:txBody>
      </p:sp>
      <p:sp>
        <p:nvSpPr>
          <p:cNvPr id="34" name="Shape 32"/>
          <p:cNvSpPr/>
          <p:nvPr/>
        </p:nvSpPr>
        <p:spPr>
          <a:xfrm>
            <a:off x="7726680" y="4526280"/>
            <a:ext cx="3749040" cy="1225296"/>
          </a:xfrm>
          <a:prstGeom prst="rect">
            <a:avLst/>
          </a:prstGeom>
          <a:solidFill>
            <a:srgbClr val="F7F9FA"/>
          </a:solidFill>
          <a:ln/>
        </p:spPr>
      </p:sp>
      <p:sp>
        <p:nvSpPr>
          <p:cNvPr id="35" name="Text 33"/>
          <p:cNvSpPr/>
          <p:nvPr/>
        </p:nvSpPr>
        <p:spPr>
          <a:xfrm>
            <a:off x="7909560" y="4617720"/>
            <a:ext cx="3429000" cy="274320"/>
          </a:xfrm>
          <a:prstGeom prst="rect">
            <a:avLst/>
          </a:prstGeom>
          <a:noFill/>
          <a:ln/>
        </p:spPr>
        <p:txBody>
          <a:bodyPr wrap="square" lIns="0" tIns="0" rIns="0" bIns="0" rtlCol="0" anchor="ctr"/>
          <a:lstStyle/>
          <a:p>
            <a:pPr indent="0" marL="0">
              <a:buNone/>
            </a:pPr>
            <a:r>
              <a:rPr lang="en-US" sz="1250" b="1" dirty="0">
                <a:solidFill>
                  <a:srgbClr val="14283C"/>
                </a:solidFill>
                <a:latin typeface="Courier New" pitchFamily="34" charset="0"/>
                <a:ea typeface="Courier New" pitchFamily="34" charset="-122"/>
                <a:cs typeface="Courier New" pitchFamily="34" charset="-120"/>
              </a:rPr>
              <a:t>SVC-03 · rank 6</a:t>
            </a:r>
            <a:endParaRPr lang="en-US" sz="1250" dirty="0"/>
          </a:p>
        </p:txBody>
      </p:sp>
      <p:sp>
        <p:nvSpPr>
          <p:cNvPr id="36" name="Text 34"/>
          <p:cNvSpPr/>
          <p:nvPr/>
        </p:nvSpPr>
        <p:spPr>
          <a:xfrm>
            <a:off x="7909560" y="4910328"/>
            <a:ext cx="3429000" cy="777240"/>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The portfolio's reference for a well-maintained service</a:t>
            </a:r>
            <a:endParaRPr lang="en-US" sz="1100" dirty="0"/>
          </a:p>
        </p:txBody>
      </p:sp>
      <p:sp>
        <p:nvSpPr>
          <p:cNvPr id="37" name="Shape 35"/>
          <p:cNvSpPr/>
          <p:nvPr/>
        </p:nvSpPr>
        <p:spPr>
          <a:xfrm>
            <a:off x="685800" y="5943600"/>
            <a:ext cx="10789920" cy="713232"/>
          </a:xfrm>
          <a:prstGeom prst="rect">
            <a:avLst/>
          </a:prstGeom>
          <a:solidFill>
            <a:srgbClr val="F2F7F6"/>
          </a:solidFill>
          <a:ln/>
        </p:spPr>
      </p:sp>
      <p:sp>
        <p:nvSpPr>
          <p:cNvPr id="38" name="Text 36"/>
          <p:cNvSpPr/>
          <p:nvPr/>
        </p:nvSpPr>
        <p:spPr>
          <a:xfrm>
            <a:off x="886968" y="601675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39" name="Text 37"/>
          <p:cNvSpPr/>
          <p:nvPr/>
        </p:nvSpPr>
        <p:spPr>
          <a:xfrm>
            <a:off x="886968" y="621792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Each position maps onto a distinct debt dimension from Table 2.3: the practical-validity argument for RQ2.</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EVALUATION · CHAPTER 5</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Five strands, no single point of trust</a:t>
            </a:r>
            <a:endParaRPr lang="en-US" sz="3000" dirty="0"/>
          </a:p>
        </p:txBody>
      </p:sp>
      <p:sp>
        <p:nvSpPr>
          <p:cNvPr id="4" name="Shape 2"/>
          <p:cNvSpPr/>
          <p:nvPr/>
        </p:nvSpPr>
        <p:spPr>
          <a:xfrm>
            <a:off x="685800" y="1874520"/>
            <a:ext cx="3520440" cy="1600200"/>
          </a:xfrm>
          <a:prstGeom prst="rect">
            <a:avLst/>
          </a:prstGeom>
          <a:solidFill>
            <a:srgbClr val="F7F9FA"/>
          </a:solidFill>
          <a:ln/>
          <a:effectLst>
            <a:outerShdw sx="100000" sy="100000" kx="0" ky="0" algn="bl" rotWithShape="0" blurRad="63500" dist="25400" dir="5400000">
              <a:srgbClr val="9AA7B2">
                <a:alpha val="22000"/>
              </a:srgbClr>
            </a:outerShdw>
          </a:effectLst>
        </p:spPr>
      </p:sp>
      <p:sp>
        <p:nvSpPr>
          <p:cNvPr id="5" name="Text 3"/>
          <p:cNvSpPr/>
          <p:nvPr/>
        </p:nvSpPr>
        <p:spPr>
          <a:xfrm>
            <a:off x="868680" y="1984248"/>
            <a:ext cx="3154680" cy="292608"/>
          </a:xfrm>
          <a:prstGeom prst="rect">
            <a:avLst/>
          </a:prstGeom>
          <a:noFill/>
          <a:ln/>
        </p:spPr>
        <p:txBody>
          <a:bodyPr wrap="square" lIns="0" tIns="0" rIns="0" bIns="0" rtlCol="0" anchor="ctr"/>
          <a:lstStyle/>
          <a:p>
            <a:pPr indent="0" marL="0">
              <a:buNone/>
            </a:pPr>
            <a:r>
              <a:rPr lang="en-US" sz="1500" b="1" dirty="0">
                <a:solidFill>
                  <a:srgbClr val="14283C"/>
                </a:solidFill>
                <a:latin typeface="Arial" pitchFamily="34" charset="0"/>
                <a:ea typeface="Arial" pitchFamily="34" charset="-122"/>
                <a:cs typeface="Arial" pitchFamily="34" charset="-120"/>
              </a:rPr>
              <a:t>Stability</a:t>
            </a:r>
            <a:endParaRPr lang="en-US" sz="1500" dirty="0"/>
          </a:p>
        </p:txBody>
      </p:sp>
      <p:sp>
        <p:nvSpPr>
          <p:cNvPr id="6" name="Text 4"/>
          <p:cNvSpPr/>
          <p:nvPr/>
        </p:nvSpPr>
        <p:spPr>
          <a:xfrm>
            <a:off x="868680" y="2295144"/>
            <a:ext cx="3154680" cy="713232"/>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Weight &amp; temporal variation, Kendall's τ, exact p over 720 permutations</a:t>
            </a:r>
            <a:endParaRPr lang="en-US" sz="1100" dirty="0"/>
          </a:p>
        </p:txBody>
      </p:sp>
      <p:sp>
        <p:nvSpPr>
          <p:cNvPr id="7" name="Text 5"/>
          <p:cNvSpPr/>
          <p:nvPr/>
        </p:nvSpPr>
        <p:spPr>
          <a:xfrm>
            <a:off x="868680" y="3090672"/>
            <a:ext cx="3154680" cy="274320"/>
          </a:xfrm>
          <a:prstGeom prst="rect">
            <a:avLst/>
          </a:prstGeom>
          <a:noFill/>
          <a:ln/>
        </p:spPr>
        <p:txBody>
          <a:bodyPr wrap="square" lIns="0" tIns="0" rIns="0" bIns="0" rtlCol="0" anchor="ctr"/>
          <a:lstStyle/>
          <a:p>
            <a:pPr indent="0" marL="0">
              <a:buNone/>
            </a:pPr>
            <a:r>
              <a:rPr lang="en-US" sz="1200" b="1" dirty="0">
                <a:solidFill>
                  <a:srgbClr val="1E7F82"/>
                </a:solidFill>
                <a:latin typeface="Courier New" pitchFamily="34" charset="0"/>
                <a:ea typeface="Courier New" pitchFamily="34" charset="-122"/>
                <a:cs typeface="Courier New" pitchFamily="34" charset="-120"/>
              </a:rPr>
              <a:t>τ = 0.60–1.00</a:t>
            </a:r>
            <a:endParaRPr lang="en-US" sz="1200" dirty="0"/>
          </a:p>
        </p:txBody>
      </p:sp>
      <p:sp>
        <p:nvSpPr>
          <p:cNvPr id="8" name="Shape 6"/>
          <p:cNvSpPr/>
          <p:nvPr/>
        </p:nvSpPr>
        <p:spPr>
          <a:xfrm>
            <a:off x="4498848" y="1874520"/>
            <a:ext cx="3520440" cy="1600200"/>
          </a:xfrm>
          <a:prstGeom prst="rect">
            <a:avLst/>
          </a:prstGeom>
          <a:solidFill>
            <a:srgbClr val="F7F9FA"/>
          </a:solidFill>
          <a:ln/>
          <a:effectLst>
            <a:outerShdw sx="100000" sy="100000" kx="0" ky="0" algn="bl" rotWithShape="0" blurRad="63500" dist="25400" dir="5400000">
              <a:srgbClr val="9AA7B2">
                <a:alpha val="22000"/>
              </a:srgbClr>
            </a:outerShdw>
          </a:effectLst>
        </p:spPr>
      </p:sp>
      <p:sp>
        <p:nvSpPr>
          <p:cNvPr id="9" name="Text 7"/>
          <p:cNvSpPr/>
          <p:nvPr/>
        </p:nvSpPr>
        <p:spPr>
          <a:xfrm>
            <a:off x="4681728" y="1984248"/>
            <a:ext cx="3154680" cy="292608"/>
          </a:xfrm>
          <a:prstGeom prst="rect">
            <a:avLst/>
          </a:prstGeom>
          <a:noFill/>
          <a:ln/>
        </p:spPr>
        <p:txBody>
          <a:bodyPr wrap="square" lIns="0" tIns="0" rIns="0" bIns="0" rtlCol="0" anchor="ctr"/>
          <a:lstStyle/>
          <a:p>
            <a:pPr indent="0" marL="0">
              <a:buNone/>
            </a:pPr>
            <a:r>
              <a:rPr lang="en-US" sz="1500" b="1" dirty="0">
                <a:solidFill>
                  <a:srgbClr val="14283C"/>
                </a:solidFill>
                <a:latin typeface="Arial" pitchFamily="34" charset="0"/>
                <a:ea typeface="Arial" pitchFamily="34" charset="-122"/>
                <a:cs typeface="Arial" pitchFamily="34" charset="-120"/>
              </a:rPr>
              <a:t>Weight space</a:t>
            </a:r>
            <a:endParaRPr lang="en-US" sz="1500" dirty="0"/>
          </a:p>
        </p:txBody>
      </p:sp>
      <p:sp>
        <p:nvSpPr>
          <p:cNvPr id="10" name="Text 8"/>
          <p:cNvSpPr/>
          <p:nvPr/>
        </p:nvSpPr>
        <p:spPr>
          <a:xfrm>
            <a:off x="4681728" y="2295144"/>
            <a:ext cx="3154680" cy="713232"/>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20,000 Dirichlet-sampled weightings, rank-acceptability analysis</a:t>
            </a:r>
            <a:endParaRPr lang="en-US" sz="1100" dirty="0"/>
          </a:p>
        </p:txBody>
      </p:sp>
      <p:sp>
        <p:nvSpPr>
          <p:cNvPr id="11" name="Text 9"/>
          <p:cNvSpPr/>
          <p:nvPr/>
        </p:nvSpPr>
        <p:spPr>
          <a:xfrm>
            <a:off x="4681728" y="3090672"/>
            <a:ext cx="3154680" cy="274320"/>
          </a:xfrm>
          <a:prstGeom prst="rect">
            <a:avLst/>
          </a:prstGeom>
          <a:noFill/>
          <a:ln/>
        </p:spPr>
        <p:txBody>
          <a:bodyPr wrap="square" lIns="0" tIns="0" rIns="0" bIns="0" rtlCol="0" anchor="ctr"/>
          <a:lstStyle/>
          <a:p>
            <a:pPr indent="0" marL="0">
              <a:buNone/>
            </a:pPr>
            <a:r>
              <a:rPr lang="en-US" sz="1200" b="1" dirty="0">
                <a:solidFill>
                  <a:srgbClr val="1E7F82"/>
                </a:solidFill>
                <a:latin typeface="Courier New" pitchFamily="34" charset="0"/>
                <a:ea typeface="Courier New" pitchFamily="34" charset="-122"/>
                <a:cs typeface="Courier New" pitchFamily="34" charset="-120"/>
              </a:rPr>
              <a:t>extremes robust</a:t>
            </a:r>
            <a:endParaRPr lang="en-US" sz="1200" dirty="0"/>
          </a:p>
        </p:txBody>
      </p:sp>
      <p:sp>
        <p:nvSpPr>
          <p:cNvPr id="12" name="Shape 10"/>
          <p:cNvSpPr/>
          <p:nvPr/>
        </p:nvSpPr>
        <p:spPr>
          <a:xfrm>
            <a:off x="8311896" y="1874520"/>
            <a:ext cx="3520440" cy="1600200"/>
          </a:xfrm>
          <a:prstGeom prst="rect">
            <a:avLst/>
          </a:prstGeom>
          <a:solidFill>
            <a:srgbClr val="F7F9FA"/>
          </a:solidFill>
          <a:ln/>
          <a:effectLst>
            <a:outerShdw sx="100000" sy="100000" kx="0" ky="0" algn="bl" rotWithShape="0" blurRad="63500" dist="25400" dir="5400000">
              <a:srgbClr val="9AA7B2">
                <a:alpha val="22000"/>
              </a:srgbClr>
            </a:outerShdw>
          </a:effectLst>
        </p:spPr>
      </p:sp>
      <p:sp>
        <p:nvSpPr>
          <p:cNvPr id="13" name="Text 11"/>
          <p:cNvSpPr/>
          <p:nvPr/>
        </p:nvSpPr>
        <p:spPr>
          <a:xfrm>
            <a:off x="8494776" y="1984248"/>
            <a:ext cx="3154680" cy="292608"/>
          </a:xfrm>
          <a:prstGeom prst="rect">
            <a:avLst/>
          </a:prstGeom>
          <a:noFill/>
          <a:ln/>
        </p:spPr>
        <p:txBody>
          <a:bodyPr wrap="square" lIns="0" tIns="0" rIns="0" bIns="0" rtlCol="0" anchor="ctr"/>
          <a:lstStyle/>
          <a:p>
            <a:pPr indent="0" marL="0">
              <a:buNone/>
            </a:pPr>
            <a:r>
              <a:rPr lang="en-US" sz="1500" b="1" dirty="0">
                <a:solidFill>
                  <a:srgbClr val="14283C"/>
                </a:solidFill>
                <a:latin typeface="Arial" pitchFamily="34" charset="0"/>
                <a:ea typeface="Arial" pitchFamily="34" charset="-122"/>
                <a:cs typeface="Arial" pitchFamily="34" charset="-120"/>
              </a:rPr>
              <a:t>Convergent</a:t>
            </a:r>
            <a:endParaRPr lang="en-US" sz="1500" dirty="0"/>
          </a:p>
        </p:txBody>
      </p:sp>
      <p:sp>
        <p:nvSpPr>
          <p:cNvPr id="14" name="Text 12"/>
          <p:cNvSpPr/>
          <p:nvPr/>
        </p:nvSpPr>
        <p:spPr>
          <a:xfrm>
            <a:off x="8494776" y="2295144"/>
            <a:ext cx="3154680" cy="713232"/>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Re-ranked with SAW &amp; VIKOR</a:t>
            </a:r>
            <a:endParaRPr lang="en-US" sz="1100" dirty="0"/>
          </a:p>
        </p:txBody>
      </p:sp>
      <p:sp>
        <p:nvSpPr>
          <p:cNvPr id="15" name="Text 13"/>
          <p:cNvSpPr/>
          <p:nvPr/>
        </p:nvSpPr>
        <p:spPr>
          <a:xfrm>
            <a:off x="8494776" y="3090672"/>
            <a:ext cx="3154680" cy="274320"/>
          </a:xfrm>
          <a:prstGeom prst="rect">
            <a:avLst/>
          </a:prstGeom>
          <a:noFill/>
          <a:ln/>
        </p:spPr>
        <p:txBody>
          <a:bodyPr wrap="square" lIns="0" tIns="0" rIns="0" bIns="0" rtlCol="0" anchor="ctr"/>
          <a:lstStyle/>
          <a:p>
            <a:pPr indent="0" marL="0">
              <a:buNone/>
            </a:pPr>
            <a:r>
              <a:rPr lang="en-US" sz="1200" b="1" dirty="0">
                <a:solidFill>
                  <a:srgbClr val="1E7F82"/>
                </a:solidFill>
                <a:latin typeface="Courier New" pitchFamily="34" charset="0"/>
                <a:ea typeface="Courier New" pitchFamily="34" charset="-122"/>
                <a:cs typeface="Courier New" pitchFamily="34" charset="-120"/>
              </a:rPr>
              <a:t>τ = 0.73–1.00</a:t>
            </a:r>
            <a:endParaRPr lang="en-US" sz="1200" dirty="0"/>
          </a:p>
        </p:txBody>
      </p:sp>
      <p:sp>
        <p:nvSpPr>
          <p:cNvPr id="16" name="Shape 14"/>
          <p:cNvSpPr/>
          <p:nvPr/>
        </p:nvSpPr>
        <p:spPr>
          <a:xfrm>
            <a:off x="2592324" y="3794760"/>
            <a:ext cx="3520440" cy="1600200"/>
          </a:xfrm>
          <a:prstGeom prst="rect">
            <a:avLst/>
          </a:prstGeom>
          <a:solidFill>
            <a:srgbClr val="F7F9FA"/>
          </a:solidFill>
          <a:ln/>
          <a:effectLst>
            <a:outerShdw sx="100000" sy="100000" kx="0" ky="0" algn="bl" rotWithShape="0" blurRad="63500" dist="25400" dir="5400000">
              <a:srgbClr val="9AA7B2">
                <a:alpha val="22000"/>
              </a:srgbClr>
            </a:outerShdw>
          </a:effectLst>
        </p:spPr>
      </p:sp>
      <p:sp>
        <p:nvSpPr>
          <p:cNvPr id="17" name="Text 15"/>
          <p:cNvSpPr/>
          <p:nvPr/>
        </p:nvSpPr>
        <p:spPr>
          <a:xfrm>
            <a:off x="2775204" y="3904488"/>
            <a:ext cx="3154680" cy="292608"/>
          </a:xfrm>
          <a:prstGeom prst="rect">
            <a:avLst/>
          </a:prstGeom>
          <a:noFill/>
          <a:ln/>
        </p:spPr>
        <p:txBody>
          <a:bodyPr wrap="square" lIns="0" tIns="0" rIns="0" bIns="0" rtlCol="0" anchor="ctr"/>
          <a:lstStyle/>
          <a:p>
            <a:pPr indent="0" marL="0">
              <a:buNone/>
            </a:pPr>
            <a:r>
              <a:rPr lang="en-US" sz="1500" b="1" dirty="0">
                <a:solidFill>
                  <a:srgbClr val="14283C"/>
                </a:solidFill>
                <a:latin typeface="Arial" pitchFamily="34" charset="0"/>
                <a:ea typeface="Arial" pitchFamily="34" charset="-122"/>
                <a:cs typeface="Arial" pitchFamily="34" charset="-120"/>
              </a:rPr>
              <a:t>Discriminant</a:t>
            </a:r>
            <a:endParaRPr lang="en-US" sz="1500" dirty="0"/>
          </a:p>
        </p:txBody>
      </p:sp>
      <p:sp>
        <p:nvSpPr>
          <p:cNvPr id="18" name="Text 16"/>
          <p:cNvSpPr/>
          <p:nvPr/>
        </p:nvSpPr>
        <p:spPr>
          <a:xfrm>
            <a:off x="2775204" y="4215384"/>
            <a:ext cx="3154680" cy="713232"/>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Against an incident-only baseline</a:t>
            </a:r>
            <a:endParaRPr lang="en-US" sz="1100" dirty="0"/>
          </a:p>
        </p:txBody>
      </p:sp>
      <p:sp>
        <p:nvSpPr>
          <p:cNvPr id="19" name="Text 17"/>
          <p:cNvSpPr/>
          <p:nvPr/>
        </p:nvSpPr>
        <p:spPr>
          <a:xfrm>
            <a:off x="2775204" y="5010912"/>
            <a:ext cx="3154680" cy="274320"/>
          </a:xfrm>
          <a:prstGeom prst="rect">
            <a:avLst/>
          </a:prstGeom>
          <a:noFill/>
          <a:ln/>
        </p:spPr>
        <p:txBody>
          <a:bodyPr wrap="square" lIns="0" tIns="0" rIns="0" bIns="0" rtlCol="0" anchor="ctr"/>
          <a:lstStyle/>
          <a:p>
            <a:pPr indent="0" marL="0">
              <a:buNone/>
            </a:pPr>
            <a:r>
              <a:rPr lang="en-US" sz="1200" b="1" dirty="0">
                <a:solidFill>
                  <a:srgbClr val="1E7F82"/>
                </a:solidFill>
                <a:latin typeface="Courier New" pitchFamily="34" charset="0"/>
                <a:ea typeface="Courier New" pitchFamily="34" charset="-122"/>
                <a:cs typeface="Courier New" pitchFamily="34" charset="-120"/>
              </a:rPr>
              <a:t>τ = 0.47 / 0.33</a:t>
            </a:r>
            <a:endParaRPr lang="en-US" sz="1200" dirty="0"/>
          </a:p>
        </p:txBody>
      </p:sp>
      <p:sp>
        <p:nvSpPr>
          <p:cNvPr id="20" name="Shape 18"/>
          <p:cNvSpPr/>
          <p:nvPr/>
        </p:nvSpPr>
        <p:spPr>
          <a:xfrm>
            <a:off x="6405372" y="3794760"/>
            <a:ext cx="3520440" cy="1600200"/>
          </a:xfrm>
          <a:prstGeom prst="rect">
            <a:avLst/>
          </a:prstGeom>
          <a:solidFill>
            <a:srgbClr val="FBF4E8"/>
          </a:solidFill>
          <a:ln/>
          <a:effectLst>
            <a:outerShdw sx="100000" sy="100000" kx="0" ky="0" algn="bl" rotWithShape="0" blurRad="63500" dist="25400" dir="5400000">
              <a:srgbClr val="9AA7B2">
                <a:alpha val="22000"/>
              </a:srgbClr>
            </a:outerShdw>
          </a:effectLst>
        </p:spPr>
      </p:sp>
      <p:sp>
        <p:nvSpPr>
          <p:cNvPr id="21" name="Text 19"/>
          <p:cNvSpPr/>
          <p:nvPr/>
        </p:nvSpPr>
        <p:spPr>
          <a:xfrm>
            <a:off x="6588252" y="3904488"/>
            <a:ext cx="3154680" cy="292608"/>
          </a:xfrm>
          <a:prstGeom prst="rect">
            <a:avLst/>
          </a:prstGeom>
          <a:noFill/>
          <a:ln/>
        </p:spPr>
        <p:txBody>
          <a:bodyPr wrap="square" lIns="0" tIns="0" rIns="0" bIns="0" rtlCol="0" anchor="ctr"/>
          <a:lstStyle/>
          <a:p>
            <a:pPr indent="0" marL="0">
              <a:buNone/>
            </a:pPr>
            <a:r>
              <a:rPr lang="en-US" sz="1500" b="1" dirty="0">
                <a:solidFill>
                  <a:srgbClr val="14283C"/>
                </a:solidFill>
                <a:latin typeface="Arial" pitchFamily="34" charset="0"/>
                <a:ea typeface="Arial" pitchFamily="34" charset="-122"/>
                <a:cs typeface="Arial" pitchFamily="34" charset="-120"/>
              </a:rPr>
              <a:t>Structural</a:t>
            </a:r>
            <a:endParaRPr lang="en-US" sz="1500" dirty="0"/>
          </a:p>
        </p:txBody>
      </p:sp>
      <p:sp>
        <p:nvSpPr>
          <p:cNvPr id="22" name="Text 20"/>
          <p:cNvSpPr/>
          <p:nvPr/>
        </p:nvSpPr>
        <p:spPr>
          <a:xfrm>
            <a:off x="6588252" y="4215384"/>
            <a:ext cx="3154680" cy="713232"/>
          </a:xfrm>
          <a:prstGeom prst="rect">
            <a:avLst/>
          </a:prstGeom>
          <a:noFill/>
          <a:ln/>
        </p:spPr>
        <p:txBody>
          <a:bodyPr wrap="square" lIns="0" tIns="0" rIns="0" bIns="0" rtlCol="0" anchor="t"/>
          <a:lstStyle/>
          <a:p>
            <a:pPr indent="0" marL="0">
              <a:buNone/>
            </a:pPr>
            <a:r>
              <a:rPr lang="en-US" sz="1100" dirty="0">
                <a:solidFill>
                  <a:srgbClr val="2A3F55"/>
                </a:solidFill>
                <a:latin typeface="Arial" pitchFamily="34" charset="0"/>
                <a:ea typeface="Arial" pitchFamily="34" charset="-122"/>
                <a:cs typeface="Arial" pitchFamily="34" charset="-120"/>
              </a:rPr>
              <a:t>Leave-one-out rank reversal; absolute-mode variant</a:t>
            </a:r>
            <a:endParaRPr lang="en-US" sz="1100" dirty="0"/>
          </a:p>
        </p:txBody>
      </p:sp>
      <p:sp>
        <p:nvSpPr>
          <p:cNvPr id="23" name="Text 21"/>
          <p:cNvSpPr/>
          <p:nvPr/>
        </p:nvSpPr>
        <p:spPr>
          <a:xfrm>
            <a:off x="6588252" y="5010912"/>
            <a:ext cx="3154680" cy="274320"/>
          </a:xfrm>
          <a:prstGeom prst="rect">
            <a:avLst/>
          </a:prstGeom>
          <a:noFill/>
          <a:ln/>
        </p:spPr>
        <p:txBody>
          <a:bodyPr wrap="square" lIns="0" tIns="0" rIns="0" bIns="0" rtlCol="0" anchor="ctr"/>
          <a:lstStyle/>
          <a:p>
            <a:pPr indent="0" marL="0">
              <a:buNone/>
            </a:pPr>
            <a:r>
              <a:rPr lang="en-US" sz="1200" b="1" dirty="0">
                <a:solidFill>
                  <a:srgbClr val="D98E1F"/>
                </a:solidFill>
                <a:latin typeface="Courier New" pitchFamily="34" charset="0"/>
                <a:ea typeface="Courier New" pitchFamily="34" charset="-122"/>
                <a:cs typeface="Courier New" pitchFamily="34" charset="-120"/>
              </a:rPr>
              <a:t>reversal-free by construction</a:t>
            </a:r>
            <a:endParaRPr lang="en-US" sz="1200" dirty="0"/>
          </a:p>
        </p:txBody>
      </p:sp>
      <p:sp>
        <p:nvSpPr>
          <p:cNvPr id="24" name="Shape 22"/>
          <p:cNvSpPr/>
          <p:nvPr/>
        </p:nvSpPr>
        <p:spPr>
          <a:xfrm>
            <a:off x="685800" y="5897880"/>
            <a:ext cx="10789920" cy="713232"/>
          </a:xfrm>
          <a:prstGeom prst="rect">
            <a:avLst/>
          </a:prstGeom>
          <a:solidFill>
            <a:srgbClr val="F2F7F6"/>
          </a:solidFill>
          <a:ln/>
        </p:spPr>
      </p:sp>
      <p:sp>
        <p:nvSpPr>
          <p:cNvPr id="25" name="Text 23"/>
          <p:cNvSpPr/>
          <p:nvPr/>
        </p:nvSpPr>
        <p:spPr>
          <a:xfrm>
            <a:off x="886968" y="597103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26" name="Text 24"/>
          <p:cNvSpPr/>
          <p:nvPr/>
        </p:nvSpPr>
        <p:spPr>
          <a:xfrm>
            <a:off x="886968" y="617220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No external ground truth exists for non-code debt, so validity is triangulated: robustness, method-independence and discriminant value are established; criterion validity is explicitly not claimed.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RQ3 · STABILITY</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Robust where it matters</a:t>
            </a:r>
            <a:endParaRPr lang="en-US" sz="3000" dirty="0"/>
          </a:p>
        </p:txBody>
      </p:sp>
      <p:sp>
        <p:nvSpPr>
          <p:cNvPr id="4" name="Text 2"/>
          <p:cNvSpPr/>
          <p:nvPr/>
        </p:nvSpPr>
        <p:spPr>
          <a:xfrm>
            <a:off x="685800" y="1783080"/>
            <a:ext cx="5212080" cy="320040"/>
          </a:xfrm>
          <a:prstGeom prst="rect">
            <a:avLst/>
          </a:prstGeom>
          <a:noFill/>
          <a:ln/>
        </p:spPr>
        <p:txBody>
          <a:bodyPr wrap="square" lIns="0" tIns="0" rIns="0" bIns="0" rtlCol="0" anchor="ctr"/>
          <a:lstStyle/>
          <a:p>
            <a:pPr indent="0" marL="0">
              <a:buNone/>
            </a:pPr>
            <a:r>
              <a:rPr lang="en-US" sz="1600" b="1" dirty="0">
                <a:solidFill>
                  <a:srgbClr val="14283C"/>
                </a:solidFill>
                <a:latin typeface="Arial" pitchFamily="34" charset="0"/>
                <a:ea typeface="Arial" pitchFamily="34" charset="-122"/>
                <a:cs typeface="Arial" pitchFamily="34" charset="-120"/>
              </a:rPr>
              <a:t>Discrete configurations</a:t>
            </a:r>
            <a:endParaRPr lang="en-US" sz="1600" dirty="0"/>
          </a:p>
        </p:txBody>
      </p:sp>
      <p:sp>
        <p:nvSpPr>
          <p:cNvPr id="5" name="Text 3"/>
          <p:cNvSpPr/>
          <p:nvPr/>
        </p:nvSpPr>
        <p:spPr>
          <a:xfrm>
            <a:off x="685800" y="2240280"/>
            <a:ext cx="5212080" cy="320040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Weight sensitivity 2025: τ = 1.000 (identical order)</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Weight sensitivity 2024: τ = 0.600 (middle of the field reorders)</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Temporal 2025 vs 2024: τ = 0.600 / 0.467, tracking real profile change, above all SVC-01's shift</a:t>
            </a:r>
            <a:endParaRPr lang="en-US" sz="1350" dirty="0"/>
          </a:p>
          <a:p>
            <a:pPr marL="177800" indent="-177800">
              <a:lnSpc>
                <a:spcPct val="112000"/>
              </a:lnSpc>
              <a:spcAft>
                <a:spcPts val="1000"/>
              </a:spcAft>
              <a:buSzPct val="100000"/>
              <a:buChar char="•"/>
            </a:pPr>
            <a:r>
              <a:rPr lang="en-US" sz="1350" b="1" dirty="0">
                <a:solidFill>
                  <a:srgbClr val="14283C"/>
                </a:solidFill>
                <a:latin typeface="Arial" pitchFamily="34" charset="0"/>
                <a:ea typeface="Arial" pitchFamily="34" charset="-122"/>
                <a:cs typeface="Arial" pitchFamily="34" charset="-120"/>
              </a:rPr>
              <a:t>The lowest-priority position is identical in every run</a:t>
            </a:r>
            <a:endParaRPr lang="en-US" sz="1350" dirty="0"/>
          </a:p>
        </p:txBody>
      </p:sp>
      <p:sp>
        <p:nvSpPr>
          <p:cNvPr id="6" name="Shape 4"/>
          <p:cNvSpPr/>
          <p:nvPr/>
        </p:nvSpPr>
        <p:spPr>
          <a:xfrm>
            <a:off x="6583680" y="1828800"/>
            <a:ext cx="4892040" cy="3383280"/>
          </a:xfrm>
          <a:prstGeom prst="rect">
            <a:avLst/>
          </a:prstGeom>
          <a:solidFill>
            <a:srgbClr val="F7F9FA"/>
          </a:solidFill>
          <a:ln/>
          <a:effectLst>
            <a:outerShdw sx="100000" sy="100000" kx="0" ky="0" algn="bl" rotWithShape="0" blurRad="76200" dist="25400" dir="5400000">
              <a:srgbClr val="9AA7B2">
                <a:alpha val="25000"/>
              </a:srgbClr>
            </a:outerShdw>
          </a:effectLst>
        </p:spPr>
      </p:sp>
      <p:sp>
        <p:nvSpPr>
          <p:cNvPr id="7" name="Text 5"/>
          <p:cNvSpPr/>
          <p:nvPr/>
        </p:nvSpPr>
        <p:spPr>
          <a:xfrm>
            <a:off x="6858000" y="2057400"/>
            <a:ext cx="4389120" cy="274320"/>
          </a:xfrm>
          <a:prstGeom prst="rect">
            <a:avLst/>
          </a:prstGeom>
          <a:noFill/>
          <a:ln/>
        </p:spPr>
        <p:txBody>
          <a:bodyPr wrap="square" lIns="0" tIns="0" rIns="0" bIns="0" rtlCol="0" anchor="ctr"/>
          <a:lstStyle/>
          <a:p>
            <a:pPr indent="0" marL="0">
              <a:buNone/>
            </a:pPr>
            <a:r>
              <a:rPr lang="en-US" sz="1100" b="1" spc="200" kern="0" dirty="0">
                <a:solidFill>
                  <a:srgbClr val="5C7186"/>
                </a:solidFill>
                <a:latin typeface="Courier New" pitchFamily="34" charset="0"/>
                <a:ea typeface="Courier New" pitchFamily="34" charset="-122"/>
                <a:cs typeface="Courier New" pitchFamily="34" charset="-120"/>
              </a:rPr>
              <a:t>FULL WEIGHT SPACE · 20,000 DRAWS</a:t>
            </a:r>
            <a:endParaRPr lang="en-US" sz="1100" dirty="0"/>
          </a:p>
        </p:txBody>
      </p:sp>
      <p:sp>
        <p:nvSpPr>
          <p:cNvPr id="8" name="Text 6"/>
          <p:cNvSpPr/>
          <p:nvPr/>
        </p:nvSpPr>
        <p:spPr>
          <a:xfrm>
            <a:off x="6858000" y="2377440"/>
            <a:ext cx="4389120" cy="1005840"/>
          </a:xfrm>
          <a:prstGeom prst="rect">
            <a:avLst/>
          </a:prstGeom>
          <a:noFill/>
          <a:ln/>
        </p:spPr>
        <p:txBody>
          <a:bodyPr wrap="square" lIns="0" tIns="0" rIns="0" bIns="0" rtlCol="0" anchor="ctr"/>
          <a:lstStyle/>
          <a:p>
            <a:pPr indent="0" marL="0">
              <a:buNone/>
            </a:pPr>
            <a:r>
              <a:rPr lang="en-US" sz="6000" b="1" dirty="0">
                <a:solidFill>
                  <a:srgbClr val="14283C"/>
                </a:solidFill>
                <a:latin typeface="Courier New" pitchFamily="34" charset="0"/>
                <a:ea typeface="Courier New" pitchFamily="34" charset="-122"/>
                <a:cs typeface="Courier New" pitchFamily="34" charset="-120"/>
              </a:rPr>
              <a:t>98.1%</a:t>
            </a:r>
            <a:endParaRPr lang="en-US" sz="6000" dirty="0"/>
          </a:p>
        </p:txBody>
      </p:sp>
      <p:sp>
        <p:nvSpPr>
          <p:cNvPr id="9" name="Text 7"/>
          <p:cNvSpPr/>
          <p:nvPr/>
        </p:nvSpPr>
        <p:spPr>
          <a:xfrm>
            <a:off x="6858000" y="3474720"/>
            <a:ext cx="4389120" cy="1554480"/>
          </a:xfrm>
          <a:prstGeom prst="rect">
            <a:avLst/>
          </a:prstGeom>
          <a:noFill/>
          <a:ln/>
        </p:spPr>
        <p:txBody>
          <a:bodyPr wrap="square" lIns="0" tIns="0" rIns="0" bIns="0" rtlCol="0" anchor="t"/>
          <a:lstStyle/>
          <a:p>
            <a:pPr indent="0" marL="0">
              <a:lnSpc>
                <a:spcPct val="115000"/>
              </a:lnSpc>
              <a:buNone/>
            </a:pPr>
            <a:r>
              <a:rPr lang="en-US" sz="1250" dirty="0">
                <a:solidFill>
                  <a:srgbClr val="2A3F55"/>
                </a:solidFill>
                <a:latin typeface="Arial" pitchFamily="34" charset="0"/>
                <a:ea typeface="Arial" pitchFamily="34" charset="-122"/>
                <a:cs typeface="Arial" pitchFamily="34" charset="-120"/>
              </a:rPr>
              <a:t>of all admissible weightings place SVC-03 last, and rank 1 falls to SVC-01, SVC-06 or SVC-04 in every single draw (46%, 27%, 27%). The bottom is weight-independent; the single top rank is a property of the cluster.</a:t>
            </a:r>
            <a:endParaRPr lang="en-US" sz="1250" dirty="0"/>
          </a:p>
        </p:txBody>
      </p:sp>
      <p:sp>
        <p:nvSpPr>
          <p:cNvPr id="10" name="Shape 8"/>
          <p:cNvSpPr/>
          <p:nvPr/>
        </p:nvSpPr>
        <p:spPr>
          <a:xfrm>
            <a:off x="685800" y="5806440"/>
            <a:ext cx="10789920" cy="713232"/>
          </a:xfrm>
          <a:prstGeom prst="rect">
            <a:avLst/>
          </a:prstGeom>
          <a:solidFill>
            <a:srgbClr val="F2F7F6"/>
          </a:solidFill>
          <a:ln/>
        </p:spPr>
      </p:sp>
      <p:sp>
        <p:nvSpPr>
          <p:cNvPr id="11" name="Text 9"/>
          <p:cNvSpPr/>
          <p:nvPr/>
        </p:nvSpPr>
        <p:spPr>
          <a:xfrm>
            <a:off x="886968" y="587959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2" name="Text 10"/>
          <p:cNvSpPr/>
          <p:nvPr/>
        </p:nvSpPr>
        <p:spPr>
          <a:xfrm>
            <a:off x="886968" y="608076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Cross-year movement is read as descriptive context, not a quality criterion: services genuinely evolve, and a faithful ranking should follow them.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DISCRIMINANT VALUE</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Does it earn its complexity?</a:t>
            </a:r>
            <a:endParaRPr lang="en-US" sz="3000" dirty="0"/>
          </a:p>
        </p:txBody>
      </p:sp>
      <p:sp>
        <p:nvSpPr>
          <p:cNvPr id="4" name="Text 2"/>
          <p:cNvSpPr/>
          <p:nvPr/>
        </p:nvSpPr>
        <p:spPr>
          <a:xfrm>
            <a:off x="685800" y="1783080"/>
            <a:ext cx="10789920" cy="365760"/>
          </a:xfrm>
          <a:prstGeom prst="rect">
            <a:avLst/>
          </a:prstGeom>
          <a:noFill/>
          <a:ln/>
        </p:spPr>
        <p:txBody>
          <a:bodyPr wrap="square" lIns="0" tIns="0" rIns="0" bIns="0" rtlCol="0" anchor="ctr"/>
          <a:lstStyle/>
          <a:p>
            <a:pPr indent="0" marL="0">
              <a:buNone/>
            </a:pPr>
            <a:r>
              <a:rPr lang="en-US" sz="1500" dirty="0">
                <a:solidFill>
                  <a:srgbClr val="14283C"/>
                </a:solidFill>
                <a:latin typeface="Arial" pitchFamily="34" charset="0"/>
                <a:ea typeface="Arial" pitchFamily="34" charset="-122"/>
                <a:cs typeface="Arial" pitchFamily="34" charset="-120"/>
              </a:rPr>
              <a:t>Against a ranking by incident frequency alone:  </a:t>
            </a:r>
            <a:pPr indent="0" marL="0">
              <a:buNone/>
            </a:pPr>
            <a:r>
              <a:rPr lang="en-US" sz="1500" b="1" dirty="0">
                <a:solidFill>
                  <a:srgbClr val="14283C"/>
                </a:solidFill>
                <a:latin typeface="Courier New" pitchFamily="34" charset="0"/>
                <a:ea typeface="Courier New" pitchFamily="34" charset="-122"/>
                <a:cs typeface="Courier New" pitchFamily="34" charset="-120"/>
              </a:rPr>
              <a:t>τ = 0.467</a:t>
            </a:r>
            <a:pPr indent="0" marL="0">
              <a:buNone/>
            </a:pPr>
            <a:r>
              <a:rPr lang="en-US" sz="1500" dirty="0">
                <a:solidFill>
                  <a:srgbClr val="14283C"/>
                </a:solidFill>
                <a:latin typeface="Arial" pitchFamily="34" charset="0"/>
                <a:ea typeface="Arial" pitchFamily="34" charset="-122"/>
                <a:cs typeface="Arial" pitchFamily="34" charset="-120"/>
              </a:rPr>
              <a:t> (2025),  </a:t>
            </a:r>
            <a:pPr indent="0" marL="0">
              <a:buNone/>
            </a:pPr>
            <a:r>
              <a:rPr lang="en-US" sz="1500" b="1" dirty="0">
                <a:solidFill>
                  <a:srgbClr val="14283C"/>
                </a:solidFill>
                <a:latin typeface="Courier New" pitchFamily="34" charset="0"/>
                <a:ea typeface="Courier New" pitchFamily="34" charset="-122"/>
                <a:cs typeface="Courier New" pitchFamily="34" charset="-120"/>
              </a:rPr>
              <a:t>τ = 0.333</a:t>
            </a:r>
            <a:pPr indent="0" marL="0">
              <a:buNone/>
            </a:pPr>
            <a:r>
              <a:rPr lang="en-US" sz="1500" dirty="0">
                <a:solidFill>
                  <a:srgbClr val="14283C"/>
                </a:solidFill>
                <a:latin typeface="Arial" pitchFamily="34" charset="0"/>
                <a:ea typeface="Arial" pitchFamily="34" charset="-122"/>
                <a:cs typeface="Arial" pitchFamily="34" charset="-120"/>
              </a:rPr>
              <a:t> (2024).</a:t>
            </a:r>
            <a:endParaRPr lang="en-US" sz="1500" dirty="0"/>
          </a:p>
        </p:txBody>
      </p:sp>
      <p:sp>
        <p:nvSpPr>
          <p:cNvPr id="5" name="Shape 3"/>
          <p:cNvSpPr/>
          <p:nvPr/>
        </p:nvSpPr>
        <p:spPr>
          <a:xfrm>
            <a:off x="685800" y="2423160"/>
            <a:ext cx="5257800" cy="2286000"/>
          </a:xfrm>
          <a:prstGeom prst="rect">
            <a:avLst/>
          </a:prstGeom>
          <a:solidFill>
            <a:srgbClr val="FBF4E8"/>
          </a:solidFill>
          <a:ln/>
          <a:effectLst>
            <a:outerShdw sx="100000" sy="100000" kx="0" ky="0" algn="bl" rotWithShape="0" blurRad="63500" dist="25400" dir="5400000">
              <a:srgbClr val="9AA7B2">
                <a:alpha val="22000"/>
              </a:srgbClr>
            </a:outerShdw>
          </a:effectLst>
        </p:spPr>
      </p:sp>
      <p:sp>
        <p:nvSpPr>
          <p:cNvPr id="6" name="Text 4"/>
          <p:cNvSpPr/>
          <p:nvPr/>
        </p:nvSpPr>
        <p:spPr>
          <a:xfrm>
            <a:off x="914400" y="2606040"/>
            <a:ext cx="4800600" cy="320040"/>
          </a:xfrm>
          <a:prstGeom prst="rect">
            <a:avLst/>
          </a:prstGeom>
          <a:noFill/>
          <a:ln/>
        </p:spPr>
        <p:txBody>
          <a:bodyPr wrap="square" lIns="0" tIns="0" rIns="0" bIns="0" rtlCol="0" anchor="ctr"/>
          <a:lstStyle/>
          <a:p>
            <a:pPr indent="0" marL="0">
              <a:buNone/>
            </a:pPr>
            <a:r>
              <a:rPr lang="en-US" sz="1700" b="1" dirty="0">
                <a:solidFill>
                  <a:srgbClr val="D98E1F"/>
                </a:solidFill>
                <a:latin typeface="Arial" pitchFamily="34" charset="0"/>
                <a:ea typeface="Arial" pitchFamily="34" charset="-122"/>
                <a:cs typeface="Arial" pitchFamily="34" charset="-120"/>
              </a:rPr>
              <a:t>SVC-01 rises, fourth to first</a:t>
            </a:r>
            <a:endParaRPr lang="en-US" sz="1700" dirty="0"/>
          </a:p>
        </p:txBody>
      </p:sp>
      <p:sp>
        <p:nvSpPr>
          <p:cNvPr id="7" name="Text 5"/>
          <p:cNvSpPr/>
          <p:nvPr/>
        </p:nvSpPr>
        <p:spPr>
          <a:xfrm>
            <a:off x="914400" y="3017520"/>
            <a:ext cx="4800600" cy="1554480"/>
          </a:xfrm>
          <a:prstGeom prst="rect">
            <a:avLst/>
          </a:prstGeom>
          <a:noFill/>
          <a:ln/>
        </p:spPr>
        <p:txBody>
          <a:bodyPr wrap="square" lIns="0" tIns="0" rIns="0" bIns="0" rtlCol="0" anchor="t"/>
          <a:lstStyle/>
          <a:p>
            <a:pPr indent="0" marL="0">
              <a:lnSpc>
                <a:spcPct val="115000"/>
              </a:lnSpc>
              <a:buNone/>
            </a:pPr>
            <a:r>
              <a:rPr lang="en-US" sz="1300" dirty="0">
                <a:solidFill>
                  <a:srgbClr val="2A3F55"/>
                </a:solidFill>
                <a:latin typeface="Arial" pitchFamily="34" charset="0"/>
                <a:ea typeface="Arial" pitchFamily="34" charset="-122"/>
                <a:cs typeface="Arial" pitchFamily="34" charset="-120"/>
              </a:rPr>
              <a:t>Infrastructure lifecycle debt (2,565 unsupported component months, patch recency 53.10) is invisible to an incident count. This is precisely the signal the framework was built to surface.</a:t>
            </a:r>
            <a:endParaRPr lang="en-US" sz="1300" dirty="0"/>
          </a:p>
        </p:txBody>
      </p:sp>
      <p:sp>
        <p:nvSpPr>
          <p:cNvPr id="8" name="Shape 6"/>
          <p:cNvSpPr/>
          <p:nvPr/>
        </p:nvSpPr>
        <p:spPr>
          <a:xfrm>
            <a:off x="6217920" y="2423160"/>
            <a:ext cx="5257800" cy="2286000"/>
          </a:xfrm>
          <a:prstGeom prst="rect">
            <a:avLst/>
          </a:prstGeom>
          <a:solidFill>
            <a:srgbClr val="F7F9FA"/>
          </a:solidFill>
          <a:ln/>
          <a:effectLst>
            <a:outerShdw sx="100000" sy="100000" kx="0" ky="0" algn="bl" rotWithShape="0" blurRad="63500" dist="25400" dir="5400000">
              <a:srgbClr val="9AA7B2">
                <a:alpha val="22000"/>
              </a:srgbClr>
            </a:outerShdw>
          </a:effectLst>
        </p:spPr>
      </p:sp>
      <p:sp>
        <p:nvSpPr>
          <p:cNvPr id="9" name="Text 7"/>
          <p:cNvSpPr/>
          <p:nvPr/>
        </p:nvSpPr>
        <p:spPr>
          <a:xfrm>
            <a:off x="6446520" y="2606040"/>
            <a:ext cx="4800600" cy="320040"/>
          </a:xfrm>
          <a:prstGeom prst="rect">
            <a:avLst/>
          </a:prstGeom>
          <a:noFill/>
          <a:ln/>
        </p:spPr>
        <p:txBody>
          <a:bodyPr wrap="square" lIns="0" tIns="0" rIns="0" bIns="0" rtlCol="0" anchor="ctr"/>
          <a:lstStyle/>
          <a:p>
            <a:pPr indent="0" marL="0">
              <a:buNone/>
            </a:pPr>
            <a:r>
              <a:rPr lang="en-US" sz="1700" b="1" dirty="0">
                <a:solidFill>
                  <a:srgbClr val="14283C"/>
                </a:solidFill>
                <a:latin typeface="Arial" pitchFamily="34" charset="0"/>
                <a:ea typeface="Arial" pitchFamily="34" charset="-122"/>
                <a:cs typeface="Arial" pitchFamily="34" charset="-120"/>
              </a:rPr>
              <a:t>SVC-05 falls, third to fifth</a:t>
            </a:r>
            <a:endParaRPr lang="en-US" sz="1700" dirty="0"/>
          </a:p>
        </p:txBody>
      </p:sp>
      <p:sp>
        <p:nvSpPr>
          <p:cNvPr id="10" name="Text 8"/>
          <p:cNvSpPr/>
          <p:nvPr/>
        </p:nvSpPr>
        <p:spPr>
          <a:xfrm>
            <a:off x="6446520" y="3017520"/>
            <a:ext cx="4800600" cy="1554480"/>
          </a:xfrm>
          <a:prstGeom prst="rect">
            <a:avLst/>
          </a:prstGeom>
          <a:noFill/>
          <a:ln/>
        </p:spPr>
        <p:txBody>
          <a:bodyPr wrap="square" lIns="0" tIns="0" rIns="0" bIns="0" rtlCol="0" anchor="t"/>
          <a:lstStyle/>
          <a:p>
            <a:pPr indent="0" marL="0">
              <a:lnSpc>
                <a:spcPct val="115000"/>
              </a:lnSpc>
              <a:buNone/>
            </a:pPr>
            <a:r>
              <a:rPr lang="en-US" sz="1300" dirty="0">
                <a:solidFill>
                  <a:srgbClr val="2A3F55"/>
                </a:solidFill>
                <a:latin typeface="Arial" pitchFamily="34" charset="0"/>
                <a:ea typeface="Arial" pitchFamily="34" charset="-122"/>
                <a:cs typeface="Arial" pitchFamily="34" charset="-120"/>
              </a:rPr>
              <a:t>High incident volume (171/yr) offset by full patch recency and zero unsupported components: noisy, but structurally sound.</a:t>
            </a:r>
            <a:endParaRPr lang="en-US" sz="1300" dirty="0"/>
          </a:p>
        </p:txBody>
      </p:sp>
      <p:sp>
        <p:nvSpPr>
          <p:cNvPr id="11" name="Shape 9"/>
          <p:cNvSpPr/>
          <p:nvPr/>
        </p:nvSpPr>
        <p:spPr>
          <a:xfrm>
            <a:off x="685800" y="5120640"/>
            <a:ext cx="10789920" cy="713232"/>
          </a:xfrm>
          <a:prstGeom prst="rect">
            <a:avLst/>
          </a:prstGeom>
          <a:solidFill>
            <a:srgbClr val="F2F7F6"/>
          </a:solidFill>
          <a:ln/>
        </p:spPr>
      </p:sp>
      <p:sp>
        <p:nvSpPr>
          <p:cNvPr id="12" name="Text 10"/>
          <p:cNvSpPr/>
          <p:nvPr/>
        </p:nvSpPr>
        <p:spPr>
          <a:xfrm>
            <a:off x="886968" y="519379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3" name="Text 11"/>
          <p:cNvSpPr/>
          <p:nvPr/>
        </p:nvSpPr>
        <p:spPr>
          <a:xfrm>
            <a:off x="886968" y="539496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The divergence is not noise; it concentrates exactly where multi-criteria measurement should add information over a single signal (Albarak &amp; Bahsoon, 2022).</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CONVERGENT VALIDITY · SECTION 5.6</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Where the methods disagree, and why that is a finding</a:t>
            </a:r>
            <a:endParaRPr lang="en-US" sz="3000" dirty="0"/>
          </a:p>
        </p:txBody>
      </p:sp>
      <p:sp>
        <p:nvSpPr>
          <p:cNvPr id="4" name="Text 2"/>
          <p:cNvSpPr/>
          <p:nvPr/>
        </p:nvSpPr>
        <p:spPr>
          <a:xfrm>
            <a:off x="685800" y="1783080"/>
            <a:ext cx="10789920" cy="411480"/>
          </a:xfrm>
          <a:prstGeom prst="rect">
            <a:avLst/>
          </a:prstGeom>
          <a:noFill/>
          <a:ln/>
        </p:spPr>
        <p:txBody>
          <a:bodyPr wrap="square" lIns="0" tIns="0" rIns="0" bIns="0" rtlCol="0" anchor="ctr"/>
          <a:lstStyle/>
          <a:p>
            <a:pPr indent="0" marL="0">
              <a:buNone/>
            </a:pPr>
            <a:r>
              <a:rPr lang="en-US" sz="1450" dirty="0">
                <a:solidFill>
                  <a:srgbClr val="14283C"/>
                </a:solidFill>
                <a:latin typeface="Arial" pitchFamily="34" charset="0"/>
                <a:ea typeface="Arial" pitchFamily="34" charset="-122"/>
                <a:cs typeface="Arial" pitchFamily="34" charset="-120"/>
              </a:rPr>
              <a:t>In 2025 all methods agree exactly under equal weights, with SVC-01 first. In 2024 they agree on the top pair but </a:t>
            </a:r>
            <a:pPr indent="0" marL="0">
              <a:buNone/>
            </a:pPr>
            <a:r>
              <a:rPr lang="en-US" sz="1450" b="1" dirty="0">
                <a:solidFill>
                  <a:srgbClr val="D98E1F"/>
                </a:solidFill>
                <a:latin typeface="Arial" pitchFamily="34" charset="0"/>
                <a:ea typeface="Arial" pitchFamily="34" charset="-122"/>
                <a:cs typeface="Arial" pitchFamily="34" charset="-120"/>
              </a:rPr>
              <a:t>split on its order.</a:t>
            </a:r>
            <a:endParaRPr lang="en-US" sz="1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7589520" cy="914400"/>
        </p:xfrm>
        <a:graphic>
          <a:graphicData uri="http://schemas.openxmlformats.org/drawingml/2006/table">
            <a:tbl>
              <a:tblPr/>
              <a:tblGrid>
                <a:gridCol w="2286000"/>
                <a:gridCol w="2651760"/>
                <a:gridCol w="2651760"/>
              </a:tblGrid>
              <a:tr h="384048">
                <a:tc>
                  <a:txBody>
                    <a:bodyPr/>
                    <a:lstStyle/>
                    <a:p>
                      <a:pPr indent="0" marL="0">
                        <a:buNone/>
                      </a:pPr>
                      <a:r>
                        <a:rPr lang="en-US" sz="1250" b="1" dirty="0">
                          <a:solidFill>
                            <a:srgbClr val="14283C"/>
                          </a:solidFill>
                          <a:latin typeface="Arial" pitchFamily="34" charset="0"/>
                          <a:ea typeface="Arial" pitchFamily="34" charset="-122"/>
                          <a:cs typeface="Arial" pitchFamily="34" charset="-120"/>
                        </a:rPr>
                        <a:t>2024, equal weights</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b="1" dirty="0">
                          <a:solidFill>
                            <a:srgbClr val="14283C"/>
                          </a:solidFill>
                          <a:latin typeface="Arial" pitchFamily="34" charset="0"/>
                          <a:ea typeface="Arial" pitchFamily="34" charset="-122"/>
                          <a:cs typeface="Arial" pitchFamily="34" charset="-120"/>
                        </a:rPr>
                        <a:t>TOPSIS classic</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b="1" dirty="0">
                          <a:solidFill>
                            <a:srgbClr val="14283C"/>
                          </a:solidFill>
                          <a:latin typeface="Arial" pitchFamily="34" charset="0"/>
                          <a:ea typeface="Arial" pitchFamily="34" charset="-122"/>
                          <a:cs typeface="Arial" pitchFamily="34" charset="-120"/>
                        </a:rPr>
                        <a:t>SAW · VIKOR</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r>
              <a:tr h="384048">
                <a:tc>
                  <a:txBody>
                    <a:bodyPr/>
                    <a:lstStyle/>
                    <a:p>
                      <a:pPr indent="0" marL="0">
                        <a:buNone/>
                      </a:pPr>
                      <a:r>
                        <a:rPr lang="en-US" sz="1250" dirty="0">
                          <a:solidFill>
                            <a:srgbClr val="14283C"/>
                          </a:solidFill>
                          <a:latin typeface="Arial" pitchFamily="34" charset="0"/>
                          <a:ea typeface="Arial" pitchFamily="34" charset="-122"/>
                          <a:cs typeface="Arial" pitchFamily="34" charset="-120"/>
                        </a:rPr>
                        <a:t>Top-ranked service</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SVC-04</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SVC-06</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r>
              <a:tr h="384048">
                <a:tc>
                  <a:txBody>
                    <a:bodyPr/>
                    <a:lstStyle/>
                    <a:p>
                      <a:pPr indent="0" marL="0">
                        <a:buNone/>
                      </a:pPr>
                      <a:r>
                        <a:rPr lang="en-US" sz="1250" dirty="0">
                          <a:solidFill>
                            <a:srgbClr val="14283C"/>
                          </a:solidFill>
                          <a:latin typeface="Arial" pitchFamily="34" charset="0"/>
                          <a:ea typeface="Arial" pitchFamily="34" charset="-122"/>
                          <a:cs typeface="Arial" pitchFamily="34" charset="-120"/>
                        </a:rPr>
                        <a:t>High-priority pair</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SVC-04, SVC-06 (both agree)</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SVC-06, SVC-04</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r>
              <a:tr h="384048">
                <a:tc>
                  <a:txBody>
                    <a:bodyPr/>
                    <a:lstStyle/>
                    <a:p>
                      <a:pPr indent="0" marL="0">
                        <a:buNone/>
                      </a:pPr>
                      <a:r>
                        <a:rPr lang="en-US" sz="1250" dirty="0">
                          <a:solidFill>
                            <a:srgbClr val="14283C"/>
                          </a:solidFill>
                          <a:latin typeface="Arial" pitchFamily="34" charset="0"/>
                          <a:ea typeface="Arial" pitchFamily="34" charset="-122"/>
                          <a:cs typeface="Arial" pitchFamily="34" charset="-120"/>
                        </a:rPr>
                        <a:t>Next pair (near-tie)</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SVC-02, SVC-01 (ΔC* = 0.005)</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SVC-02, SVC-01</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r>
              <a:tr h="384048">
                <a:tc>
                  <a:txBody>
                    <a:bodyPr/>
                    <a:lstStyle/>
                    <a:p>
                      <a:pPr indent="0" marL="0">
                        <a:buNone/>
                      </a:pPr>
                      <a:r>
                        <a:rPr lang="en-US" sz="1250" dirty="0">
                          <a:solidFill>
                            <a:srgbClr val="14283C"/>
                          </a:solidFill>
                          <a:latin typeface="Arial" pitchFamily="34" charset="0"/>
                          <a:ea typeface="Arial" pitchFamily="34" charset="-122"/>
                          <a:cs typeface="Arial" pitchFamily="34" charset="-120"/>
                        </a:rPr>
                        <a:t>Classic vs SAW / VIKOR</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r>
                        <a:rPr lang="en-US" sz="1250" dirty="0">
                          <a:solidFill>
                            <a:srgbClr val="14283C"/>
                          </a:solidFill>
                          <a:latin typeface="Arial" pitchFamily="34" charset="0"/>
                          <a:ea typeface="Arial" pitchFamily="34" charset="-122"/>
                          <a:cs typeface="Arial" pitchFamily="34" charset="-120"/>
                        </a:rPr>
                        <a:t>τ = 0.600 / 0.867</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c>
                  <a:txBody>
                    <a:bodyPr/>
                    <a:lstStyle/>
                    <a:p>
                      <a:pPr indent="0" marL="0">
                        <a:buNone/>
                      </a:pP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8DFE5"/>
                      </a:solidFill>
                      <a:prstDash val="solid"/>
                      <a:round/>
                      <a:headEnd type="none" w="med" len="med"/>
                      <a:tailEnd type="none" w="med" len="med"/>
                    </a:lnB>
                  </a:tcPr>
                </a:tc>
              </a:tr>
            </a:tbl>
          </a:graphicData>
        </a:graphic>
      </p:graphicFrame>
      <p:sp>
        <p:nvSpPr>
          <p:cNvPr id="6" name="Shape 3"/>
          <p:cNvSpPr/>
          <p:nvPr/>
        </p:nvSpPr>
        <p:spPr>
          <a:xfrm>
            <a:off x="8549640" y="2377440"/>
            <a:ext cx="2926080" cy="2377440"/>
          </a:xfrm>
          <a:prstGeom prst="rect">
            <a:avLst/>
          </a:prstGeom>
          <a:solidFill>
            <a:srgbClr val="FBF4E8"/>
          </a:solidFill>
          <a:ln/>
        </p:spPr>
      </p:sp>
      <p:sp>
        <p:nvSpPr>
          <p:cNvPr id="7" name="Text 4"/>
          <p:cNvSpPr/>
          <p:nvPr/>
        </p:nvSpPr>
        <p:spPr>
          <a:xfrm>
            <a:off x="8732520" y="2514600"/>
            <a:ext cx="2560320" cy="228600"/>
          </a:xfrm>
          <a:prstGeom prst="rect">
            <a:avLst/>
          </a:prstGeom>
          <a:noFill/>
          <a:ln/>
        </p:spPr>
        <p:txBody>
          <a:bodyPr wrap="square" lIns="0" tIns="0" rIns="0" bIns="0" rtlCol="0" anchor="ctr"/>
          <a:lstStyle/>
          <a:p>
            <a:pPr indent="0" marL="0">
              <a:buNone/>
            </a:pPr>
            <a:r>
              <a:rPr lang="en-US" sz="1000" b="1" spc="200" kern="0" dirty="0">
                <a:solidFill>
                  <a:srgbClr val="D98E1F"/>
                </a:solidFill>
                <a:latin typeface="Courier New" pitchFamily="34" charset="0"/>
                <a:ea typeface="Courier New" pitchFamily="34" charset="-122"/>
                <a:cs typeface="Courier New" pitchFamily="34" charset="-120"/>
              </a:rPr>
              <a:t>MECHANISM</a:t>
            </a:r>
            <a:endParaRPr lang="en-US" sz="1000" dirty="0"/>
          </a:p>
        </p:txBody>
      </p:sp>
      <p:sp>
        <p:nvSpPr>
          <p:cNvPr id="8" name="Text 5"/>
          <p:cNvSpPr/>
          <p:nvPr/>
        </p:nvSpPr>
        <p:spPr>
          <a:xfrm>
            <a:off x="8732520" y="2788920"/>
            <a:ext cx="2606040" cy="1874520"/>
          </a:xfrm>
          <a:prstGeom prst="rect">
            <a:avLst/>
          </a:prstGeom>
          <a:noFill/>
          <a:ln/>
        </p:spPr>
        <p:txBody>
          <a:bodyPr wrap="square" lIns="0" tIns="0" rIns="0" bIns="0" rtlCol="0" anchor="t"/>
          <a:lstStyle/>
          <a:p>
            <a:pPr indent="0" marL="0">
              <a:lnSpc>
                <a:spcPct val="112000"/>
              </a:lnSpc>
              <a:buNone/>
            </a:pPr>
            <a:r>
              <a:rPr lang="en-US" sz="1050" dirty="0">
                <a:solidFill>
                  <a:srgbClr val="2A3F55"/>
                </a:solidFill>
                <a:latin typeface="Arial" pitchFamily="34" charset="0"/>
                <a:ea typeface="Arial" pitchFamily="34" charset="-122"/>
                <a:cs typeface="Arial" pitchFamily="34" charset="-120"/>
              </a:rPr>
              <a:t>All four scorers name SVC-04 and SVC-06 as the high-priority pair. TOPSIS leads with SVC-04, whose 574 incidents vector normalisation preserves; SAW and VIKOR lead with SVC-06, whose worst-in-portfolio CFR their linear and regret terms weight more heavily.</a:t>
            </a:r>
            <a:endParaRPr lang="en-US" sz="1050" dirty="0"/>
          </a:p>
        </p:txBody>
      </p:sp>
      <p:sp>
        <p:nvSpPr>
          <p:cNvPr id="9" name="Shape 6"/>
          <p:cNvSpPr/>
          <p:nvPr/>
        </p:nvSpPr>
        <p:spPr>
          <a:xfrm>
            <a:off x="685800" y="5074920"/>
            <a:ext cx="10789920" cy="713232"/>
          </a:xfrm>
          <a:prstGeom prst="rect">
            <a:avLst/>
          </a:prstGeom>
          <a:solidFill>
            <a:srgbClr val="F2F7F6"/>
          </a:solidFill>
          <a:ln/>
        </p:spPr>
      </p:sp>
      <p:sp>
        <p:nvSpPr>
          <p:cNvPr id="10" name="Text 7"/>
          <p:cNvSpPr/>
          <p:nvPr/>
        </p:nvSpPr>
        <p:spPr>
          <a:xfrm>
            <a:off x="886968" y="514807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1" name="Text 8"/>
          <p:cNvSpPr/>
          <p:nvPr/>
        </p:nvSpPr>
        <p:spPr>
          <a:xfrm>
            <a:off x="886968" y="534924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Every method agrees SVC-04 and SVC-06 are the two highest-priority services. They differ only on which leads. The disagreement localises where a ranking should not be over-read; by 2025 every method agrees on SVC-01.</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METHODOLOGICAL CONTRIBUTION</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Division of labour, not a winner</a:t>
            </a:r>
            <a:endParaRPr lang="en-US" sz="3000" dirty="0"/>
          </a:p>
        </p:txBody>
      </p:sp>
      <p:sp>
        <p:nvSpPr>
          <p:cNvPr id="4" name="Text 2"/>
          <p:cNvSpPr/>
          <p:nvPr/>
        </p:nvSpPr>
        <p:spPr>
          <a:xfrm>
            <a:off x="685800" y="1783080"/>
            <a:ext cx="5303520" cy="320040"/>
          </a:xfrm>
          <a:prstGeom prst="rect">
            <a:avLst/>
          </a:prstGeom>
          <a:noFill/>
          <a:ln/>
        </p:spPr>
        <p:txBody>
          <a:bodyPr wrap="square" lIns="0" tIns="0" rIns="0" bIns="0" rtlCol="0" anchor="ctr"/>
          <a:lstStyle/>
          <a:p>
            <a:pPr indent="0" marL="0">
              <a:buNone/>
            </a:pPr>
            <a:r>
              <a:rPr lang="en-US" sz="1600" b="1" dirty="0">
                <a:solidFill>
                  <a:srgbClr val="14283C"/>
                </a:solidFill>
                <a:latin typeface="Arial" pitchFamily="34" charset="0"/>
                <a:ea typeface="Arial" pitchFamily="34" charset="-122"/>
                <a:cs typeface="Arial" pitchFamily="34" charset="-120"/>
              </a:rPr>
              <a:t>Standard TOPSIS + SAW / VIKOR</a:t>
            </a:r>
            <a:endParaRPr lang="en-US" sz="1600" dirty="0"/>
          </a:p>
        </p:txBody>
      </p:sp>
      <p:sp>
        <p:nvSpPr>
          <p:cNvPr id="5" name="Text 3"/>
          <p:cNvSpPr/>
          <p:nvPr/>
        </p:nvSpPr>
        <p:spPr>
          <a:xfrm>
            <a:off x="685800" y="2240280"/>
            <a:ext cx="5212080" cy="237744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Primary prioritisation signal</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Triangulation, not a single number: methods agree on the high-priority pair and split only on its internal order</a:t>
            </a:r>
            <a:endParaRPr lang="en-US" sz="1350" dirty="0"/>
          </a:p>
        </p:txBody>
      </p:sp>
      <p:sp>
        <p:nvSpPr>
          <p:cNvPr id="6" name="Text 4"/>
          <p:cNvSpPr/>
          <p:nvPr/>
        </p:nvSpPr>
        <p:spPr>
          <a:xfrm>
            <a:off x="6583680" y="1783080"/>
            <a:ext cx="4846320" cy="320040"/>
          </a:xfrm>
          <a:prstGeom prst="rect">
            <a:avLst/>
          </a:prstGeom>
          <a:noFill/>
          <a:ln/>
        </p:spPr>
        <p:txBody>
          <a:bodyPr wrap="square" lIns="0" tIns="0" rIns="0" bIns="0" rtlCol="0" anchor="ctr"/>
          <a:lstStyle/>
          <a:p>
            <a:pPr indent="0" marL="0">
              <a:buNone/>
            </a:pPr>
            <a:r>
              <a:rPr lang="en-US" sz="1600" b="1" dirty="0">
                <a:solidFill>
                  <a:srgbClr val="14283C"/>
                </a:solidFill>
                <a:latin typeface="Arial" pitchFamily="34" charset="0"/>
                <a:ea typeface="Arial" pitchFamily="34" charset="-122"/>
                <a:cs typeface="Arial" pitchFamily="34" charset="-120"/>
              </a:rPr>
              <a:t>Absolute-mode TOPSIS</a:t>
            </a:r>
            <a:endParaRPr lang="en-US" sz="1600" dirty="0"/>
          </a:p>
        </p:txBody>
      </p:sp>
      <p:sp>
        <p:nvSpPr>
          <p:cNvPr id="7" name="Text 5"/>
          <p:cNvSpPr/>
          <p:nvPr/>
        </p:nvSpPr>
        <p:spPr>
          <a:xfrm>
            <a:off x="6583680" y="2240280"/>
            <a:ext cx="4846320" cy="292608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Rank-reversal free by construction: every leave-one-out removal preserved, where the classic top rank flips (García-Cascales &amp; Lamata 2012; Yang 2020)</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Scores comparable across observation periods, uniquely among the methods used</a:t>
            </a:r>
            <a:endParaRPr lang="en-US" sz="1350" dirty="0"/>
          </a:p>
          <a:p>
            <a:pPr marL="177800" indent="-177800">
              <a:lnSpc>
                <a:spcPct val="112000"/>
              </a:lnSpc>
              <a:spcAft>
                <a:spcPts val="1000"/>
              </a:spcAft>
              <a:buSzPct val="100000"/>
              <a:buChar char="•"/>
            </a:pPr>
            <a:r>
              <a:rPr lang="en-US" sz="1350" dirty="0">
                <a:solidFill>
                  <a:srgbClr val="14283C"/>
                </a:solidFill>
                <a:latin typeface="Arial" pitchFamily="34" charset="0"/>
                <a:ea typeface="Arial" pitchFamily="34" charset="-122"/>
                <a:cs typeface="Arial" pitchFamily="34" charset="-120"/>
              </a:rPr>
              <a:t>Complementary perspective; also powers the Monte Carlo cleanly</a:t>
            </a:r>
            <a:endParaRPr lang="en-US" sz="1350" dirty="0"/>
          </a:p>
        </p:txBody>
      </p:sp>
      <p:sp>
        <p:nvSpPr>
          <p:cNvPr id="8" name="Shape 6"/>
          <p:cNvSpPr/>
          <p:nvPr/>
        </p:nvSpPr>
        <p:spPr>
          <a:xfrm>
            <a:off x="685800" y="5532120"/>
            <a:ext cx="10789920" cy="713232"/>
          </a:xfrm>
          <a:prstGeom prst="rect">
            <a:avLst/>
          </a:prstGeom>
          <a:solidFill>
            <a:srgbClr val="F2F7F6"/>
          </a:solidFill>
          <a:ln/>
        </p:spPr>
      </p:sp>
      <p:sp>
        <p:nvSpPr>
          <p:cNvPr id="9" name="Text 7"/>
          <p:cNvSpPr/>
          <p:nvPr/>
        </p:nvSpPr>
        <p:spPr>
          <a:xfrm>
            <a:off x="886968" y="560527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0" name="Text 8"/>
          <p:cNvSpPr/>
          <p:nvPr/>
        </p:nvSpPr>
        <p:spPr>
          <a:xfrm>
            <a:off x="886968" y="580644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The single top rank is contested within the SVC-01, SVC-04, SVC-06 cluster across the weight space: a compensability judgement the framework informs but does not settle, and saying so is a feature.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ANTICIPATED QUESTIONS · 1 OF 2</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Anticipated questions</a:t>
            </a:r>
            <a:endParaRPr lang="en-US" sz="3000" dirty="0"/>
          </a:p>
        </p:txBody>
      </p:sp>
      <p:sp>
        <p:nvSpPr>
          <p:cNvPr id="4" name="Text 2"/>
          <p:cNvSpPr/>
          <p:nvPr/>
        </p:nvSpPr>
        <p:spPr>
          <a:xfrm>
            <a:off x="685800" y="1874520"/>
            <a:ext cx="10789920" cy="347472"/>
          </a:xfrm>
          <a:prstGeom prst="rect">
            <a:avLst/>
          </a:prstGeom>
          <a:noFill/>
          <a:ln/>
        </p:spPr>
        <p:txBody>
          <a:bodyPr wrap="square" lIns="0" tIns="0" rIns="0" bIns="0" rtlCol="0" anchor="ctr"/>
          <a:lstStyle/>
          <a:p>
            <a:pPr indent="0" marL="0">
              <a:buNone/>
            </a:pPr>
            <a:r>
              <a:rPr lang="en-US" sz="1500" b="1" dirty="0">
                <a:solidFill>
                  <a:srgbClr val="D98E1F"/>
                </a:solidFill>
                <a:latin typeface="Courier New" pitchFamily="34" charset="0"/>
                <a:ea typeface="Courier New" pitchFamily="34" charset="-122"/>
                <a:cs typeface="Courier New" pitchFamily="34" charset="-120"/>
              </a:rPr>
              <a:t>Q  </a:t>
            </a:r>
            <a:pPr indent="0" marL="0">
              <a:buNone/>
            </a:pPr>
            <a:r>
              <a:rPr lang="en-US" sz="1500" b="1" dirty="0">
                <a:solidFill>
                  <a:srgbClr val="14283C"/>
                </a:solidFill>
                <a:latin typeface="Arial" pitchFamily="34" charset="0"/>
                <a:ea typeface="Arial" pitchFamily="34" charset="-122"/>
                <a:cs typeface="Arial" pitchFamily="34" charset="-120"/>
              </a:rPr>
              <a:t>Only six services: what can that prove?</a:t>
            </a:r>
            <a:endParaRPr lang="en-US" sz="1500" dirty="0"/>
          </a:p>
        </p:txBody>
      </p:sp>
      <p:sp>
        <p:nvSpPr>
          <p:cNvPr id="5" name="Text 3"/>
          <p:cNvSpPr/>
          <p:nvPr/>
        </p:nvSpPr>
        <p:spPr>
          <a:xfrm>
            <a:off x="1188720" y="2258568"/>
            <a:ext cx="10149840" cy="731520"/>
          </a:xfrm>
          <a:prstGeom prst="rect">
            <a:avLst/>
          </a:prstGeom>
          <a:noFill/>
          <a:ln/>
        </p:spPr>
        <p:txBody>
          <a:bodyPr wrap="square" lIns="0" tIns="0" rIns="0" bIns="0" rtlCol="0" anchor="t"/>
          <a:lstStyle/>
          <a:p>
            <a:pPr indent="0" marL="0">
              <a:lnSpc>
                <a:spcPct val="112000"/>
              </a:lnSpc>
              <a:buNone/>
            </a:pPr>
            <a:r>
              <a:rPr lang="en-US" sz="1250" dirty="0">
                <a:solidFill>
                  <a:srgbClr val="2A3F55"/>
                </a:solidFill>
                <a:latin typeface="Arial" pitchFamily="34" charset="0"/>
                <a:ea typeface="Arial" pitchFamily="34" charset="-122"/>
                <a:cs typeface="Arial" pitchFamily="34" charset="-120"/>
              </a:rPr>
              <a:t>The contribution is the instrument and evaluation logic, not a portfolio ranking. Selection was by data completeness; p-values are exact over all 720 permutations and read as effect sizes; portfolio-wide deployment is stated future work.</a:t>
            </a:r>
            <a:endParaRPr lang="en-US" sz="1250" dirty="0"/>
          </a:p>
        </p:txBody>
      </p:sp>
      <p:sp>
        <p:nvSpPr>
          <p:cNvPr id="6" name="Text 4"/>
          <p:cNvSpPr/>
          <p:nvPr/>
        </p:nvSpPr>
        <p:spPr>
          <a:xfrm>
            <a:off x="685800" y="3191256"/>
            <a:ext cx="10789920" cy="347472"/>
          </a:xfrm>
          <a:prstGeom prst="rect">
            <a:avLst/>
          </a:prstGeom>
          <a:noFill/>
          <a:ln/>
        </p:spPr>
        <p:txBody>
          <a:bodyPr wrap="square" lIns="0" tIns="0" rIns="0" bIns="0" rtlCol="0" anchor="ctr"/>
          <a:lstStyle/>
          <a:p>
            <a:pPr indent="0" marL="0">
              <a:buNone/>
            </a:pPr>
            <a:r>
              <a:rPr lang="en-US" sz="1500" b="1" dirty="0">
                <a:solidFill>
                  <a:srgbClr val="D98E1F"/>
                </a:solidFill>
                <a:latin typeface="Courier New" pitchFamily="34" charset="0"/>
                <a:ea typeface="Courier New" pitchFamily="34" charset="-122"/>
                <a:cs typeface="Courier New" pitchFamily="34" charset="-120"/>
              </a:rPr>
              <a:t>Q  </a:t>
            </a:r>
            <a:pPr indent="0" marL="0">
              <a:buNone/>
            </a:pPr>
            <a:r>
              <a:rPr lang="en-US" sz="1500" b="1" dirty="0">
                <a:solidFill>
                  <a:srgbClr val="14283C"/>
                </a:solidFill>
                <a:latin typeface="Arial" pitchFamily="34" charset="0"/>
                <a:ea typeface="Arial" pitchFamily="34" charset="-122"/>
                <a:cs typeface="Arial" pitchFamily="34" charset="-120"/>
              </a:rPr>
              <a:t>You built and evaluated on the same data. Circular?</a:t>
            </a:r>
            <a:endParaRPr lang="en-US" sz="1500" dirty="0"/>
          </a:p>
        </p:txBody>
      </p:sp>
      <p:sp>
        <p:nvSpPr>
          <p:cNvPr id="7" name="Text 5"/>
          <p:cNvSpPr/>
          <p:nvPr/>
        </p:nvSpPr>
        <p:spPr>
          <a:xfrm>
            <a:off x="1188720" y="3575304"/>
            <a:ext cx="10149840" cy="731520"/>
          </a:xfrm>
          <a:prstGeom prst="rect">
            <a:avLst/>
          </a:prstGeom>
          <a:noFill/>
          <a:ln/>
        </p:spPr>
        <p:txBody>
          <a:bodyPr wrap="square" lIns="0" tIns="0" rIns="0" bIns="0" rtlCol="0" anchor="t"/>
          <a:lstStyle/>
          <a:p>
            <a:pPr indent="0" marL="0">
              <a:lnSpc>
                <a:spcPct val="112000"/>
              </a:lnSpc>
              <a:buNone/>
            </a:pPr>
            <a:r>
              <a:rPr lang="en-US" sz="1250" dirty="0">
                <a:solidFill>
                  <a:srgbClr val="2A3F55"/>
                </a:solidFill>
                <a:latin typeface="Arial" pitchFamily="34" charset="0"/>
                <a:ea typeface="Arial" pitchFamily="34" charset="-122"/>
                <a:cs typeface="Arial" pitchFamily="34" charset="-120"/>
              </a:rPr>
              <a:t>Declared openly: the evaluation establishes robustness, method-independence and discriminant value, not criterion validity, because no independent measure of non-code debt exists. External validation is the primary future-work avenue.</a:t>
            </a:r>
            <a:endParaRPr lang="en-US" sz="1250" dirty="0"/>
          </a:p>
        </p:txBody>
      </p:sp>
      <p:sp>
        <p:nvSpPr>
          <p:cNvPr id="8" name="Text 6"/>
          <p:cNvSpPr/>
          <p:nvPr/>
        </p:nvSpPr>
        <p:spPr>
          <a:xfrm>
            <a:off x="685800" y="4507992"/>
            <a:ext cx="10789920" cy="347472"/>
          </a:xfrm>
          <a:prstGeom prst="rect">
            <a:avLst/>
          </a:prstGeom>
          <a:noFill/>
          <a:ln/>
        </p:spPr>
        <p:txBody>
          <a:bodyPr wrap="square" lIns="0" tIns="0" rIns="0" bIns="0" rtlCol="0" anchor="ctr"/>
          <a:lstStyle/>
          <a:p>
            <a:pPr indent="0" marL="0">
              <a:buNone/>
            </a:pPr>
            <a:r>
              <a:rPr lang="en-US" sz="1500" b="1" dirty="0">
                <a:solidFill>
                  <a:srgbClr val="D98E1F"/>
                </a:solidFill>
                <a:latin typeface="Courier New" pitchFamily="34" charset="0"/>
                <a:ea typeface="Courier New" pitchFamily="34" charset="-122"/>
                <a:cs typeface="Courier New" pitchFamily="34" charset="-120"/>
              </a:rPr>
              <a:t>Q  </a:t>
            </a:r>
            <a:pPr indent="0" marL="0">
              <a:buNone/>
            </a:pPr>
            <a:r>
              <a:rPr lang="en-US" sz="1500" b="1" dirty="0">
                <a:solidFill>
                  <a:srgbClr val="14283C"/>
                </a:solidFill>
                <a:latin typeface="Arial" pitchFamily="34" charset="0"/>
                <a:ea typeface="Arial" pitchFamily="34" charset="-122"/>
                <a:cs typeface="Arial" pitchFamily="34" charset="-120"/>
              </a:rPr>
              <a:t>Are DORA metrics really debt proxies?</a:t>
            </a:r>
            <a:endParaRPr lang="en-US" sz="1500" dirty="0"/>
          </a:p>
        </p:txBody>
      </p:sp>
      <p:sp>
        <p:nvSpPr>
          <p:cNvPr id="9" name="Text 7"/>
          <p:cNvSpPr/>
          <p:nvPr/>
        </p:nvSpPr>
        <p:spPr>
          <a:xfrm>
            <a:off x="1188720" y="4892040"/>
            <a:ext cx="10149840" cy="731520"/>
          </a:xfrm>
          <a:prstGeom prst="rect">
            <a:avLst/>
          </a:prstGeom>
          <a:noFill/>
          <a:ln/>
        </p:spPr>
        <p:txBody>
          <a:bodyPr wrap="square" lIns="0" tIns="0" rIns="0" bIns="0" rtlCol="0" anchor="t"/>
          <a:lstStyle/>
          <a:p>
            <a:pPr indent="0" marL="0">
              <a:lnSpc>
                <a:spcPct val="112000"/>
              </a:lnSpc>
              <a:buNone/>
            </a:pPr>
            <a:r>
              <a:rPr lang="en-US" sz="1250" dirty="0">
                <a:solidFill>
                  <a:srgbClr val="2A3F55"/>
                </a:solidFill>
                <a:latin typeface="Arial" pitchFamily="34" charset="0"/>
                <a:ea typeface="Arial" pitchFamily="34" charset="-122"/>
                <a:cs typeface="Arial" pitchFamily="34" charset="-120"/>
              </a:rPr>
              <a:t>Treated as the central testable hypothesis, never a premise. Forsgren et al. validate the metrics; Nord et al. ground the diagnostic reading; the rankings match literature-predicted profiles. Longitudinal tracking would move it from plausible to evidenced.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ANTICIPATED QUESTIONS · 2 OF 2</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Anticipated questions, continued</a:t>
            </a:r>
            <a:endParaRPr lang="en-US" sz="3000" dirty="0"/>
          </a:p>
        </p:txBody>
      </p:sp>
      <p:sp>
        <p:nvSpPr>
          <p:cNvPr id="4" name="Text 2"/>
          <p:cNvSpPr/>
          <p:nvPr/>
        </p:nvSpPr>
        <p:spPr>
          <a:xfrm>
            <a:off x="685800" y="1874520"/>
            <a:ext cx="10789920" cy="347472"/>
          </a:xfrm>
          <a:prstGeom prst="rect">
            <a:avLst/>
          </a:prstGeom>
          <a:noFill/>
          <a:ln/>
        </p:spPr>
        <p:txBody>
          <a:bodyPr wrap="square" lIns="0" tIns="0" rIns="0" bIns="0" rtlCol="0" anchor="ctr"/>
          <a:lstStyle/>
          <a:p>
            <a:pPr indent="0" marL="0">
              <a:buNone/>
            </a:pPr>
            <a:r>
              <a:rPr lang="en-US" sz="1500" b="1" dirty="0">
                <a:solidFill>
                  <a:srgbClr val="D98E1F"/>
                </a:solidFill>
                <a:latin typeface="Courier New" pitchFamily="34" charset="0"/>
                <a:ea typeface="Courier New" pitchFamily="34" charset="-122"/>
                <a:cs typeface="Courier New" pitchFamily="34" charset="-120"/>
              </a:rPr>
              <a:t>Q  </a:t>
            </a:r>
            <a:pPr indent="0" marL="0">
              <a:buNone/>
            </a:pPr>
            <a:r>
              <a:rPr lang="en-US" sz="1500" b="1" dirty="0">
                <a:solidFill>
                  <a:srgbClr val="14283C"/>
                </a:solidFill>
                <a:latin typeface="Arial" pitchFamily="34" charset="0"/>
                <a:ea typeface="Arial" pitchFamily="34" charset="-122"/>
                <a:cs typeface="Arial" pitchFamily="34" charset="-120"/>
              </a:rPr>
              <a:t>Aren't the differential weights arbitrary?</a:t>
            </a:r>
            <a:endParaRPr lang="en-US" sz="1500" dirty="0"/>
          </a:p>
        </p:txBody>
      </p:sp>
      <p:sp>
        <p:nvSpPr>
          <p:cNvPr id="5" name="Text 3"/>
          <p:cNvSpPr/>
          <p:nvPr/>
        </p:nvSpPr>
        <p:spPr>
          <a:xfrm>
            <a:off x="1188720" y="2258568"/>
            <a:ext cx="10149840" cy="685800"/>
          </a:xfrm>
          <a:prstGeom prst="rect">
            <a:avLst/>
          </a:prstGeom>
          <a:noFill/>
          <a:ln/>
        </p:spPr>
        <p:txBody>
          <a:bodyPr wrap="square" lIns="0" tIns="0" rIns="0" bIns="0" rtlCol="0" anchor="t"/>
          <a:lstStyle/>
          <a:p>
            <a:pPr indent="0" marL="0">
              <a:lnSpc>
                <a:spcPct val="112000"/>
              </a:lnSpc>
              <a:buNone/>
            </a:pPr>
            <a:r>
              <a:rPr lang="en-US" sz="1250" dirty="0">
                <a:solidFill>
                  <a:srgbClr val="2A3F55"/>
                </a:solidFill>
                <a:latin typeface="Arial" pitchFamily="34" charset="0"/>
                <a:ea typeface="Arial" pitchFamily="34" charset="-122"/>
                <a:cs typeface="Arial" pitchFamily="34" charset="-120"/>
              </a:rPr>
              <a:t>Yes, and they are declared as a practitioner assumption. That is why the evaluation does not depend on them: across 20,000 Dirichlet-sampled weightings the lowest priority holds in 98.1% of draws and rank 1 stays inside the same three-service cluster in all of them.</a:t>
            </a:r>
            <a:endParaRPr lang="en-US" sz="1250" dirty="0"/>
          </a:p>
        </p:txBody>
      </p:sp>
      <p:sp>
        <p:nvSpPr>
          <p:cNvPr id="6" name="Text 4"/>
          <p:cNvSpPr/>
          <p:nvPr/>
        </p:nvSpPr>
        <p:spPr>
          <a:xfrm>
            <a:off x="685800" y="3145536"/>
            <a:ext cx="10789920" cy="347472"/>
          </a:xfrm>
          <a:prstGeom prst="rect">
            <a:avLst/>
          </a:prstGeom>
          <a:noFill/>
          <a:ln/>
        </p:spPr>
        <p:txBody>
          <a:bodyPr wrap="square" lIns="0" tIns="0" rIns="0" bIns="0" rtlCol="0" anchor="ctr"/>
          <a:lstStyle/>
          <a:p>
            <a:pPr indent="0" marL="0">
              <a:buNone/>
            </a:pPr>
            <a:r>
              <a:rPr lang="en-US" sz="1500" b="1" dirty="0">
                <a:solidFill>
                  <a:srgbClr val="D98E1F"/>
                </a:solidFill>
                <a:latin typeface="Courier New" pitchFamily="34" charset="0"/>
                <a:ea typeface="Courier New" pitchFamily="34" charset="-122"/>
                <a:cs typeface="Courier New" pitchFamily="34" charset="-120"/>
              </a:rPr>
              <a:t>Q  </a:t>
            </a:r>
            <a:pPr indent="0" marL="0">
              <a:buNone/>
            </a:pPr>
            <a:r>
              <a:rPr lang="en-US" sz="1500" b="1" dirty="0">
                <a:solidFill>
                  <a:srgbClr val="14283C"/>
                </a:solidFill>
                <a:latin typeface="Arial" pitchFamily="34" charset="0"/>
                <a:ea typeface="Arial" pitchFamily="34" charset="-122"/>
                <a:cs typeface="Arial" pitchFamily="34" charset="-120"/>
              </a:rPr>
              <a:t>Could this be misused to judge teams?</a:t>
            </a:r>
            <a:endParaRPr lang="en-US" sz="1500" dirty="0"/>
          </a:p>
        </p:txBody>
      </p:sp>
      <p:sp>
        <p:nvSpPr>
          <p:cNvPr id="7" name="Text 5"/>
          <p:cNvSpPr/>
          <p:nvPr/>
        </p:nvSpPr>
        <p:spPr>
          <a:xfrm>
            <a:off x="1188720" y="3529584"/>
            <a:ext cx="10149840" cy="914400"/>
          </a:xfrm>
          <a:prstGeom prst="rect">
            <a:avLst/>
          </a:prstGeom>
          <a:noFill/>
          <a:ln/>
        </p:spPr>
        <p:txBody>
          <a:bodyPr wrap="square" lIns="0" tIns="0" rIns="0" bIns="0" rtlCol="0" anchor="t"/>
          <a:lstStyle/>
          <a:p>
            <a:pPr indent="0" marL="0">
              <a:lnSpc>
                <a:spcPct val="112000"/>
              </a:lnSpc>
              <a:buNone/>
            </a:pPr>
            <a:r>
              <a:rPr lang="en-US" sz="1250" dirty="0">
                <a:solidFill>
                  <a:srgbClr val="2A3F55"/>
                </a:solidFill>
                <a:latin typeface="Arial" pitchFamily="34" charset="0"/>
                <a:ea typeface="Arial" pitchFamily="34" charset="-122"/>
                <a:cs typeface="Arial" pitchFamily="34" charset="-120"/>
              </a:rPr>
              <a:t>Governance scope was agreed with the Head of Trading IT at the outset: decision-support for portfolio conversations, not a binding instrument. High-debt profiles typically reflect historical design decisions, not current custodians (Ahmad et al., 2026). No team, vendor or individual identifiers exist in the dataset.</a:t>
            </a:r>
            <a:endParaRPr lang="en-US" sz="1250" dirty="0"/>
          </a:p>
        </p:txBody>
      </p:sp>
      <p:sp>
        <p:nvSpPr>
          <p:cNvPr id="8" name="Shape 6"/>
          <p:cNvSpPr/>
          <p:nvPr/>
        </p:nvSpPr>
        <p:spPr>
          <a:xfrm>
            <a:off x="685800" y="4690872"/>
            <a:ext cx="10789920" cy="713232"/>
          </a:xfrm>
          <a:prstGeom prst="rect">
            <a:avLst/>
          </a:prstGeom>
          <a:solidFill>
            <a:srgbClr val="F2F7F6"/>
          </a:solidFill>
          <a:ln/>
        </p:spPr>
      </p:sp>
      <p:sp>
        <p:nvSpPr>
          <p:cNvPr id="9" name="Text 7"/>
          <p:cNvSpPr/>
          <p:nvPr/>
        </p:nvSpPr>
        <p:spPr>
          <a:xfrm>
            <a:off x="886968" y="4764024"/>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0" name="Text 8"/>
          <p:cNvSpPr/>
          <p:nvPr/>
        </p:nvSpPr>
        <p:spPr>
          <a:xfrm>
            <a:off x="886968" y="4965192"/>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The framework measures debt indirectly and expresses the result as a relative priority: a quantitative, reproducible ordering, not a claim to have quantified the debt itself.</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CHAPTER 6</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Contributions</a:t>
            </a:r>
            <a:endParaRPr lang="en-US" sz="3000" dirty="0"/>
          </a:p>
        </p:txBody>
      </p:sp>
      <p:sp>
        <p:nvSpPr>
          <p:cNvPr id="4" name="Shape 2"/>
          <p:cNvSpPr/>
          <p:nvPr/>
        </p:nvSpPr>
        <p:spPr>
          <a:xfrm>
            <a:off x="685800" y="1929384"/>
            <a:ext cx="457200" cy="457200"/>
          </a:xfrm>
          <a:prstGeom prst="ellipse">
            <a:avLst/>
          </a:prstGeom>
          <a:solidFill>
            <a:srgbClr val="14283C"/>
          </a:solidFill>
          <a:ln/>
        </p:spPr>
      </p:sp>
      <p:sp>
        <p:nvSpPr>
          <p:cNvPr id="5" name="Text 3"/>
          <p:cNvSpPr/>
          <p:nvPr/>
        </p:nvSpPr>
        <p:spPr>
          <a:xfrm>
            <a:off x="685800" y="192938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a:t>
            </a:r>
            <a:endParaRPr lang="en-US" sz="1700" dirty="0"/>
          </a:p>
        </p:txBody>
      </p:sp>
      <p:sp>
        <p:nvSpPr>
          <p:cNvPr id="6" name="Text 4"/>
          <p:cNvSpPr/>
          <p:nvPr/>
        </p:nvSpPr>
        <p:spPr>
          <a:xfrm>
            <a:off x="1371600" y="1874520"/>
            <a:ext cx="9966960" cy="1005840"/>
          </a:xfrm>
          <a:prstGeom prst="rect">
            <a:avLst/>
          </a:prstGeom>
          <a:noFill/>
          <a:ln/>
        </p:spPr>
        <p:txBody>
          <a:bodyPr wrap="square" lIns="0" tIns="0" rIns="0" bIns="0" rtlCol="0" anchor="t"/>
          <a:lstStyle/>
          <a:p>
            <a:pPr indent="0" marL="0">
              <a:lnSpc>
                <a:spcPct val="112000"/>
              </a:lnSpc>
              <a:buNone/>
            </a:pPr>
            <a:r>
              <a:rPr lang="en-US" sz="1400" b="1" dirty="0">
                <a:solidFill>
                  <a:srgbClr val="14283C"/>
                </a:solidFill>
                <a:latin typeface="Arial" pitchFamily="34" charset="0"/>
                <a:ea typeface="Arial" pitchFamily="34" charset="-122"/>
                <a:cs typeface="Arial" pitchFamily="34" charset="-120"/>
              </a:rPr>
              <a:t>First application: </a:t>
            </a:r>
            <a:pPr indent="0" marL="0">
              <a:lnSpc>
                <a:spcPct val="112000"/>
              </a:lnSpc>
              <a:buNone/>
            </a:pPr>
            <a:r>
              <a:rPr lang="en-US" sz="1400" dirty="0">
                <a:solidFill>
                  <a:srgbClr val="14283C"/>
                </a:solidFill>
                <a:latin typeface="Arial" pitchFamily="34" charset="0"/>
                <a:ea typeface="Arial" pitchFamily="34" charset="-122"/>
                <a:cs typeface="Arial" pitchFamily="34" charset="-120"/>
              </a:rPr>
              <a:t>(to the best of current knowledge) of TOPSIS to live ITSM/CMDB records for TD prioritisation in financial trading IT, closing the gap Lenarduzzi et al. identify field-wide</a:t>
            </a:r>
            <a:endParaRPr lang="en-US" sz="1400" dirty="0"/>
          </a:p>
        </p:txBody>
      </p:sp>
      <p:sp>
        <p:nvSpPr>
          <p:cNvPr id="7" name="Shape 5"/>
          <p:cNvSpPr/>
          <p:nvPr/>
        </p:nvSpPr>
        <p:spPr>
          <a:xfrm>
            <a:off x="685800" y="3099816"/>
            <a:ext cx="457200" cy="457200"/>
          </a:xfrm>
          <a:prstGeom prst="ellipse">
            <a:avLst/>
          </a:prstGeom>
          <a:solidFill>
            <a:srgbClr val="14283C"/>
          </a:solidFill>
          <a:ln/>
        </p:spPr>
      </p:sp>
      <p:sp>
        <p:nvSpPr>
          <p:cNvPr id="8" name="Text 6"/>
          <p:cNvSpPr/>
          <p:nvPr/>
        </p:nvSpPr>
        <p:spPr>
          <a:xfrm>
            <a:off x="685800" y="309981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2</a:t>
            </a:r>
            <a:endParaRPr lang="en-US" sz="1700" dirty="0"/>
          </a:p>
        </p:txBody>
      </p:sp>
      <p:sp>
        <p:nvSpPr>
          <p:cNvPr id="9" name="Text 7"/>
          <p:cNvSpPr/>
          <p:nvPr/>
        </p:nvSpPr>
        <p:spPr>
          <a:xfrm>
            <a:off x="1371600" y="3044952"/>
            <a:ext cx="9966960" cy="1005840"/>
          </a:xfrm>
          <a:prstGeom prst="rect">
            <a:avLst/>
          </a:prstGeom>
          <a:noFill/>
          <a:ln/>
        </p:spPr>
        <p:txBody>
          <a:bodyPr wrap="square" lIns="0" tIns="0" rIns="0" bIns="0" rtlCol="0" anchor="t"/>
          <a:lstStyle/>
          <a:p>
            <a:pPr indent="0" marL="0">
              <a:lnSpc>
                <a:spcPct val="112000"/>
              </a:lnSpc>
              <a:buNone/>
            </a:pPr>
            <a:r>
              <a:rPr lang="en-US" sz="1400" b="1" dirty="0">
                <a:solidFill>
                  <a:srgbClr val="14283C"/>
                </a:solidFill>
                <a:latin typeface="Arial" pitchFamily="34" charset="0"/>
                <a:ea typeface="Arial" pitchFamily="34" charset="-122"/>
                <a:cs typeface="Arial" pitchFamily="34" charset="-120"/>
              </a:rPr>
              <a:t>An operationally defined indicator set: </a:t>
            </a:r>
            <a:pPr indent="0" marL="0">
              <a:lnSpc>
                <a:spcPct val="112000"/>
              </a:lnSpc>
              <a:buNone/>
            </a:pPr>
            <a:r>
              <a:rPr lang="en-US" sz="1400" dirty="0">
                <a:solidFill>
                  <a:srgbClr val="14283C"/>
                </a:solidFill>
                <a:latin typeface="Arial" pitchFamily="34" charset="0"/>
                <a:ea typeface="Arial" pitchFamily="34" charset="-122"/>
                <a:cs typeface="Arial" pitchFamily="34" charset="-120"/>
              </a:rPr>
              <a:t>with explicit literature mapping to debt dimensions, plus evidence of its behaviour under a four-strand evaluation</a:t>
            </a:r>
            <a:endParaRPr lang="en-US" sz="1400" dirty="0"/>
          </a:p>
        </p:txBody>
      </p:sp>
      <p:sp>
        <p:nvSpPr>
          <p:cNvPr id="10" name="Shape 8"/>
          <p:cNvSpPr/>
          <p:nvPr/>
        </p:nvSpPr>
        <p:spPr>
          <a:xfrm>
            <a:off x="685800" y="4270248"/>
            <a:ext cx="457200" cy="457200"/>
          </a:xfrm>
          <a:prstGeom prst="ellipse">
            <a:avLst/>
          </a:prstGeom>
          <a:solidFill>
            <a:srgbClr val="D98E1F"/>
          </a:solidFill>
          <a:ln/>
        </p:spPr>
      </p:sp>
      <p:sp>
        <p:nvSpPr>
          <p:cNvPr id="11" name="Text 9"/>
          <p:cNvSpPr/>
          <p:nvPr/>
        </p:nvSpPr>
        <p:spPr>
          <a:xfrm>
            <a:off x="685800" y="42702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3</a:t>
            </a:r>
            <a:endParaRPr lang="en-US" sz="1700" dirty="0"/>
          </a:p>
        </p:txBody>
      </p:sp>
      <p:sp>
        <p:nvSpPr>
          <p:cNvPr id="12" name="Text 10"/>
          <p:cNvSpPr/>
          <p:nvPr/>
        </p:nvSpPr>
        <p:spPr>
          <a:xfrm>
            <a:off x="1371600" y="4215384"/>
            <a:ext cx="9966960" cy="1005840"/>
          </a:xfrm>
          <a:prstGeom prst="rect">
            <a:avLst/>
          </a:prstGeom>
          <a:noFill/>
          <a:ln/>
        </p:spPr>
        <p:txBody>
          <a:bodyPr wrap="square" lIns="0" tIns="0" rIns="0" bIns="0" rtlCol="0" anchor="t"/>
          <a:lstStyle/>
          <a:p>
            <a:pPr indent="0" marL="0">
              <a:lnSpc>
                <a:spcPct val="112000"/>
              </a:lnSpc>
              <a:buNone/>
            </a:pPr>
            <a:r>
              <a:rPr lang="en-US" sz="1400" b="1" dirty="0">
                <a:solidFill>
                  <a:srgbClr val="14283C"/>
                </a:solidFill>
                <a:latin typeface="Arial" pitchFamily="34" charset="0"/>
                <a:ea typeface="Arial" pitchFamily="34" charset="-122"/>
                <a:cs typeface="Arial" pitchFamily="34" charset="-120"/>
              </a:rPr>
              <a:t>A methodological finding of independent interest: </a:t>
            </a:r>
            <a:pPr indent="0" marL="0">
              <a:lnSpc>
                <a:spcPct val="112000"/>
              </a:lnSpc>
              <a:buNone/>
            </a:pPr>
            <a:r>
              <a:rPr lang="en-US" sz="1400" dirty="0">
                <a:solidFill>
                  <a:srgbClr val="14283C"/>
                </a:solidFill>
                <a:latin typeface="Arial" pitchFamily="34" charset="0"/>
                <a:ea typeface="Arial" pitchFamily="34" charset="-122"/>
                <a:cs typeface="Arial" pitchFamily="34" charset="-120"/>
              </a:rPr>
              <a:t>sample-relative and absolutely anchored methods respond differently to concentrated debt profiles, consequential for the top of a ranking</a:t>
            </a:r>
            <a:endParaRPr lang="en-US" sz="1400" dirty="0"/>
          </a:p>
        </p:txBody>
      </p:sp>
      <p:sp>
        <p:nvSpPr>
          <p:cNvPr id="13" name="Shape 11"/>
          <p:cNvSpPr/>
          <p:nvPr/>
        </p:nvSpPr>
        <p:spPr>
          <a:xfrm>
            <a:off x="685800" y="5577840"/>
            <a:ext cx="10789920" cy="713232"/>
          </a:xfrm>
          <a:prstGeom prst="rect">
            <a:avLst/>
          </a:prstGeom>
          <a:solidFill>
            <a:srgbClr val="F2F7F6"/>
          </a:solidFill>
          <a:ln/>
        </p:spPr>
      </p:sp>
      <p:sp>
        <p:nvSpPr>
          <p:cNvPr id="14" name="Text 12"/>
          <p:cNvSpPr/>
          <p:nvPr/>
        </p:nvSpPr>
        <p:spPr>
          <a:xfrm>
            <a:off x="886968" y="5650992"/>
            <a:ext cx="10424160" cy="201168"/>
          </a:xfrm>
          <a:prstGeom prst="rect">
            <a:avLst/>
          </a:prstGeom>
          <a:noFill/>
          <a:ln/>
        </p:spPr>
        <p:txBody>
          <a:bodyPr wrap="square" lIns="0" tIns="0" rIns="0" bIns="0" rtlCol="0" anchor="ctr"/>
          <a:lstStyle/>
          <a:p>
            <a:pPr indent="0" marL="0">
              <a:buNone/>
            </a:pPr>
            <a:r>
              <a:rPr lang="en-US" sz="950" b="1" spc="300" kern="0" dirty="0">
                <a:solidFill>
                  <a:srgbClr val="1E7F82"/>
                </a:solidFill>
                <a:latin typeface="Courier New" pitchFamily="34" charset="0"/>
                <a:ea typeface="Courier New" pitchFamily="34" charset="-122"/>
                <a:cs typeface="Courier New" pitchFamily="34" charset="-120"/>
              </a:rPr>
              <a:t>TAKEAWAY</a:t>
            </a:r>
            <a:endParaRPr lang="en-US" sz="950" dirty="0"/>
          </a:p>
        </p:txBody>
      </p:sp>
      <p:sp>
        <p:nvSpPr>
          <p:cNvPr id="15" name="Text 13"/>
          <p:cNvSpPr/>
          <p:nvPr/>
        </p:nvSpPr>
        <p:spPr>
          <a:xfrm>
            <a:off x="886968" y="5852160"/>
            <a:ext cx="10424160" cy="384048"/>
          </a:xfrm>
          <a:prstGeom prst="rect">
            <a:avLst/>
          </a:prstGeom>
          <a:noFill/>
          <a:ln/>
        </p:spPr>
        <p:txBody>
          <a:bodyPr wrap="square" lIns="0" tIns="0" rIns="0" bIns="0" rtlCol="0" anchor="t"/>
          <a:lstStyle/>
          <a:p>
            <a:pPr indent="0" marL="0">
              <a:buNone/>
            </a:pPr>
            <a:r>
              <a:rPr lang="en-US" sz="1250" dirty="0">
                <a:solidFill>
                  <a:srgbClr val="14283C"/>
                </a:solidFill>
                <a:latin typeface="Arial" pitchFamily="34" charset="0"/>
                <a:ea typeface="Arial" pitchFamily="34" charset="-122"/>
                <a:cs typeface="Arial" pitchFamily="34" charset="-120"/>
              </a:rPr>
              <a:t>Practically: a portfolio-wide, auditable priority ordering from data organisations already hold, surfacing exactly the debt current governance misses.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83C"/>
        </a:solidFill>
      </p:bgPr>
    </p:bg>
    <p:spTree>
      <p:nvGrpSpPr>
        <p:cNvPr id="1" name=""/>
        <p:cNvGrpSpPr/>
        <p:nvPr/>
      </p:nvGrpSpPr>
      <p:grpSpPr>
        <a:xfrm>
          <a:off x="0" y="0"/>
          <a:ext cx="0" cy="0"/>
          <a:chOff x="0" y="0"/>
          <a:chExt cx="0" cy="0"/>
        </a:xfrm>
      </p:grpSpPr>
      <p:sp>
        <p:nvSpPr>
          <p:cNvPr id="2" name="Text 0"/>
          <p:cNvSpPr/>
          <p:nvPr/>
        </p:nvSpPr>
        <p:spPr>
          <a:xfrm>
            <a:off x="685800" y="640080"/>
            <a:ext cx="3657600" cy="274320"/>
          </a:xfrm>
          <a:prstGeom prst="rect">
            <a:avLst/>
          </a:prstGeom>
          <a:noFill/>
          <a:ln/>
        </p:spPr>
        <p:txBody>
          <a:bodyPr wrap="square" lIns="0" tIns="0" rIns="0" bIns="0" rtlCol="0" anchor="ctr"/>
          <a:lstStyle/>
          <a:p>
            <a:pPr indent="0" marL="0">
              <a:buNone/>
            </a:pPr>
            <a:r>
              <a:rPr lang="en-US" sz="1100" b="1" spc="300" kern="0" dirty="0">
                <a:solidFill>
                  <a:srgbClr val="D98E1F"/>
                </a:solidFill>
                <a:latin typeface="Courier New" pitchFamily="34" charset="0"/>
                <a:ea typeface="Courier New" pitchFamily="34" charset="-122"/>
                <a:cs typeface="Courier New" pitchFamily="34" charset="-120"/>
              </a:rPr>
              <a:t>CLOSE</a:t>
            </a:r>
            <a:endParaRPr lang="en-US" sz="1100" dirty="0"/>
          </a:p>
        </p:txBody>
      </p:sp>
      <p:sp>
        <p:nvSpPr>
          <p:cNvPr id="3" name="Text 1"/>
          <p:cNvSpPr/>
          <p:nvPr/>
        </p:nvSpPr>
        <p:spPr>
          <a:xfrm>
            <a:off x="685800" y="1463040"/>
            <a:ext cx="10424160" cy="2103120"/>
          </a:xfrm>
          <a:prstGeom prst="rect">
            <a:avLst/>
          </a:prstGeom>
          <a:noFill/>
          <a:ln/>
        </p:spPr>
        <p:txBody>
          <a:bodyPr wrap="square" lIns="0" tIns="0" rIns="0" bIns="0" rtlCol="0" anchor="t"/>
          <a:lstStyle/>
          <a:p>
            <a:pPr indent="0" marL="0">
              <a:lnSpc>
                <a:spcPct val="125000"/>
              </a:lnSpc>
              <a:buNone/>
            </a:pPr>
            <a:r>
              <a:rPr lang="en-US" sz="2500" dirty="0">
                <a:solidFill>
                  <a:srgbClr val="FFFFFF"/>
                </a:solidFill>
                <a:latin typeface="Arial" pitchFamily="34" charset="0"/>
                <a:ea typeface="Arial" pitchFamily="34" charset="-122"/>
                <a:cs typeface="Arial" pitchFamily="34" charset="-120"/>
              </a:rPr>
              <a:t>The framework does not measure technical debt.
</a:t>
            </a:r>
            <a:pPr indent="0" marL="0">
              <a:lnSpc>
                <a:spcPct val="125000"/>
              </a:lnSpc>
              <a:buNone/>
            </a:pPr>
            <a:r>
              <a:rPr lang="en-US" sz="2500" dirty="0">
                <a:solidFill>
                  <a:srgbClr val="FFFFFF"/>
                </a:solidFill>
                <a:latin typeface="Arial" pitchFamily="34" charset="0"/>
                <a:ea typeface="Arial" pitchFamily="34" charset="-122"/>
                <a:cs typeface="Arial" pitchFamily="34" charset="-120"/>
              </a:rPr>
              <a:t>It orders services by the </a:t>
            </a:r>
            <a:pPr indent="0" marL="0">
              <a:lnSpc>
                <a:spcPct val="125000"/>
              </a:lnSpc>
              <a:buNone/>
            </a:pPr>
            <a:r>
              <a:rPr lang="en-US" sz="2500" b="1" dirty="0">
                <a:solidFill>
                  <a:srgbClr val="F0C67A"/>
                </a:solidFill>
                <a:latin typeface="Arial" pitchFamily="34" charset="0"/>
                <a:ea typeface="Arial" pitchFamily="34" charset="-122"/>
                <a:cs typeface="Arial" pitchFamily="34" charset="-120"/>
              </a:rPr>
              <a:t>operational shadow debt casts</a:t>
            </a:r>
            <a:pPr indent="0" marL="0">
              <a:lnSpc>
                <a:spcPct val="125000"/>
              </a:lnSpc>
              <a:buNone/>
            </a:pPr>
            <a:r>
              <a:rPr lang="en-US" sz="2500" dirty="0">
                <a:solidFill>
                  <a:srgbClr val="FFFFFF"/>
                </a:solidFill>
                <a:latin typeface="Arial" pitchFamily="34" charset="0"/>
                <a:ea typeface="Arial" pitchFamily="34" charset="-122"/>
                <a:cs typeface="Arial" pitchFamily="34" charset="-120"/>
              </a:rPr>
              <a:t>, and within stated limits it does so reproducibly, defensibly and in a form a regulated institution can act on.</a:t>
            </a:r>
            <a:endParaRPr lang="en-US" sz="2500" dirty="0"/>
          </a:p>
        </p:txBody>
      </p:sp>
      <p:sp>
        <p:nvSpPr>
          <p:cNvPr id="4" name="Text 2"/>
          <p:cNvSpPr/>
          <p:nvPr/>
        </p:nvSpPr>
        <p:spPr>
          <a:xfrm>
            <a:off x="685800" y="4114800"/>
            <a:ext cx="960120" cy="23774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SVC-01</a:t>
            </a:r>
            <a:endParaRPr lang="en-US" sz="1200" dirty="0"/>
          </a:p>
        </p:txBody>
      </p:sp>
      <p:sp>
        <p:nvSpPr>
          <p:cNvPr id="5" name="Shape 3"/>
          <p:cNvSpPr/>
          <p:nvPr/>
        </p:nvSpPr>
        <p:spPr>
          <a:xfrm>
            <a:off x="1737360" y="4133088"/>
            <a:ext cx="4663440" cy="182880"/>
          </a:xfrm>
          <a:prstGeom prst="rect">
            <a:avLst/>
          </a:prstGeom>
          <a:solidFill>
            <a:srgbClr val="24405C"/>
          </a:solidFill>
          <a:ln/>
        </p:spPr>
      </p:sp>
      <p:sp>
        <p:nvSpPr>
          <p:cNvPr id="6" name="Shape 4"/>
          <p:cNvSpPr/>
          <p:nvPr/>
        </p:nvSpPr>
        <p:spPr>
          <a:xfrm>
            <a:off x="1737360" y="4133088"/>
            <a:ext cx="2471623" cy="182880"/>
          </a:xfrm>
          <a:prstGeom prst="rect">
            <a:avLst/>
          </a:prstGeom>
          <a:solidFill>
            <a:srgbClr val="D98E1F"/>
          </a:solidFill>
          <a:ln/>
        </p:spPr>
      </p:sp>
      <p:sp>
        <p:nvSpPr>
          <p:cNvPr id="7" name="Text 5"/>
          <p:cNvSpPr/>
          <p:nvPr/>
        </p:nvSpPr>
        <p:spPr>
          <a:xfrm>
            <a:off x="6446520" y="4114800"/>
            <a:ext cx="685800" cy="237744"/>
          </a:xfrm>
          <a:prstGeom prst="rect">
            <a:avLst/>
          </a:prstGeom>
          <a:noFill/>
          <a:ln/>
        </p:spPr>
        <p:txBody>
          <a:bodyPr wrap="square" lIns="0" tIns="0" rIns="0" bIns="0" rtlCol="0" anchor="ctr"/>
          <a:lstStyle/>
          <a:p>
            <a:pPr algn="r" indent="0" marL="0">
              <a:buNone/>
            </a:pPr>
            <a:r>
              <a:rPr lang="en-US" sz="1100" dirty="0">
                <a:solidFill>
                  <a:srgbClr val="9FB4C8"/>
                </a:solidFill>
                <a:latin typeface="Courier New" pitchFamily="34" charset="0"/>
                <a:ea typeface="Courier New" pitchFamily="34" charset="-122"/>
                <a:cs typeface="Courier New" pitchFamily="34" charset="-120"/>
              </a:rPr>
              <a:t>R1</a:t>
            </a:r>
            <a:endParaRPr lang="en-US" sz="1100" dirty="0"/>
          </a:p>
        </p:txBody>
      </p:sp>
      <p:sp>
        <p:nvSpPr>
          <p:cNvPr id="8" name="Text 6"/>
          <p:cNvSpPr/>
          <p:nvPr/>
        </p:nvSpPr>
        <p:spPr>
          <a:xfrm>
            <a:off x="685800" y="4553712"/>
            <a:ext cx="960120" cy="23774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SVC-03</a:t>
            </a:r>
            <a:endParaRPr lang="en-US" sz="1200" dirty="0"/>
          </a:p>
        </p:txBody>
      </p:sp>
      <p:sp>
        <p:nvSpPr>
          <p:cNvPr id="9" name="Shape 7"/>
          <p:cNvSpPr/>
          <p:nvPr/>
        </p:nvSpPr>
        <p:spPr>
          <a:xfrm>
            <a:off x="1737360" y="4572000"/>
            <a:ext cx="4663440" cy="182880"/>
          </a:xfrm>
          <a:prstGeom prst="rect">
            <a:avLst/>
          </a:prstGeom>
          <a:solidFill>
            <a:srgbClr val="24405C"/>
          </a:solidFill>
          <a:ln/>
        </p:spPr>
      </p:sp>
      <p:sp>
        <p:nvSpPr>
          <p:cNvPr id="10" name="Shape 8"/>
          <p:cNvSpPr/>
          <p:nvPr/>
        </p:nvSpPr>
        <p:spPr>
          <a:xfrm>
            <a:off x="1737360" y="4572000"/>
            <a:ext cx="93269" cy="182880"/>
          </a:xfrm>
          <a:prstGeom prst="rect">
            <a:avLst/>
          </a:prstGeom>
          <a:solidFill>
            <a:srgbClr val="8FA6BC"/>
          </a:solidFill>
          <a:ln/>
        </p:spPr>
      </p:sp>
      <p:sp>
        <p:nvSpPr>
          <p:cNvPr id="11" name="Text 9"/>
          <p:cNvSpPr/>
          <p:nvPr/>
        </p:nvSpPr>
        <p:spPr>
          <a:xfrm>
            <a:off x="6446520" y="4553712"/>
            <a:ext cx="685800" cy="237744"/>
          </a:xfrm>
          <a:prstGeom prst="rect">
            <a:avLst/>
          </a:prstGeom>
          <a:noFill/>
          <a:ln/>
        </p:spPr>
        <p:txBody>
          <a:bodyPr wrap="square" lIns="0" tIns="0" rIns="0" bIns="0" rtlCol="0" anchor="ctr"/>
          <a:lstStyle/>
          <a:p>
            <a:pPr algn="r" indent="0" marL="0">
              <a:buNone/>
            </a:pPr>
            <a:r>
              <a:rPr lang="en-US" sz="1100" dirty="0">
                <a:solidFill>
                  <a:srgbClr val="9FB4C8"/>
                </a:solidFill>
                <a:latin typeface="Courier New" pitchFamily="34" charset="0"/>
                <a:ea typeface="Courier New" pitchFamily="34" charset="-122"/>
                <a:cs typeface="Courier New" pitchFamily="34" charset="-120"/>
              </a:rPr>
              <a:t>R6</a:t>
            </a:r>
            <a:endParaRPr lang="en-US" sz="1100" dirty="0"/>
          </a:p>
        </p:txBody>
      </p:sp>
      <p:sp>
        <p:nvSpPr>
          <p:cNvPr id="12" name="Text 10"/>
          <p:cNvSpPr/>
          <p:nvPr/>
        </p:nvSpPr>
        <p:spPr>
          <a:xfrm>
            <a:off x="685800" y="5852160"/>
            <a:ext cx="7315200" cy="365760"/>
          </a:xfrm>
          <a:prstGeom prst="rect">
            <a:avLst/>
          </a:prstGeom>
          <a:noFill/>
          <a:ln/>
        </p:spPr>
        <p:txBody>
          <a:bodyPr wrap="square" lIns="0" tIns="0" rIns="0" bIns="0" rtlCol="0" anchor="ctr"/>
          <a:lstStyle/>
          <a:p>
            <a:pPr indent="0" marL="0">
              <a:buNone/>
            </a:pPr>
            <a:r>
              <a:rPr lang="en-US" sz="1500" i="1" dirty="0">
                <a:solidFill>
                  <a:srgbClr val="AFC2D4"/>
                </a:solidFill>
                <a:latin typeface="Arial" pitchFamily="34" charset="0"/>
                <a:ea typeface="Arial" pitchFamily="34" charset="-122"/>
                <a:cs typeface="Arial" pitchFamily="34" charset="-120"/>
              </a:rPr>
              <a:t>Thank you. I welcome your questions.</a:t>
            </a:r>
            <a:endParaRPr lang="en-US" sz="1500" dirty="0"/>
          </a:p>
        </p:txBody>
      </p:sp>
      <p:pic>
        <p:nvPicPr>
          <p:cNvPr id="13" name="Image 0" descr="logo_white.png">    </p:cNvPr>
          <p:cNvPicPr>
            <a:picLocks noChangeAspect="1"/>
          </p:cNvPicPr>
          <p:nvPr/>
        </p:nvPicPr>
        <p:blipFill>
          <a:blip r:embed="rId1"/>
          <a:stretch>
            <a:fillRect/>
          </a:stretch>
        </p:blipFill>
        <p:spPr>
          <a:xfrm>
            <a:off x="9692640" y="5577840"/>
            <a:ext cx="1792224" cy="896112"/>
          </a:xfrm>
          <a:prstGeom prst="rect">
            <a:avLst/>
          </a:prstGeom>
        </p:spPr>
      </p:pic>
      <p:sp>
        <p:nvSpPr>
          <p:cNvPr id="14" name="Text 11"/>
          <p:cNvSpPr/>
          <p:nvPr/>
        </p:nvSpPr>
        <p:spPr>
          <a:xfrm>
            <a:off x="685800" y="6263640"/>
            <a:ext cx="7315200" cy="274320"/>
          </a:xfrm>
          <a:prstGeom prst="rect">
            <a:avLst/>
          </a:prstGeom>
          <a:noFill/>
          <a:ln/>
        </p:spPr>
        <p:txBody>
          <a:bodyPr wrap="square" lIns="0" tIns="0" rIns="0" bIns="0" rtlCol="0" anchor="ctr"/>
          <a:lstStyle/>
          <a:p>
            <a:pPr indent="0" marL="0">
              <a:buNone/>
            </a:pPr>
            <a:r>
              <a:rPr lang="en-US" sz="1000" spc="200" kern="0" dirty="0">
                <a:solidFill>
                  <a:srgbClr val="8FA6BC"/>
                </a:solidFill>
                <a:latin typeface="Courier New" pitchFamily="34" charset="0"/>
                <a:ea typeface="Courier New" pitchFamily="34" charset="-122"/>
                <a:cs typeface="Courier New" pitchFamily="34" charset="-120"/>
              </a:rPr>
              <a:t>Tobias Zeier · University of Essex</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943600" cy="292608"/>
          </a:xfrm>
          <a:prstGeom prst="rect">
            <a:avLst/>
          </a:prstGeom>
          <a:noFill/>
          <a:ln/>
        </p:spPr>
        <p:txBody>
          <a:bodyPr wrap="square" lIns="0" tIns="0" rIns="0" bIns="0" rtlCol="0" anchor="ctr"/>
          <a:lstStyle/>
          <a:p>
            <a:pPr algn="l" indent="0" marL="0">
              <a:buNone/>
            </a:pPr>
            <a:r>
              <a:rPr lang="en-US" sz="1100" b="1" spc="300" kern="0" dirty="0">
                <a:solidFill>
                  <a:srgbClr val="5C7186"/>
                </a:solidFill>
                <a:latin typeface="Courier New" pitchFamily="34" charset="0"/>
                <a:ea typeface="Courier New" pitchFamily="34" charset="-122"/>
                <a:cs typeface="Courier New" pitchFamily="34" charset="-120"/>
              </a:rPr>
              <a:t>REFERENCES · CITE THEM RIGHT HARVARD</a:t>
            </a:r>
            <a:endParaRPr lang="en-US" sz="1100" dirty="0"/>
          </a:p>
        </p:txBody>
      </p:sp>
      <p:sp>
        <p:nvSpPr>
          <p:cNvPr id="3" name="Text 1"/>
          <p:cNvSpPr/>
          <p:nvPr/>
        </p:nvSpPr>
        <p:spPr>
          <a:xfrm>
            <a:off x="685800" y="841248"/>
            <a:ext cx="10789920" cy="777240"/>
          </a:xfrm>
          <a:prstGeom prst="rect">
            <a:avLst/>
          </a:prstGeom>
          <a:noFill/>
          <a:ln/>
        </p:spPr>
        <p:txBody>
          <a:bodyPr wrap="square" lIns="0" tIns="0" rIns="0" bIns="0" rtlCol="0" anchor="ctr"/>
          <a:lstStyle/>
          <a:p>
            <a:pPr algn="l" indent="0" marL="0">
              <a:buNone/>
            </a:pPr>
            <a:r>
              <a:rPr lang="en-US" sz="3000" b="1" dirty="0">
                <a:solidFill>
                  <a:srgbClr val="14283C"/>
                </a:solidFill>
                <a:latin typeface="Arial" pitchFamily="34" charset="0"/>
                <a:ea typeface="Arial" pitchFamily="34" charset="-122"/>
                <a:cs typeface="Arial" pitchFamily="34" charset="-120"/>
              </a:rPr>
              <a:t>References</a:t>
            </a:r>
            <a:endParaRPr lang="en-US" sz="3000" dirty="0"/>
          </a:p>
        </p:txBody>
      </p:sp>
      <p:sp>
        <p:nvSpPr>
          <p:cNvPr id="4" name="Text 2"/>
          <p:cNvSpPr/>
          <p:nvPr/>
        </p:nvSpPr>
        <p:spPr>
          <a:xfrm>
            <a:off x="685800" y="1828800"/>
            <a:ext cx="5303520" cy="649224"/>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Ahmad, M.O., Mandić, V., Taušan, N., Katin, A. and Herath, P. (2026) 'Technical debt is not just technical: An industrial case study in large agile software development', Journal of Systems and Software, 234, p. 112719. Available at: https://doi.org/10.1016/j.jss.2025.112719.</a:t>
            </a:r>
            <a:endParaRPr lang="en-US" sz="950" dirty="0"/>
          </a:p>
        </p:txBody>
      </p:sp>
      <p:sp>
        <p:nvSpPr>
          <p:cNvPr id="5" name="Text 3"/>
          <p:cNvSpPr/>
          <p:nvPr/>
        </p:nvSpPr>
        <p:spPr>
          <a:xfrm>
            <a:off x="685800" y="2606040"/>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Albarak, M., Bahsoon, R., Ozkaya, I. and Nord, R.L. (2022) 'Managing Technical Debt in Database Normalization', IEEE Transactions on Software Engineering, 48(3), pp. 755–772. Available at: https://doi.org/10.1109/TSE.2020.3001339.</a:t>
            </a:r>
            <a:endParaRPr lang="en-US" sz="950" dirty="0"/>
          </a:p>
        </p:txBody>
      </p:sp>
      <p:sp>
        <p:nvSpPr>
          <p:cNvPr id="6" name="Text 4"/>
          <p:cNvSpPr/>
          <p:nvPr/>
        </p:nvSpPr>
        <p:spPr>
          <a:xfrm>
            <a:off x="685800" y="3232404"/>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Banker, R., Liang, Y. and Ramasubbu, N. (2020) 'Technical Debt and Firm Performance', Management Science, 67(5), pp. 3174–3194. Available at: https://doi.org/10.1287/mnsc.2019.3542.</a:t>
            </a:r>
            <a:endParaRPr lang="en-US" sz="950" dirty="0"/>
          </a:p>
        </p:txBody>
      </p:sp>
      <p:sp>
        <p:nvSpPr>
          <p:cNvPr id="7" name="Text 5"/>
          <p:cNvSpPr/>
          <p:nvPr/>
        </p:nvSpPr>
        <p:spPr>
          <a:xfrm>
            <a:off x="685800" y="3858768"/>
            <a:ext cx="5303520" cy="800100"/>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de Toledo, S.S., Martini, A., Sjøberg, D.I.K., Przybyszewska, A. and Frandsen, J.S. (2021) 'Reducing Incidents in Microservices by Repaying Architectural Technical Debt', 2021 47th Euromicro Conference on Software Engineering and Advanced Applications (SEAA). 2021 47th Euromicro Conference on Software Engineering and Advanced Applications (SEAA), pp. 196–205. Available at: https://doi.org/10.1109/SEAA53835.2021.00033.</a:t>
            </a:r>
            <a:endParaRPr lang="en-US" sz="950" dirty="0"/>
          </a:p>
        </p:txBody>
      </p:sp>
      <p:sp>
        <p:nvSpPr>
          <p:cNvPr id="8" name="Text 6"/>
          <p:cNvSpPr/>
          <p:nvPr/>
        </p:nvSpPr>
        <p:spPr>
          <a:xfrm>
            <a:off x="685800" y="4786884"/>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FINMA Circular 2023/1 - Operational risks and resilience – banks (2024). Available at: https://www.finma.ch/en/~/media/finma/dokumente/dokumentencenter/myfinma/rundschreiben/finma-rs-2023-01-20221207.pdf (Accessed: March 29, 2026).</a:t>
            </a:r>
            <a:endParaRPr lang="en-US" sz="950" dirty="0"/>
          </a:p>
        </p:txBody>
      </p:sp>
      <p:sp>
        <p:nvSpPr>
          <p:cNvPr id="9" name="Text 7"/>
          <p:cNvSpPr/>
          <p:nvPr/>
        </p:nvSpPr>
        <p:spPr>
          <a:xfrm>
            <a:off x="685800" y="5413248"/>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Forsgren, N., Humble, J. and Kim, G. (2018) Accelerate: The Science of Lean Software and DevOps: Building and Scaling High Performing Technology Organizations. Portland, OR: IT Revolution Press.</a:t>
            </a:r>
            <a:endParaRPr lang="en-US" sz="950" dirty="0"/>
          </a:p>
        </p:txBody>
      </p:sp>
      <p:sp>
        <p:nvSpPr>
          <p:cNvPr id="10" name="Text 8"/>
          <p:cNvSpPr/>
          <p:nvPr/>
        </p:nvSpPr>
        <p:spPr>
          <a:xfrm>
            <a:off x="6217920" y="1828800"/>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García-Cascales, M.S. and Lamata, M.T. (2012) 'On rank reversal and TOPSIS method', Mathematical and Computer Modelling, 56(5), pp. 123–132. Available at: https://doi.org/10.1016/j.mcm.2011.12.022.</a:t>
            </a:r>
            <a:endParaRPr lang="en-US" sz="950" dirty="0"/>
          </a:p>
        </p:txBody>
      </p:sp>
      <p:sp>
        <p:nvSpPr>
          <p:cNvPr id="11" name="Text 9"/>
          <p:cNvSpPr/>
          <p:nvPr/>
        </p:nvSpPr>
        <p:spPr>
          <a:xfrm>
            <a:off x="6217920" y="2455164"/>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Hevner, A.R., March, S.T., Park, J. and Ram, S. (2004) 'Design Science in Information Systems Research', MIS Quarterly, 28(1), pp. 75–105. Available at: https://doi.org/10.2307/25148625.</a:t>
            </a:r>
            <a:endParaRPr lang="en-US" sz="950" dirty="0"/>
          </a:p>
        </p:txBody>
      </p:sp>
      <p:sp>
        <p:nvSpPr>
          <p:cNvPr id="12" name="Text 10"/>
          <p:cNvSpPr/>
          <p:nvPr/>
        </p:nvSpPr>
        <p:spPr>
          <a:xfrm>
            <a:off x="6217920" y="3081528"/>
            <a:ext cx="5303520" cy="649224"/>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Lenarduzzi, V., Besker, T., Taibi, D., Martini, A. and Arcelli Fontana, F. (2021) 'A systematic literature review on Technical Debt prioritization: Strategies, processes, factors, and tools', Journal of Systems and Software, 171, p. 110827. Available at: https://doi.org/10.1016/j.jss.2020.110827.</a:t>
            </a:r>
            <a:endParaRPr lang="en-US" sz="950" dirty="0"/>
          </a:p>
        </p:txBody>
      </p:sp>
      <p:sp>
        <p:nvSpPr>
          <p:cNvPr id="13" name="Text 11"/>
          <p:cNvSpPr/>
          <p:nvPr/>
        </p:nvSpPr>
        <p:spPr>
          <a:xfrm>
            <a:off x="6217920" y="3858768"/>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Nord, R.L., Ozkaya, I. and Woody, C. (2021) Examples of Technical Debt’s Cybersecurity Impact. Pittsburgh, PA, USA: Carnegie Mellon University, pp. 1–21. Available at: https://apps.dtic.mil/sti/trecms/pdf/AD1144728.pdf (Accessed: April 27, 2026).</a:t>
            </a:r>
            <a:endParaRPr lang="en-US" sz="950" dirty="0"/>
          </a:p>
        </p:txBody>
      </p:sp>
      <p:sp>
        <p:nvSpPr>
          <p:cNvPr id="14" name="Text 12"/>
          <p:cNvSpPr/>
          <p:nvPr/>
        </p:nvSpPr>
        <p:spPr>
          <a:xfrm>
            <a:off x="6217920" y="4485132"/>
            <a:ext cx="5303520" cy="649224"/>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Tizio, G.D., Armellini, M. and Massacci, F. (2023) 'Software Updates Strategies: A Quantitative Evaluation Against Advanced Persistent Threats', IEEE Transactions on Software Engineering, 49(3), pp. 1359–1373. Available at: https://doi.org/10.1109/TSE.2022.3176674.</a:t>
            </a:r>
            <a:endParaRPr lang="en-US" sz="950" dirty="0"/>
          </a:p>
        </p:txBody>
      </p:sp>
      <p:sp>
        <p:nvSpPr>
          <p:cNvPr id="15" name="Text 13"/>
          <p:cNvSpPr/>
          <p:nvPr/>
        </p:nvSpPr>
        <p:spPr>
          <a:xfrm>
            <a:off x="6217920" y="5262372"/>
            <a:ext cx="5303520" cy="498348"/>
          </a:xfrm>
          <a:prstGeom prst="rect">
            <a:avLst/>
          </a:prstGeom>
          <a:noFill/>
          <a:ln/>
        </p:spPr>
        <p:txBody>
          <a:bodyPr wrap="square" lIns="0" tIns="0" rIns="0" bIns="0" rtlCol="0" anchor="t"/>
          <a:lstStyle/>
          <a:p>
            <a:pPr indent="0" marL="0">
              <a:lnSpc>
                <a:spcPct val="105000"/>
              </a:lnSpc>
              <a:buNone/>
            </a:pPr>
            <a:r>
              <a:rPr lang="en-US" sz="950" dirty="0">
                <a:solidFill>
                  <a:srgbClr val="2A3F55"/>
                </a:solidFill>
                <a:latin typeface="Arial" pitchFamily="34" charset="0"/>
                <a:ea typeface="Arial" pitchFamily="34" charset="-122"/>
                <a:cs typeface="Arial" pitchFamily="34" charset="-120"/>
              </a:rPr>
              <a:t>Yang, W. (2020) 'Ingenious Solution for the Rank Reversal Problem of TOPSIS Method', Mathematical Problems in Engineering, 2020(1), p. 9676518. Available at: https://doi.org/10.1155/2020/9676518.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MSc Thesis Defence</dc:creator>
  <cp:lastModifiedBy>MSc Thesis Defence</cp:lastModifiedBy>
  <cp:revision>1</cp:revision>
  <dcterms:created xsi:type="dcterms:W3CDTF">2026-07-27T17:42:27Z</dcterms:created>
  <dcterms:modified xsi:type="dcterms:W3CDTF">2026-07-27T17:42:27Z</dcterms:modified>
</cp:coreProperties>
</file>