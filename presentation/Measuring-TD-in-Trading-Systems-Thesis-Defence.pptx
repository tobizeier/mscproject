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57" r:id="rId3"/>
    <p:sldId id="272" r:id="rId4"/>
    <p:sldId id="273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4" r:id="rId14"/>
    <p:sldId id="269" r:id="rId15"/>
    <p:sldId id="270" r:id="rId1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791C"/>
    <a:srgbClr val="13203F"/>
    <a:srgbClr val="5B6784"/>
    <a:srgbClr val="F4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77"/>
    <p:restoredTop sz="94743"/>
  </p:normalViewPr>
  <p:slideViewPr>
    <p:cSldViewPr snapToGrid="0">
      <p:cViewPr varScale="1">
        <p:scale>
          <a:sx n="121" d="100"/>
          <a:sy n="121" d="100"/>
        </p:scale>
        <p:origin x="17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1E6FB-D8FF-314A-9117-E719EF5E90D5}" type="datetimeFigureOut">
              <a:rPr lang="en-CH" smtClean="0"/>
              <a:t>16.08.2026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15C89-4AF5-2C4E-BDE9-7FF999E0178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0638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15C89-4AF5-2C4E-BDE9-7FF999E01781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22881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EC2E6-33BE-365D-CD54-7027CF93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36D91-4815-1798-736E-5135EC33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C7EAC-CC99-FFE3-F307-BCD5D0B49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6F23C-B492-B504-9E6E-41F644C36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58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6409-6916-0D11-A3CD-CDD47D59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6A65F-7BBD-BB1C-475B-6B5DF43A3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15F1F-0548-FA93-42D4-703F9CB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DE8D9-DDC3-6745-E10B-5C625B6F2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03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5CC6-DC1A-449B-6722-6F93FE364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15715-B911-C4E1-822E-DC8E4358D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18" name="Date Placeholder 11">
            <a:extLst>
              <a:ext uri="{FF2B5EF4-FFF2-40B4-BE49-F238E27FC236}">
                <a16:creationId xmlns:a16="http://schemas.microsoft.com/office/drawing/2014/main" id="{77FABEED-A8CD-E59E-4FCC-934B32108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047E-B4B0-4DE8-B14D-9A9166827141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9" name="Slide Number Placeholder 12">
            <a:extLst>
              <a:ext uri="{FF2B5EF4-FFF2-40B4-BE49-F238E27FC236}">
                <a16:creationId xmlns:a16="http://schemas.microsoft.com/office/drawing/2014/main" id="{B067A96A-6E4D-0EC6-5735-6639BDB07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Footer Placeholder 13">
            <a:extLst>
              <a:ext uri="{FF2B5EF4-FFF2-40B4-BE49-F238E27FC236}">
                <a16:creationId xmlns:a16="http://schemas.microsoft.com/office/drawing/2014/main" id="{84364180-4B26-3892-03F3-B46AFC87E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52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D6E3-AC30-BCCE-D1AF-2985E5E9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2C51-286A-FAD9-E7F9-09F730818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8" name="Date Placeholder 11">
            <a:extLst>
              <a:ext uri="{FF2B5EF4-FFF2-40B4-BE49-F238E27FC236}">
                <a16:creationId xmlns:a16="http://schemas.microsoft.com/office/drawing/2014/main" id="{1F26997C-D90B-8249-0FA1-AA4B8D347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11416-94C2-4FA3-8BB3-C473D4632185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9" name="Slide Number Placeholder 12">
            <a:extLst>
              <a:ext uri="{FF2B5EF4-FFF2-40B4-BE49-F238E27FC236}">
                <a16:creationId xmlns:a16="http://schemas.microsoft.com/office/drawing/2014/main" id="{04E69DB8-7B5B-C272-980C-ADBE0013B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Footer Placeholder 13">
            <a:extLst>
              <a:ext uri="{FF2B5EF4-FFF2-40B4-BE49-F238E27FC236}">
                <a16:creationId xmlns:a16="http://schemas.microsoft.com/office/drawing/2014/main" id="{C5CAE2C3-00E5-1B08-76A4-99AC68D78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01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3A75-09B4-3F99-C80E-E503EAA4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8F19C-42DA-9FD5-41A7-437ADC28B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Date Placeholder 11">
            <a:extLst>
              <a:ext uri="{FF2B5EF4-FFF2-40B4-BE49-F238E27FC236}">
                <a16:creationId xmlns:a16="http://schemas.microsoft.com/office/drawing/2014/main" id="{D84BBE9B-8447-49E8-F206-64D7CC30D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B043F-955F-44BD-935B-3E632ED9A93A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9" name="Slide Number Placeholder 12">
            <a:extLst>
              <a:ext uri="{FF2B5EF4-FFF2-40B4-BE49-F238E27FC236}">
                <a16:creationId xmlns:a16="http://schemas.microsoft.com/office/drawing/2014/main" id="{77F55C59-0010-4136-C579-31547FBA8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Footer Placeholder 13">
            <a:extLst>
              <a:ext uri="{FF2B5EF4-FFF2-40B4-BE49-F238E27FC236}">
                <a16:creationId xmlns:a16="http://schemas.microsoft.com/office/drawing/2014/main" id="{B4F7993D-C04E-EABF-9B39-7EC881941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45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9BAC-214F-7087-EBF3-AE4530B6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5CFEA-250C-A21E-CFC4-E2A7F2C5E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47BBA-084E-E491-59BF-683A152B4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18E07BD-E152-C684-1950-61A76FA2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5FDCF-5EE4-4878-AB91-E8AC89F79CE3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20" name="Slide Number Placeholder 12">
            <a:extLst>
              <a:ext uri="{FF2B5EF4-FFF2-40B4-BE49-F238E27FC236}">
                <a16:creationId xmlns:a16="http://schemas.microsoft.com/office/drawing/2014/main" id="{385B14BA-C87C-0434-1F99-02F2A437A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1" name="Footer Placeholder 13">
            <a:extLst>
              <a:ext uri="{FF2B5EF4-FFF2-40B4-BE49-F238E27FC236}">
                <a16:creationId xmlns:a16="http://schemas.microsoft.com/office/drawing/2014/main" id="{0C2107E8-3ACE-0392-E370-F7DA6B521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70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0F57-BE4A-A743-2E42-3710D1CAD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BC167-5D57-EEEC-3B3D-C255C72FE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CA891-A56D-09D2-AF8D-FFDF5F9F4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B519C-50B9-F180-47D9-9C10D98C3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431B-8666-748D-73C2-264B84B91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5169FB1C-4784-5EE0-D91E-25F21E62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AE65-C4FA-4A43-BE8F-264B1224F450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20" name="Slide Number Placeholder 12">
            <a:extLst>
              <a:ext uri="{FF2B5EF4-FFF2-40B4-BE49-F238E27FC236}">
                <a16:creationId xmlns:a16="http://schemas.microsoft.com/office/drawing/2014/main" id="{4E137B58-2C65-4EFE-FB1C-FEB681EB4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1" name="Footer Placeholder 13">
            <a:extLst>
              <a:ext uri="{FF2B5EF4-FFF2-40B4-BE49-F238E27FC236}">
                <a16:creationId xmlns:a16="http://schemas.microsoft.com/office/drawing/2014/main" id="{61E2EB64-44EE-2351-2AAF-E1C7811675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85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4584-414F-4EA5-4BAE-4978C8F8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7" name="Date Placeholder 11">
            <a:extLst>
              <a:ext uri="{FF2B5EF4-FFF2-40B4-BE49-F238E27FC236}">
                <a16:creationId xmlns:a16="http://schemas.microsoft.com/office/drawing/2014/main" id="{E37E5942-12E7-36B4-2E3D-86F17C113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88C40-3466-4698-A524-3A340549EAD7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96355C04-61E6-7E79-77E2-8E01312E7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9" name="Footer Placeholder 13">
            <a:extLst>
              <a:ext uri="{FF2B5EF4-FFF2-40B4-BE49-F238E27FC236}">
                <a16:creationId xmlns:a16="http://schemas.microsoft.com/office/drawing/2014/main" id="{7CC613C8-018E-0B1D-45FA-443677CD5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88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1">
            <a:extLst>
              <a:ext uri="{FF2B5EF4-FFF2-40B4-BE49-F238E27FC236}">
                <a16:creationId xmlns:a16="http://schemas.microsoft.com/office/drawing/2014/main" id="{8605AD02-E884-A59E-33DB-771F72EE7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CCFBB-BDBD-4A89-80F9-DCD36CF51D83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835E81D4-C14F-D090-A5F9-56911E066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8" name="Footer Placeholder 13">
            <a:extLst>
              <a:ext uri="{FF2B5EF4-FFF2-40B4-BE49-F238E27FC236}">
                <a16:creationId xmlns:a16="http://schemas.microsoft.com/office/drawing/2014/main" id="{9392FAEF-D8C7-7B34-CF56-FCC98A2FD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93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D47F-FB93-F4FA-B7A2-DFF9850AB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3F70F-306C-26A4-2AEB-4D26167CD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F663B-CE07-BBCE-7383-5D14D3AFE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58F4FEED-D309-ED72-427B-898B8594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EF651-C1E2-413C-9502-50791E906517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20" name="Slide Number Placeholder 12">
            <a:extLst>
              <a:ext uri="{FF2B5EF4-FFF2-40B4-BE49-F238E27FC236}">
                <a16:creationId xmlns:a16="http://schemas.microsoft.com/office/drawing/2014/main" id="{B056C69F-20D3-7734-0FD4-DCFBBCDB0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1" name="Footer Placeholder 13">
            <a:extLst>
              <a:ext uri="{FF2B5EF4-FFF2-40B4-BE49-F238E27FC236}">
                <a16:creationId xmlns:a16="http://schemas.microsoft.com/office/drawing/2014/main" id="{846A0531-69D7-1162-EB8F-3031C5CAB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57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879A-031F-257B-D315-A5DC7BFB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0D4CF-1471-65AA-42D4-59A0C6023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AEE77-96EF-0DE0-3DAC-8B12AA231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Date Placeholder 11">
            <a:extLst>
              <a:ext uri="{FF2B5EF4-FFF2-40B4-BE49-F238E27FC236}">
                <a16:creationId xmlns:a16="http://schemas.microsoft.com/office/drawing/2014/main" id="{689C9E44-2CE7-01C3-EBD5-0210FD1C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B0A37-77CD-424F-A2E6-692D2E264308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F15994B7-FD13-6071-2CAD-67A6BC0E1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8" name="Footer Placeholder 13">
            <a:extLst>
              <a:ext uri="{FF2B5EF4-FFF2-40B4-BE49-F238E27FC236}">
                <a16:creationId xmlns:a16="http://schemas.microsoft.com/office/drawing/2014/main" id="{58DA8375-C62F-5540-09D7-1B673A6D3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16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BC7A-F16E-AEAE-A7A6-676944CF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71072-D068-7726-19E4-10F7278BA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8" name="Date Placeholder 11">
            <a:extLst>
              <a:ext uri="{FF2B5EF4-FFF2-40B4-BE49-F238E27FC236}">
                <a16:creationId xmlns:a16="http://schemas.microsoft.com/office/drawing/2014/main" id="{21DCC33B-174E-070D-791B-1BAED9473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46A82-6786-4BEF-A005-07B9FB01AD1F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9" name="Slide Number Placeholder 12">
            <a:extLst>
              <a:ext uri="{FF2B5EF4-FFF2-40B4-BE49-F238E27FC236}">
                <a16:creationId xmlns:a16="http://schemas.microsoft.com/office/drawing/2014/main" id="{79E9A1BB-FB19-6979-5064-9F93A28DA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Footer Placeholder 13">
            <a:extLst>
              <a:ext uri="{FF2B5EF4-FFF2-40B4-BE49-F238E27FC236}">
                <a16:creationId xmlns:a16="http://schemas.microsoft.com/office/drawing/2014/main" id="{2D6FC6D6-D76B-54D4-47A9-A97F0B0E5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08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4B5C4-1E1E-3D62-62D9-EF0C75CD1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5F602-7051-E4D6-7789-5993D60B4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C002287-C2CE-5F02-4F40-F0DDE3C38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82"/>
            <a:ext cx="4393556" cy="365125"/>
          </a:xfrm>
          <a:prstGeom prst="rect">
            <a:avLst/>
          </a:prstGeom>
        </p:spPr>
        <p:txBody>
          <a:bodyPr lIns="0" anchor="ctr" anchorCtr="0"/>
          <a:lstStyle>
            <a:lvl1pPr>
              <a:defRPr lang="de-CH" sz="1000" kern="1200" baseline="0" dirty="0">
                <a:solidFill>
                  <a:srgbClr val="5B678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Technical Debt in Trading IT · MSc Thesis Presentation</a:t>
            </a:r>
            <a:endParaRPr lang="de-CH" dirty="0"/>
          </a:p>
        </p:txBody>
      </p:sp>
      <p:sp>
        <p:nvSpPr>
          <p:cNvPr id="13" name="Slide Number Placeholder 25">
            <a:extLst>
              <a:ext uri="{FF2B5EF4-FFF2-40B4-BE49-F238E27FC236}">
                <a16:creationId xmlns:a16="http://schemas.microsoft.com/office/drawing/2014/main" id="{FAE0F22C-D00F-81B9-2A61-BCE4470962CE}"/>
              </a:ext>
            </a:extLst>
          </p:cNvPr>
          <p:cNvSpPr txBox="1">
            <a:spLocks/>
          </p:cNvSpPr>
          <p:nvPr userDrawn="1"/>
        </p:nvSpPr>
        <p:spPr>
          <a:xfrm>
            <a:off x="8622102" y="6405082"/>
            <a:ext cx="3002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000" kern="1200">
                <a:solidFill>
                  <a:srgbClr val="5B678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D417CB-0AD8-9E46-AEA4-E926088E86BA}" type="slidenum">
              <a:rPr lang="en-CH" smtClean="0"/>
              <a:pPr/>
              <a:t>‹#›</a:t>
            </a:fld>
            <a:endParaRPr lang="en-CH" dirty="0"/>
          </a:p>
        </p:txBody>
      </p:sp>
      <p:sp>
        <p:nvSpPr>
          <p:cNvPr id="14" name="Date Placeholder 26">
            <a:extLst>
              <a:ext uri="{FF2B5EF4-FFF2-40B4-BE49-F238E27FC236}">
                <a16:creationId xmlns:a16="http://schemas.microsoft.com/office/drawing/2014/main" id="{2182EBDD-1C86-5450-E70C-4C0EA6350C79}"/>
              </a:ext>
            </a:extLst>
          </p:cNvPr>
          <p:cNvSpPr txBox="1">
            <a:spLocks/>
          </p:cNvSpPr>
          <p:nvPr userDrawn="1"/>
        </p:nvSpPr>
        <p:spPr>
          <a:xfrm>
            <a:off x="5191977" y="6405082"/>
            <a:ext cx="3279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indent="0" algn="l" defTabSz="914400" rtl="0" eaLnBrk="1" latinLnBrk="0" hangingPunct="1">
              <a:buNone/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1080B2-52AF-4ED3-90E3-A6774FB5D257}" type="datetime3">
              <a:rPr lang="en-GB" smtClean="0">
                <a:solidFill>
                  <a:srgbClr val="6B7A8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16 August, 2026</a:t>
            </a:fld>
            <a:endParaRPr lang="en-US" dirty="0">
              <a:solidFill>
                <a:srgbClr val="6B7A8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82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1">
            <a:extLst>
              <a:ext uri="{FF2B5EF4-FFF2-40B4-BE49-F238E27FC236}">
                <a16:creationId xmlns:a16="http://schemas.microsoft.com/office/drawing/2014/main" id="{24411A19-6406-1EA6-ED76-2E668B5D4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AB8A7-31A5-4BA1-8C6C-847B0F38C877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0B242850-7EA4-AD07-81CD-9CDD93513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8" name="Footer Placeholder 13">
            <a:extLst>
              <a:ext uri="{FF2B5EF4-FFF2-40B4-BE49-F238E27FC236}">
                <a16:creationId xmlns:a16="http://schemas.microsoft.com/office/drawing/2014/main" id="{48E2D4CE-6567-2A0E-BCD5-0A6D1A2CD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2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40CC7-5AB5-1F05-6815-E405A94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239BF-31E4-05F9-F7D6-20AFC4949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8459C69-B397-8E91-DFDD-2EFFF39CB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9578" y="64050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6D260-0F21-449E-B98E-B5097AE48E3F}" type="datetime1">
              <a:rPr lang="de-CH" smtClean="0"/>
              <a:t>16.08.26</a:t>
            </a:fld>
            <a:endParaRPr lang="de-CH" sz="1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8304C1-31AC-0E58-953E-A287504C8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81872" y="64050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B2A1D4-6E5D-4E84-B417-6A460AAAA253}" type="slidenum">
              <a:rPr lang="de-CH" smtClean="0"/>
              <a:pPr/>
              <a:t>‹#›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BF167E9-3523-A90B-EA61-B67D0BEE8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79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3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cs.org/media/2211/bcs-code-of-conduct.pdf" TargetMode="External"/><Relationship Id="rId13" Type="http://schemas.openxmlformats.org/officeDocument/2006/relationships/hyperlink" Target="https://doi.org/10.1080/0960085X.2022.2088413" TargetMode="External"/><Relationship Id="rId18" Type="http://schemas.openxmlformats.org/officeDocument/2006/relationships/hyperlink" Target="https://apps.dtic.mil/sti/trecms/pdf/AD1144728.pdf" TargetMode="External"/><Relationship Id="rId3" Type="http://schemas.openxmlformats.org/officeDocument/2006/relationships/hyperlink" Target="https://doi.org/10.1109/TSE.2020.3001339" TargetMode="External"/><Relationship Id="rId21" Type="http://schemas.openxmlformats.org/officeDocument/2006/relationships/hyperlink" Target="https://doi.org/10.1109/TSE.2022.3176674" TargetMode="External"/><Relationship Id="rId7" Type="http://schemas.openxmlformats.org/officeDocument/2006/relationships/hyperlink" Target="https://doi.org/10.1016/j.infsof.2023.107375" TargetMode="External"/><Relationship Id="rId12" Type="http://schemas.openxmlformats.org/officeDocument/2006/relationships/hyperlink" Target="https://doi.org/10.1016/j.mcm.2011.12.022" TargetMode="External"/><Relationship Id="rId17" Type="http://schemas.openxmlformats.org/officeDocument/2006/relationships/hyperlink" Target="https://doi.org/10.1016/j.jss.2020.110827" TargetMode="External"/><Relationship Id="rId2" Type="http://schemas.openxmlformats.org/officeDocument/2006/relationships/notesSlide" Target="../notesSlides/notesSlide14.xml"/><Relationship Id="rId16" Type="http://schemas.openxmlformats.org/officeDocument/2006/relationships/hyperlink" Target="https://doi.org/10.1109/CSNT54456.2022.9787620" TargetMode="External"/><Relationship Id="rId20" Type="http://schemas.openxmlformats.org/officeDocument/2006/relationships/hyperlink" Target="https://doi.org/10.24251/HICSS.2021.807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287/mnsc.2019.3542" TargetMode="External"/><Relationship Id="rId11" Type="http://schemas.openxmlformats.org/officeDocument/2006/relationships/hyperlink" Target="https://www.finma.ch/en/~/media/finma/dokumente/dokumentencenter/myfinma/rundschreiben/finma-rs-2023-01-20221207.pdf" TargetMode="External"/><Relationship Id="rId5" Type="http://schemas.openxmlformats.org/officeDocument/2006/relationships/hyperlink" Target="https://doi.org/10.1007/s10664-020-09869-w" TargetMode="External"/><Relationship Id="rId15" Type="http://schemas.openxmlformats.org/officeDocument/2006/relationships/hyperlink" Target="https://doi.org/10.1007/978-3-642-48318-9" TargetMode="External"/><Relationship Id="rId23" Type="http://schemas.openxmlformats.org/officeDocument/2006/relationships/hyperlink" Target="https://doi.org/10.1016/S0377-2217(97)00147-1" TargetMode="External"/><Relationship Id="rId10" Type="http://schemas.openxmlformats.org/officeDocument/2006/relationships/hyperlink" Target="https://www.fedlex.admin.ch/eli/cc/2022/491/en" TargetMode="External"/><Relationship Id="rId19" Type="http://schemas.openxmlformats.org/officeDocument/2006/relationships/hyperlink" Target="https://doi.org/10.2753/MIS0742-1222240302" TargetMode="External"/><Relationship Id="rId4" Type="http://schemas.openxmlformats.org/officeDocument/2006/relationships/hyperlink" Target="https://doi.org/10.1016/j.infsof.2023.107147" TargetMode="External"/><Relationship Id="rId9" Type="http://schemas.openxmlformats.org/officeDocument/2006/relationships/hyperlink" Target="https://doi.org/10.1109/SEAA53835.2021.00033" TargetMode="External"/><Relationship Id="rId14" Type="http://schemas.openxmlformats.org/officeDocument/2006/relationships/hyperlink" Target="https://doi.org/10.2307/25148625" TargetMode="External"/><Relationship Id="rId22" Type="http://schemas.openxmlformats.org/officeDocument/2006/relationships/hyperlink" Target="https://doi.org/10.1155/2020/967651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56BE4-28F3-227C-24A0-B269702B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6">
            <a:extLst>
              <a:ext uri="{FF2B5EF4-FFF2-40B4-BE49-F238E27FC236}">
                <a16:creationId xmlns:a16="http://schemas.microsoft.com/office/drawing/2014/main" id="{96D324BC-5A71-FE03-EDF7-A9067EBBC77C}"/>
              </a:ext>
            </a:extLst>
          </p:cNvPr>
          <p:cNvSpPr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· ARTEFACT PRESENTATION AND DEFENCE</a:t>
            </a:r>
            <a:endParaRPr lang="en-US" sz="1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CB789CE-EEB8-0892-24AA-E886EB0E2C5F}"/>
              </a:ext>
            </a:extLst>
          </p:cNvPr>
          <p:cNvSpPr/>
          <p:nvPr/>
        </p:nvSpPr>
        <p:spPr>
          <a:xfrm>
            <a:off x="566928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Technical Debt in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Mission-Critical Trading Systems</a:t>
            </a:r>
            <a:endParaRPr lang="en-US" sz="4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213CAD1-D9CA-CF16-2ECA-4A26336A9ACA}"/>
              </a:ext>
            </a:extLst>
          </p:cNvPr>
          <p:cNvSpPr/>
          <p:nvPr/>
        </p:nvSpPr>
        <p:spPr>
          <a:xfrm>
            <a:off x="566928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Service-Level Quantitative Framework</a:t>
            </a:r>
            <a:endParaRPr lang="en-US" sz="23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4E06E8D-0139-57C4-EAE4-21B04E1E0C82}"/>
              </a:ext>
            </a:extLst>
          </p:cNvPr>
          <p:cNvSpPr/>
          <p:nvPr/>
        </p:nvSpPr>
        <p:spPr>
          <a:xfrm>
            <a:off x="566928" y="45720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A623C4C-DB78-01B3-CBF2-2C746613E1D3}"/>
              </a:ext>
            </a:extLst>
          </p:cNvPr>
          <p:cNvSpPr/>
          <p:nvPr/>
        </p:nvSpPr>
        <p:spPr>
          <a:xfrm>
            <a:off x="822960" y="471830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Tobias Zeier</a:t>
            </a:r>
            <a:endParaRPr lang="en-US" sz="17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12696372</a:t>
            </a:r>
            <a:endParaRPr lang="en-US" sz="17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Zahid Ullah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Co-Supervisor: Douglas J. Millward</a:t>
            </a:r>
            <a:endParaRPr lang="en-US" sz="17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274095E-548E-047D-D72E-B5C4089B7F4C}"/>
              </a:ext>
            </a:extLst>
          </p:cNvPr>
          <p:cNvSpPr/>
          <p:nvPr/>
        </p:nvSpPr>
        <p:spPr>
          <a:xfrm>
            <a:off x="6766560" y="4718304"/>
            <a:ext cx="4553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Essex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spcBef>
                <a:spcPts val="200"/>
              </a:spcBef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Computing Department</a:t>
            </a:r>
          </a:p>
          <a:p>
            <a:pPr algn="r">
              <a:spcBef>
                <a:spcPts val="200"/>
              </a:spcBef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IT Management</a:t>
            </a:r>
          </a:p>
          <a:p>
            <a:pPr algn="r">
              <a:spcBef>
                <a:spcPts val="200"/>
              </a:spcBef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 August 2026</a:t>
            </a:r>
          </a:p>
        </p:txBody>
      </p:sp>
      <p:pic>
        <p:nvPicPr>
          <p:cNvPr id="3" name="Image 0" descr="logo_white.png">
            <a:extLst>
              <a:ext uri="{FF2B5EF4-FFF2-40B4-BE49-F238E27FC236}">
                <a16:creationId xmlns:a16="http://schemas.microsoft.com/office/drawing/2014/main" id="{94066568-0990-6BB0-37AE-CB4DD5200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144" y="853186"/>
            <a:ext cx="1857128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65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that source-code tools cannot see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mission-critical trading IT, technical debt accumulates </a:t>
            </a:r>
            <a:r>
              <a:rPr lang="en-US" sz="140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source code: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infrastructure-lifecycle exposure, patch delay and operational instability.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640080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tools (SonarQube, SQALE, CAST) operationalise debt from source-code rule violations. They are inapplicable where code is vendor-hosted or outsourced.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code access, three tools on the same codebase can return substantially divergent estimates (Amanatidis </a:t>
            </a:r>
            <a:r>
              <a:rPr lang="en-US" sz="14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2020).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platform and vulnerability debt stay largely invisible to static analysis.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5595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400" i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quantitative, service-level way to prioritise debt where source code cannot be reached.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4206240" cy="1170432"/>
          </a:xfrm>
          <a:prstGeom prst="roundRect">
            <a:avLst>
              <a:gd name="adj" fmla="val 7031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7662672" y="18288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6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</a:t>
            </a:r>
            <a:r>
              <a:rPr lang="en-US" sz="2000" b="1" dirty="0">
                <a:solidFill>
                  <a:srgbClr val="C6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205546" y="1865376"/>
            <a:ext cx="22701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odds of compromise at just one month of patch delay (Tizio, Armellini and Massacci, 2023)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3063240"/>
            <a:ext cx="4206240" cy="1170432"/>
          </a:xfrm>
          <a:prstGeom prst="roundRect">
            <a:avLst>
              <a:gd name="adj" fmla="val 7031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7662672" y="31546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7D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r>
              <a:rPr lang="en-US" sz="2000" b="1" dirty="0">
                <a:solidFill>
                  <a:srgbClr val="1F7D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205546" y="3191256"/>
            <a:ext cx="22701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 after targeted architectural-debt repayment (de Toledo </a:t>
            </a:r>
            <a:r>
              <a:rPr lang="en-US" sz="12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</a:t>
            </a: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2021)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4389120"/>
            <a:ext cx="4206240" cy="1170432"/>
          </a:xfrm>
          <a:prstGeom prst="roundRect">
            <a:avLst>
              <a:gd name="adj" fmla="val 7031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7662672" y="448056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en-US" sz="20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05546" y="4517136"/>
            <a:ext cx="22701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return on assets per 10% rise in debt; more than doubling within six years (Banker, Liang and </a:t>
            </a:r>
            <a:r>
              <a:rPr lang="en-US" sz="1200" dirty="0" err="1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Ramasubbu</a:t>
            </a: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2021)</a:t>
            </a:r>
            <a:endParaRPr lang="en-US" sz="1200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76F5A4E-85D8-6759-E87C-026BEFB9C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928" y="640508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9B048BA-01F1-B6F5-CBD6-26E5B7FA0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2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7154-14C1-FE0B-5B92-FB0F3CFE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795D06-1167-C840-A89D-AD066760B3BB}"/>
              </a:ext>
            </a:extLst>
          </p:cNvPr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71402D-AA82-5C01-64D4-D7EE448E9C1D}"/>
              </a:ext>
            </a:extLst>
          </p:cNvPr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D1A206-86F5-79B1-6CC1-96F7D3CF8F87}"/>
              </a:ext>
            </a:extLst>
          </p:cNvPr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fields meet — none joins them up</a:t>
            </a:r>
            <a:endParaRPr lang="en-US" sz="2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8A5A04-4D77-068C-156A-C11EEB8B3534}"/>
              </a:ext>
            </a:extLst>
          </p:cNvPr>
          <p:cNvSpPr/>
          <p:nvPr/>
        </p:nvSpPr>
        <p:spPr>
          <a:xfrm>
            <a:off x="566928" y="16459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44 prioritisation studies, Lenarduzzi </a:t>
            </a:r>
            <a:r>
              <a:rPr lang="en-US" sz="14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(2021) find quantitative multi-criteria approaches uncommon and industrial validation rare.</a:t>
            </a:r>
            <a:endParaRPr lang="en-US" sz="1400" dirty="0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CC50BF6-30E5-3DD1-189F-38F4FF01A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250277"/>
              </p:ext>
            </p:extLst>
          </p:nvPr>
        </p:nvGraphicFramePr>
        <p:xfrm>
          <a:off x="566927" y="2092664"/>
          <a:ext cx="11057840" cy="334018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5558300">
                  <a:extLst>
                    <a:ext uri="{9D8B030D-6E8A-4147-A177-3AD203B41FA5}">
                      <a16:colId xmlns:a16="http://schemas.microsoft.com/office/drawing/2014/main" val="155636013"/>
                    </a:ext>
                  </a:extLst>
                </a:gridCol>
                <a:gridCol w="1374885">
                  <a:extLst>
                    <a:ext uri="{9D8B030D-6E8A-4147-A177-3AD203B41FA5}">
                      <a16:colId xmlns:a16="http://schemas.microsoft.com/office/drawing/2014/main" val="300988681"/>
                    </a:ext>
                  </a:extLst>
                </a:gridCol>
                <a:gridCol w="1374885">
                  <a:extLst>
                    <a:ext uri="{9D8B030D-6E8A-4147-A177-3AD203B41FA5}">
                      <a16:colId xmlns:a16="http://schemas.microsoft.com/office/drawing/2014/main" val="2749544599"/>
                    </a:ext>
                  </a:extLst>
                </a:gridCol>
                <a:gridCol w="1374885">
                  <a:extLst>
                    <a:ext uri="{9D8B030D-6E8A-4147-A177-3AD203B41FA5}">
                      <a16:colId xmlns:a16="http://schemas.microsoft.com/office/drawing/2014/main" val="764097931"/>
                    </a:ext>
                  </a:extLst>
                </a:gridCol>
                <a:gridCol w="1374885">
                  <a:extLst>
                    <a:ext uri="{9D8B030D-6E8A-4147-A177-3AD203B41FA5}">
                      <a16:colId xmlns:a16="http://schemas.microsoft.com/office/drawing/2014/main" val="1935894930"/>
                    </a:ext>
                  </a:extLst>
                </a:gridCol>
              </a:tblGrid>
              <a:tr h="444048">
                <a:tc>
                  <a:txBody>
                    <a:bodyPr/>
                    <a:lstStyle/>
                    <a:p>
                      <a:endParaRPr lang="en-CH" sz="10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Service-level</a:t>
                      </a:r>
                    </a:p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operational indicators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Multi-criteria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GB" sz="1000" b="1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prioritisation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Live operational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(ITSM/CMDB)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Regulated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trading-IT context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757358"/>
                  </a:ext>
                </a:extLst>
              </a:tr>
              <a:tr h="48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Static-analysis tools  (Biazotto </a:t>
                      </a:r>
                      <a:r>
                        <a:rPr lang="en-US" sz="1100" i="1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al., </a:t>
                      </a:r>
                      <a:r>
                        <a:rPr lang="en-US" sz="11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2024; Amanatidis </a:t>
                      </a:r>
                      <a:r>
                        <a:rPr lang="en-US" sz="1100" i="1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al.,</a:t>
                      </a:r>
                      <a:r>
                        <a:rPr lang="en-US" sz="11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2020)</a:t>
                      </a:r>
                      <a:endParaRPr lang="en-US" sz="11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362393"/>
                  </a:ext>
                </a:extLst>
              </a:tr>
              <a:tr h="48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prioritisation  (Lenarduzzi </a:t>
                      </a:r>
                      <a:r>
                        <a:rPr lang="en-US" sz="1100" i="1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</a:t>
                      </a: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., 2021; Alfayez </a:t>
                      </a:r>
                      <a:r>
                        <a:rPr lang="en-US" sz="1100" i="1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</a:t>
                      </a: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2023)</a:t>
                      </a:r>
                      <a:endParaRPr lang="en-US" sz="1100" kern="1200" dirty="0">
                        <a:solidFill>
                          <a:srgbClr val="5B6784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807077"/>
                  </a:ext>
                </a:extLst>
              </a:tr>
              <a:tr h="48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metrics as proxies  (Forsgren, Humble, and Kim, 2018; Nord, Ozkaya and Woody, 2021)</a:t>
                      </a:r>
                      <a:endParaRPr lang="en-US" sz="1100" kern="1200" dirty="0">
                        <a:solidFill>
                          <a:srgbClr val="5B6784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600" dirty="0"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778783"/>
                  </a:ext>
                </a:extLst>
              </a:tr>
              <a:tr h="48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in financial services  (Haki </a:t>
                      </a:r>
                      <a:r>
                        <a:rPr lang="en-US" sz="1100" i="1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</a:t>
                      </a: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., 2023; Rolland and Lyytinen, 2021)</a:t>
                      </a:r>
                      <a:endParaRPr lang="en-US" sz="1100" kern="1200" dirty="0">
                        <a:solidFill>
                          <a:srgbClr val="5B6784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600" dirty="0"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73523"/>
                  </a:ext>
                </a:extLst>
              </a:tr>
              <a:tr h="48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TOPSIS / MCDM in IT  (Albarak </a:t>
                      </a:r>
                      <a:r>
                        <a:rPr lang="en-US" sz="1100" i="1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al.</a:t>
                      </a:r>
                      <a:r>
                        <a:rPr lang="en-US" sz="1100" kern="1200" dirty="0">
                          <a:solidFill>
                            <a:srgbClr val="5B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2022; Khan and Purohit, 2022)</a:t>
                      </a:r>
                      <a:endParaRPr lang="en-US" sz="1100" kern="1200" dirty="0">
                        <a:solidFill>
                          <a:srgbClr val="5B6784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600" dirty="0">
                          <a:solidFill>
                            <a:srgbClr val="5B6784"/>
                          </a:solidFill>
                        </a:rPr>
                        <a:t>–</a:t>
                      </a:r>
                      <a:endParaRPr lang="en-CH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12743"/>
                  </a:ext>
                </a:extLst>
              </a:tr>
              <a:tr h="482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thesis: TOPSIS on live ITSM / CMDB data</a:t>
                      </a:r>
                      <a:endParaRPr lang="en-US" sz="1100" b="1" kern="1200" dirty="0">
                        <a:solidFill>
                          <a:schemeClr val="bg1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2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550993"/>
                  </a:ext>
                </a:extLst>
              </a:tr>
            </a:tbl>
          </a:graphicData>
        </a:graphic>
      </p:graphicFrame>
      <p:sp>
        <p:nvSpPr>
          <p:cNvPr id="72" name="Text 34">
            <a:extLst>
              <a:ext uri="{FF2B5EF4-FFF2-40B4-BE49-F238E27FC236}">
                <a16:creationId xmlns:a16="http://schemas.microsoft.com/office/drawing/2014/main" id="{E88E8A79-67DE-33E3-11CA-0A158FD5C2F4}"/>
              </a:ext>
            </a:extLst>
          </p:cNvPr>
          <p:cNvSpPr/>
          <p:nvPr/>
        </p:nvSpPr>
        <p:spPr>
          <a:xfrm>
            <a:off x="8023132" y="307167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7EB10682-4608-FA79-3755-13522602CC81}"/>
              </a:ext>
            </a:extLst>
          </p:cNvPr>
          <p:cNvSpPr/>
          <p:nvPr/>
        </p:nvSpPr>
        <p:spPr>
          <a:xfrm>
            <a:off x="8023134" y="4530789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Shape 29">
                <a:extLst>
                  <a:ext uri="{FF2B5EF4-FFF2-40B4-BE49-F238E27FC236}">
                    <a16:creationId xmlns:a16="http://schemas.microsoft.com/office/drawing/2014/main" id="{BB6550F6-27D8-8951-964E-DCE8AB2E3940}"/>
                  </a:ext>
                </a:extLst>
              </p:cNvPr>
              <p:cNvSpPr/>
              <p:nvPr/>
            </p:nvSpPr>
            <p:spPr>
              <a:xfrm>
                <a:off x="6661471" y="3570010"/>
                <a:ext cx="347472" cy="347472"/>
              </a:xfrm>
              <a:prstGeom prst="roundRect">
                <a:avLst>
                  <a:gd name="adj" fmla="val 50000"/>
                </a:avLst>
              </a:prstGeom>
              <a:solidFill>
                <a:srgbClr val="F1E4C9"/>
              </a:solidFill>
              <a:ln w="12700">
                <a:solidFill>
                  <a:srgbClr val="E8A33D"/>
                </a:solidFill>
                <a:prstDash val="solid"/>
              </a:ln>
            </p:spPr>
            <p:txBody>
              <a:bodyPr lIns="54000" anchor="ctr" anchorCtr="0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H" sz="1600" i="1" smtClean="0">
                          <a:solidFill>
                            <a:srgbClr val="C679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lang="en-CH" sz="1600" dirty="0">
                  <a:solidFill>
                    <a:srgbClr val="C6791C"/>
                  </a:solidFill>
                </a:endParaRPr>
              </a:p>
            </p:txBody>
          </p:sp>
        </mc:Choice>
        <mc:Fallback xmlns="">
          <p:sp>
            <p:nvSpPr>
              <p:cNvPr id="83" name="Shape 29">
                <a:extLst>
                  <a:ext uri="{FF2B5EF4-FFF2-40B4-BE49-F238E27FC236}">
                    <a16:creationId xmlns:a16="http://schemas.microsoft.com/office/drawing/2014/main" id="{BB6550F6-27D8-8951-964E-DCE8AB2E39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71" y="3570010"/>
                <a:ext cx="347472" cy="347472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E8A33D"/>
                </a:solidFill>
                <a:prstDash val="solid"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Shape 29">
                <a:extLst>
                  <a:ext uri="{FF2B5EF4-FFF2-40B4-BE49-F238E27FC236}">
                    <a16:creationId xmlns:a16="http://schemas.microsoft.com/office/drawing/2014/main" id="{8246F1A6-4C01-94D4-8B3E-060A95615AF3}"/>
                  </a:ext>
                </a:extLst>
              </p:cNvPr>
              <p:cNvSpPr/>
              <p:nvPr/>
            </p:nvSpPr>
            <p:spPr>
              <a:xfrm>
                <a:off x="6661471" y="4043165"/>
                <a:ext cx="347472" cy="347472"/>
              </a:xfrm>
              <a:prstGeom prst="roundRect">
                <a:avLst>
                  <a:gd name="adj" fmla="val 50000"/>
                </a:avLst>
              </a:prstGeom>
              <a:solidFill>
                <a:srgbClr val="F1E4C9"/>
              </a:solidFill>
              <a:ln w="12700">
                <a:solidFill>
                  <a:srgbClr val="E8A33D"/>
                </a:solidFill>
                <a:prstDash val="solid"/>
              </a:ln>
            </p:spPr>
            <p:txBody>
              <a:bodyPr lIns="54000" anchor="ctr" anchorCtr="0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H" sz="1600" b="1" i="0" smtClean="0">
                          <a:solidFill>
                            <a:srgbClr val="C679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lang="en-CH" b="1" dirty="0">
                  <a:solidFill>
                    <a:srgbClr val="C6791C"/>
                  </a:solidFill>
                </a:endParaRPr>
              </a:p>
            </p:txBody>
          </p:sp>
        </mc:Choice>
        <mc:Fallback xmlns="">
          <p:sp>
            <p:nvSpPr>
              <p:cNvPr id="85" name="Shape 29">
                <a:extLst>
                  <a:ext uri="{FF2B5EF4-FFF2-40B4-BE49-F238E27FC236}">
                    <a16:creationId xmlns:a16="http://schemas.microsoft.com/office/drawing/2014/main" id="{8246F1A6-4C01-94D4-8B3E-060A95615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71" y="4043165"/>
                <a:ext cx="347472" cy="347472"/>
              </a:xfrm>
              <a:prstGeom prst="roundRect">
                <a:avLst>
                  <a:gd name="adj" fmla="val 50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8A33D"/>
                </a:solidFill>
                <a:prstDash val="solid"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 30">
                <a:extLst>
                  <a:ext uri="{FF2B5EF4-FFF2-40B4-BE49-F238E27FC236}">
                    <a16:creationId xmlns:a16="http://schemas.microsoft.com/office/drawing/2014/main" id="{74354838-C7B3-02FF-3C5D-BFA5AF452E7B}"/>
                  </a:ext>
                </a:extLst>
              </p:cNvPr>
              <p:cNvSpPr/>
              <p:nvPr/>
            </p:nvSpPr>
            <p:spPr>
              <a:xfrm>
                <a:off x="6661471" y="4030639"/>
                <a:ext cx="347472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86" name="Text 30">
                <a:extLst>
                  <a:ext uri="{FF2B5EF4-FFF2-40B4-BE49-F238E27FC236}">
                    <a16:creationId xmlns:a16="http://schemas.microsoft.com/office/drawing/2014/main" id="{74354838-C7B3-02FF-3C5D-BFA5AF452E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71" y="4030639"/>
                <a:ext cx="347472" cy="347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Shape 29">
                <a:extLst>
                  <a:ext uri="{FF2B5EF4-FFF2-40B4-BE49-F238E27FC236}">
                    <a16:creationId xmlns:a16="http://schemas.microsoft.com/office/drawing/2014/main" id="{54975281-B311-0F33-2788-53D51280C807}"/>
                  </a:ext>
                </a:extLst>
              </p:cNvPr>
              <p:cNvSpPr/>
              <p:nvPr/>
            </p:nvSpPr>
            <p:spPr>
              <a:xfrm>
                <a:off x="9384792" y="3570010"/>
                <a:ext cx="347472" cy="347472"/>
              </a:xfrm>
              <a:prstGeom prst="roundRect">
                <a:avLst>
                  <a:gd name="adj" fmla="val 50000"/>
                </a:avLst>
              </a:prstGeom>
              <a:solidFill>
                <a:srgbClr val="F1E4C9"/>
              </a:solidFill>
              <a:ln w="12700">
                <a:solidFill>
                  <a:srgbClr val="E8A33D"/>
                </a:solidFill>
                <a:prstDash val="solid"/>
              </a:ln>
            </p:spPr>
            <p:txBody>
              <a:bodyPr lIns="54000" anchor="ctr" anchorCtr="0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H" sz="1600" b="1" i="0" smtClean="0">
                          <a:solidFill>
                            <a:srgbClr val="C679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lang="en-CH" b="1" dirty="0">
                  <a:solidFill>
                    <a:srgbClr val="C6791C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7" name="Shape 29">
                <a:extLst>
                  <a:ext uri="{FF2B5EF4-FFF2-40B4-BE49-F238E27FC236}">
                    <a16:creationId xmlns:a16="http://schemas.microsoft.com/office/drawing/2014/main" id="{54975281-B311-0F33-2788-53D51280C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792" y="3570010"/>
                <a:ext cx="347472" cy="347472"/>
              </a:xfrm>
              <a:prstGeom prst="roundRect">
                <a:avLst>
                  <a:gd name="adj" fmla="val 50000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E8A33D"/>
                </a:solidFill>
                <a:prstDash val="solid"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 52">
                <a:extLst>
                  <a:ext uri="{FF2B5EF4-FFF2-40B4-BE49-F238E27FC236}">
                    <a16:creationId xmlns:a16="http://schemas.microsoft.com/office/drawing/2014/main" id="{36510A14-5A68-01FB-7049-9D41C2E39E09}"/>
                  </a:ext>
                </a:extLst>
              </p:cNvPr>
              <p:cNvSpPr/>
              <p:nvPr/>
            </p:nvSpPr>
            <p:spPr>
              <a:xfrm>
                <a:off x="566928" y="5541264"/>
                <a:ext cx="5529072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2FA37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✓ </a:t>
                </a:r>
                <a:r>
                  <a:rPr lang="en-US" sz="1100" dirty="0">
                    <a:solidFill>
                      <a:srgbClr val="5B67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addressed   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C6791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~ </m:t>
                    </m:r>
                  </m:oMath>
                </a14:m>
                <a:r>
                  <a:rPr lang="en-US" sz="1100" dirty="0">
                    <a:solidFill>
                      <a:srgbClr val="5B67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partial    </a:t>
                </a:r>
                <a:r>
                  <a:rPr lang="en-US" sz="1400" dirty="0">
                    <a:solidFill>
                      <a:srgbClr val="8893A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–  </a:t>
                </a:r>
                <a:r>
                  <a:rPr lang="en-US" sz="1100" dirty="0">
                    <a:solidFill>
                      <a:srgbClr val="5B67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not addressed</a:t>
                </a:r>
                <a:endParaRPr lang="en-US" sz="1200" dirty="0"/>
              </a:p>
            </p:txBody>
          </p:sp>
        </mc:Choice>
        <mc:Fallback xmlns="">
          <p:sp>
            <p:nvSpPr>
              <p:cNvPr id="89" name="Text 52">
                <a:extLst>
                  <a:ext uri="{FF2B5EF4-FFF2-40B4-BE49-F238E27FC236}">
                    <a16:creationId xmlns:a16="http://schemas.microsoft.com/office/drawing/2014/main" id="{36510A14-5A68-01FB-7049-9D41C2E39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5541264"/>
                <a:ext cx="5529072" cy="274320"/>
              </a:xfrm>
              <a:prstGeom prst="rect">
                <a:avLst/>
              </a:prstGeom>
              <a:blipFill>
                <a:blip r:embed="rId7"/>
                <a:stretch>
                  <a:fillRect l="-1602" t="-9091" b="-31818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Shape 33">
            <a:extLst>
              <a:ext uri="{FF2B5EF4-FFF2-40B4-BE49-F238E27FC236}">
                <a16:creationId xmlns:a16="http://schemas.microsoft.com/office/drawing/2014/main" id="{B1A563A1-10C4-9153-BC33-C2CB70BB905D}"/>
              </a:ext>
            </a:extLst>
          </p:cNvPr>
          <p:cNvSpPr/>
          <p:nvPr/>
        </p:nvSpPr>
        <p:spPr>
          <a:xfrm>
            <a:off x="8023132" y="307297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1" name="Shape 33">
            <a:extLst>
              <a:ext uri="{FF2B5EF4-FFF2-40B4-BE49-F238E27FC236}">
                <a16:creationId xmlns:a16="http://schemas.microsoft.com/office/drawing/2014/main" id="{B28D1C7A-08FD-9F86-AB30-0E21C7F2DE8F}"/>
              </a:ext>
            </a:extLst>
          </p:cNvPr>
          <p:cNvSpPr/>
          <p:nvPr/>
        </p:nvSpPr>
        <p:spPr>
          <a:xfrm>
            <a:off x="10772430" y="4043165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2" name="Shape 33">
            <a:extLst>
              <a:ext uri="{FF2B5EF4-FFF2-40B4-BE49-F238E27FC236}">
                <a16:creationId xmlns:a16="http://schemas.microsoft.com/office/drawing/2014/main" id="{8547CAF6-FC1D-5A99-D493-6C6FAA77B0C8}"/>
              </a:ext>
            </a:extLst>
          </p:cNvPr>
          <p:cNvSpPr/>
          <p:nvPr/>
        </p:nvSpPr>
        <p:spPr>
          <a:xfrm>
            <a:off x="6661471" y="500174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3" name="Shape 33">
            <a:extLst>
              <a:ext uri="{FF2B5EF4-FFF2-40B4-BE49-F238E27FC236}">
                <a16:creationId xmlns:a16="http://schemas.microsoft.com/office/drawing/2014/main" id="{C8725B44-56E9-6F31-6C50-22C804B9DEA6}"/>
              </a:ext>
            </a:extLst>
          </p:cNvPr>
          <p:cNvSpPr/>
          <p:nvPr/>
        </p:nvSpPr>
        <p:spPr>
          <a:xfrm>
            <a:off x="8023132" y="500174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4" name="Shape 33">
            <a:extLst>
              <a:ext uri="{FF2B5EF4-FFF2-40B4-BE49-F238E27FC236}">
                <a16:creationId xmlns:a16="http://schemas.microsoft.com/office/drawing/2014/main" id="{FCF16ACC-DC53-A88E-69DD-A5995A635AF8}"/>
              </a:ext>
            </a:extLst>
          </p:cNvPr>
          <p:cNvSpPr/>
          <p:nvPr/>
        </p:nvSpPr>
        <p:spPr>
          <a:xfrm>
            <a:off x="9384792" y="500174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86E4229B-1B50-9B51-3A05-F8A942DAEE3E}"/>
              </a:ext>
            </a:extLst>
          </p:cNvPr>
          <p:cNvSpPr/>
          <p:nvPr/>
        </p:nvSpPr>
        <p:spPr>
          <a:xfrm>
            <a:off x="10772430" y="500174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 lIns="90000"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CA1EAE1-F1B9-E85F-96EB-3BA1AEEEF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6271320-6CF9-80AF-E247-2881A5C5B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3</a:t>
            </a:fld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7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3896-440C-3288-5473-2187B5A7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BF9A21-C979-A50D-123D-37C6D74CB95D}"/>
              </a:ext>
            </a:extLst>
          </p:cNvPr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A0EEC5-A1C3-4B0B-B788-B17676347CD1}"/>
              </a:ext>
            </a:extLst>
          </p:cNvPr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RESEARCH QUESTIONS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116334-F735-E2DA-16C8-76539101A071}"/>
              </a:ext>
            </a:extLst>
          </p:cNvPr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study set out to answer</a:t>
            </a:r>
            <a:endParaRPr lang="en-US" sz="2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185127-8885-7A77-83EC-C70752983F86}"/>
              </a:ext>
            </a:extLst>
          </p:cNvPr>
          <p:cNvSpPr/>
          <p:nvPr/>
        </p:nvSpPr>
        <p:spPr>
          <a:xfrm>
            <a:off x="566928" y="1691640"/>
            <a:ext cx="11057839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988A44-25FC-40C2-0204-8EADB237046E}"/>
              </a:ext>
            </a:extLst>
          </p:cNvPr>
          <p:cNvSpPr/>
          <p:nvPr/>
        </p:nvSpPr>
        <p:spPr>
          <a:xfrm>
            <a:off x="841248" y="178308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service-level quantitative framework that prioritises technical debt in mission-critical trading systems from operational service-management data, not source-code analysis.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A24D9A-3B9F-83B4-FAB4-51CCE6A94CB4}"/>
              </a:ext>
            </a:extLst>
          </p:cNvPr>
          <p:cNvSpPr/>
          <p:nvPr/>
        </p:nvSpPr>
        <p:spPr>
          <a:xfrm>
            <a:off x="566928" y="2971800"/>
            <a:ext cx="347258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51CEAA8-15A6-E760-7878-39B6462521FE}"/>
              </a:ext>
            </a:extLst>
          </p:cNvPr>
          <p:cNvSpPr/>
          <p:nvPr/>
        </p:nvSpPr>
        <p:spPr>
          <a:xfrm>
            <a:off x="822960" y="324612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13203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AD1A22-2B56-D165-30C7-53F1265EDC97}"/>
              </a:ext>
            </a:extLst>
          </p:cNvPr>
          <p:cNvSpPr/>
          <p:nvPr/>
        </p:nvSpPr>
        <p:spPr>
          <a:xfrm>
            <a:off x="82296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BCDB9CA-7087-E36A-B048-8EA3B2C9FE11}"/>
              </a:ext>
            </a:extLst>
          </p:cNvPr>
          <p:cNvSpPr/>
          <p:nvPr/>
        </p:nvSpPr>
        <p:spPr>
          <a:xfrm>
            <a:off x="2622194" y="33009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86D0EC-92A4-794B-57BA-6338C640048A}"/>
              </a:ext>
            </a:extLst>
          </p:cNvPr>
          <p:cNvSpPr/>
          <p:nvPr/>
        </p:nvSpPr>
        <p:spPr>
          <a:xfrm>
            <a:off x="822960" y="388620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technical debt in mission-critical trading systems be prioritised quantitatively, at the service level, using operational data?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CA514F6-F6BA-4EC9-D5D9-824438E12D59}"/>
              </a:ext>
            </a:extLst>
          </p:cNvPr>
          <p:cNvSpPr/>
          <p:nvPr/>
        </p:nvSpPr>
        <p:spPr>
          <a:xfrm>
            <a:off x="4359554" y="2971800"/>
            <a:ext cx="347258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D31AA7C-675F-DFAD-7448-753E2B06A17D}"/>
              </a:ext>
            </a:extLst>
          </p:cNvPr>
          <p:cNvSpPr/>
          <p:nvPr/>
        </p:nvSpPr>
        <p:spPr>
          <a:xfrm>
            <a:off x="4615586" y="324612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1F7D5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DF976C-FB56-54E1-6B73-06ECCBC93B3B}"/>
              </a:ext>
            </a:extLst>
          </p:cNvPr>
          <p:cNvSpPr/>
          <p:nvPr/>
        </p:nvSpPr>
        <p:spPr>
          <a:xfrm>
            <a:off x="4615586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1A124DA-C855-BB7B-0AF0-815B003949DE}"/>
              </a:ext>
            </a:extLst>
          </p:cNvPr>
          <p:cNvSpPr/>
          <p:nvPr/>
        </p:nvSpPr>
        <p:spPr>
          <a:xfrm>
            <a:off x="4615586" y="388620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 operational service-management metrics serve as valid proxies for technical-debt severity in vendor-dominated enterprise IT?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EF0DE12-B91A-89D2-62FA-269CA87236D6}"/>
              </a:ext>
            </a:extLst>
          </p:cNvPr>
          <p:cNvSpPr/>
          <p:nvPr/>
        </p:nvSpPr>
        <p:spPr>
          <a:xfrm>
            <a:off x="8152181" y="2971800"/>
            <a:ext cx="347258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E7E5078-5B09-2BEB-66D1-F6BFDE83C45D}"/>
              </a:ext>
            </a:extLst>
          </p:cNvPr>
          <p:cNvSpPr/>
          <p:nvPr/>
        </p:nvSpPr>
        <p:spPr>
          <a:xfrm>
            <a:off x="8408213" y="324612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C6791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8639E6B-C110-0795-D132-1A2F32536A62}"/>
              </a:ext>
            </a:extLst>
          </p:cNvPr>
          <p:cNvSpPr/>
          <p:nvPr/>
        </p:nvSpPr>
        <p:spPr>
          <a:xfrm>
            <a:off x="8408213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AA4AA7-53A0-54EC-3FB1-01280E23D3A0}"/>
              </a:ext>
            </a:extLst>
          </p:cNvPr>
          <p:cNvSpPr/>
          <p:nvPr/>
        </p:nvSpPr>
        <p:spPr>
          <a:xfrm>
            <a:off x="8408213" y="3886200"/>
            <a:ext cx="29605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stable are the resulting service rankings when the criterion weights are perturbed?</a:t>
            </a:r>
            <a:endParaRPr lang="en-US" sz="1400" dirty="0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43AADD80-6A17-9580-BE4E-6FA20F639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5B65222-EBBC-4BC6-7067-37BAB3ADD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4</a:t>
            </a:fld>
            <a:endParaRPr lang="de-CH" dirty="0">
              <a:solidFill>
                <a:srgbClr val="5B67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97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Design-Science artefact, evaluated on real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25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146304" cy="457200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1078992" y="2048256"/>
            <a:ext cx="4523080" cy="124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 — Pragmatism</a:t>
            </a:r>
          </a:p>
          <a:p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claim is judged by whether the artefact works in the context it was built for. Debt is treated as a construct with no single true measurement.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70168" y="1828800"/>
            <a:ext cx="525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6626200" y="2084832"/>
            <a:ext cx="146304" cy="457200"/>
          </a:xfrm>
          <a:prstGeom prst="roundRect">
            <a:avLst>
              <a:gd name="adj" fmla="val 18750"/>
            </a:avLst>
          </a:prstGeom>
          <a:solidFill>
            <a:srgbClr val="2FA37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82232" y="2048256"/>
            <a:ext cx="4523080" cy="124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— Design Science Research</a:t>
            </a:r>
          </a:p>
          <a:p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Hevner </a:t>
            </a:r>
            <a:r>
              <a:rPr lang="en-US" sz="14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(2004) seven guidelines; Peffers </a:t>
            </a:r>
            <a:r>
              <a:rPr lang="en-US" sz="14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(2007) six-step process. The contribution is a functional artefact, evaluated analytically.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069080"/>
            <a:ext cx="525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822960" y="4325112"/>
            <a:ext cx="146304" cy="457200"/>
          </a:xfrm>
          <a:prstGeom prst="roundRect">
            <a:avLst>
              <a:gd name="adj" fmla="val 18750"/>
            </a:avLst>
          </a:prstGeom>
          <a:solidFill>
            <a:srgbClr val="223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1078992" y="4288536"/>
            <a:ext cx="452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— Embedded single-organization</a:t>
            </a:r>
          </a:p>
          <a:p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Trading-IT division of a systemically important Swiss financial institution. Unit of analysis: the IT service (a CMDB configuration item). Cross-sectional, Jan 2024 – Dec 2025.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70168" y="4069080"/>
            <a:ext cx="525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6626200" y="4325112"/>
            <a:ext cx="146304" cy="457200"/>
          </a:xfrm>
          <a:prstGeom prst="roundRect">
            <a:avLst>
              <a:gd name="adj" fmla="val 18750"/>
            </a:avLst>
          </a:prstGeom>
          <a:solidFill>
            <a:srgbClr val="5B678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6882232" y="4288536"/>
            <a:ext cx="452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governance</a:t>
            </a:r>
          </a:p>
          <a:p>
            <a:r>
              <a:rPr lang="en-GB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source; no personal data; Head-of-Trading-IT </a:t>
            </a:r>
            <a:r>
              <a:rPr lang="en-ZW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GB" sz="1400" noProof="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nFADP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BCS Code of Conduct. Scores describe services, not teams.</a:t>
            </a:r>
            <a:endParaRPr lang="en-US" sz="14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11A50F26-F92D-2574-301D-A64293D48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3945846-4D8F-F6D0-81FF-5B0EC524E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5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operational indicators, mapped to debt dimensions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7635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731520" y="19293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73152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18379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frequency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24728" y="18379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debt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551176"/>
            <a:ext cx="7635240" cy="658368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52728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 (MTTR)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24728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platform debt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319272"/>
            <a:ext cx="7635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731520" y="34655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33741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 (CFR)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24728" y="33741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debt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087368"/>
            <a:ext cx="7635240" cy="658368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731520" y="42336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FA37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7315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52728" y="4142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recency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24728" y="4142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debt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855464"/>
            <a:ext cx="7635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31520" y="5001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3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73152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52728" y="4910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component-months / component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24728" y="49103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Infrastructure-lifecycle debt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66760" y="19751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23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8366760" y="19751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35440" y="197510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9235440" y="19751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66760" y="274320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23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836676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235440" y="27432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9235440" y="2743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66760" y="351129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23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/>
          <p:nvPr/>
        </p:nvSpPr>
        <p:spPr>
          <a:xfrm>
            <a:off x="8366760" y="3511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35440" y="351129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9235440" y="351129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66760" y="427939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1F7D5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8366760" y="4279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35440" y="4279392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DDF0E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9235440" y="427939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66760" y="504748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1F7D5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7" name="Text 45"/>
          <p:cNvSpPr/>
          <p:nvPr/>
        </p:nvSpPr>
        <p:spPr>
          <a:xfrm>
            <a:off x="8366760" y="5047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235440" y="504748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9" name="Text 47"/>
          <p:cNvSpPr/>
          <p:nvPr/>
        </p:nvSpPr>
        <p:spPr>
          <a:xfrm>
            <a:off x="9235440" y="504748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195560" y="1783080"/>
            <a:ext cx="1417320" cy="3822192"/>
          </a:xfrm>
          <a:prstGeom prst="roundRect">
            <a:avLst>
              <a:gd name="adj" fmla="val 5806"/>
            </a:avLst>
          </a:prstGeom>
          <a:solidFill>
            <a:srgbClr val="13203F"/>
          </a:solidFill>
          <a:ln w="12700">
            <a:solidFill>
              <a:srgbClr val="13203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1" name="Text 49"/>
          <p:cNvSpPr/>
          <p:nvPr/>
        </p:nvSpPr>
        <p:spPr>
          <a:xfrm>
            <a:off x="10195560" y="21488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2FA3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10314432" y="4160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proxies, not established substitutes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6928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on data availability: </a:t>
            </a: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completeness, test-coverage ratio and architectural coupling. All need source repositories or CI/CD artefacts unavailable for vendor-managed components.</a:t>
            </a:r>
            <a:endParaRPr lang="en-US" sz="1200" dirty="0"/>
          </a:p>
        </p:txBody>
      </p:sp>
      <p:sp>
        <p:nvSpPr>
          <p:cNvPr id="63" name="Footer Placeholder 62">
            <a:extLst>
              <a:ext uri="{FF2B5EF4-FFF2-40B4-BE49-F238E27FC236}">
                <a16:creationId xmlns:a16="http://schemas.microsoft.com/office/drawing/2014/main" id="{D0319DF6-02FB-39D2-BC83-2AEE78A18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A85F17AE-8893-D927-044E-7E877E874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6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TOPSIS — one procedure from data to ranked priority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3774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22345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2359152"/>
            <a:ext cx="2157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incidents &amp;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· CMDB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patch 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487168"/>
            <a:ext cx="356616" cy="256032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3447288" y="1828800"/>
            <a:ext cx="23774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3447288" y="182880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F7D5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3447288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indicators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2359152"/>
            <a:ext cx="2157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per-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label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benefit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487168"/>
            <a:ext cx="356616" cy="256032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6327648" y="1828800"/>
            <a:ext cx="23774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6327648" y="182880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C6791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6327648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 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7376" y="2359152"/>
            <a:ext cx="2157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Vector-normalise →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→ ideal best /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→ distances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2487168"/>
            <a:ext cx="356616" cy="256032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9208008" y="1828800"/>
            <a:ext cx="23774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9208008" y="182880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3203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9208008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priority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9317736" y="2359152"/>
                <a:ext cx="2157984" cy="969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Closeness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𝐶</m:t>
                    </m:r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ᵢ ∈ [0,1]</m:t>
                    </m:r>
                  </m:oMath>
                </a14:m>
                <a:endParaRPr lang="en-US" sz="1200" dirty="0">
                  <a:solidFill>
                    <a:srgbClr val="1A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ordered</a:t>
                </a:r>
                <a:endParaRPr lang="en-US" sz="12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remediation list</a:t>
                </a:r>
                <a:endParaRPr lang="en-US" sz="1200" dirty="0"/>
              </a:p>
            </p:txBody>
          </p:sp>
        </mc:Choice>
        <mc:Fallback xmlns=""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736" y="2359152"/>
                <a:ext cx="2157984" cy="969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6327648" y="3566160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6E7CE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6327648" y="35661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8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Absolute-mode variant  </a:t>
            </a:r>
            <a:r>
              <a:rPr lang="en-US" sz="10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bounds → rank-reversal-proof  </a:t>
            </a:r>
            <a:r>
              <a:rPr lang="en-US" sz="1000" i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(García-Cascales and Lamata, 2012; Yang, 2020)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343400"/>
            <a:ext cx="562356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814708" y="4480560"/>
            <a:ext cx="51206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TOPSIS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</a:t>
            </a:r>
            <a:r>
              <a:rPr lang="en-GB" sz="12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weighting and ranking in one procedure (Hwang and Yoon, 1981).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cost &amp; benefit criteria directly, well suited to a ranked service portfolio.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rank reversal among methods that exhibit it (Zanakis </a:t>
            </a:r>
            <a:r>
              <a:rPr lang="en-US" sz="12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1998).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82512" y="4343400"/>
            <a:ext cx="5230368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28"/>
              <p:cNvSpPr/>
              <p:nvPr/>
            </p:nvSpPr>
            <p:spPr>
              <a:xfrm>
                <a:off x="6622412" y="4480560"/>
                <a:ext cx="4754880" cy="15179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 anchorCtr="0"/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500" b="1" dirty="0">
                    <a:solidFill>
                      <a:srgbClr val="13203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Two transparent weightings</a:t>
                </a:r>
              </a:p>
              <a:p>
                <a:pPr>
                  <a:lnSpc>
                    <a:spcPct val="102000"/>
                  </a:lnSpc>
                </a:pPr>
                <a:r>
                  <a:rPr lang="en-US" sz="1200" b="1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Equal (baseline):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𝑤</m:t>
                    </m:r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ⱼ = 0.20 </m:t>
                    </m:r>
                  </m:oMath>
                </a14:m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each, the standard default without empirically justified weights.</a:t>
                </a:r>
                <a:endParaRPr lang="en-US" sz="1200" dirty="0"/>
              </a:p>
              <a:p>
                <a:pPr>
                  <a:lnSpc>
                    <a:spcPct val="102000"/>
                  </a:lnSpc>
                </a:pPr>
                <a:r>
                  <a:rPr lang="en-US" sz="1200" b="1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Differential: </a:t>
                </a: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MTTR &amp; patch recency =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0.30</m:t>
                    </m:r>
                  </m:oMath>
                </a14:m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others =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0.1</m:t>
                    </m:r>
                    <m:acc>
                      <m:accPr>
                        <m:chr m:val="̅"/>
                        <m:ctrlPr>
                          <a:rPr lang="de-CH" sz="1200" b="0" i="1" dirty="0" smtClean="0">
                            <a:solidFill>
                              <a:srgbClr val="1A2540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accPr>
                      <m:e>
                        <m:r>
                          <a:rPr lang="de-CH" sz="1200" b="0" i="1" dirty="0" smtClean="0">
                            <a:solidFill>
                              <a:srgbClr val="1A2540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A practitioner judgement, stated as an explicit assumption and stress-tested in Chapter 5.</a:t>
                </a:r>
                <a:endParaRPr lang="en-US" sz="1200" dirty="0"/>
              </a:p>
            </p:txBody>
          </p:sp>
        </mc:Choice>
        <mc:Fallback xmlns="">
          <p:sp>
            <p:nvSpPr>
              <p:cNvPr id="30" name="Tex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412" y="4480560"/>
                <a:ext cx="4754880" cy="1517904"/>
              </a:xfrm>
              <a:prstGeom prst="rect">
                <a:avLst/>
              </a:prstGeom>
              <a:blipFill>
                <a:blip r:embed="rId4"/>
                <a:stretch>
                  <a:fillRect l="-2400" t="-3306" r="-800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9F4C23DE-A351-7DB7-50E7-F1C98CE26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D0197F71-C018-683E-67B0-7F3980044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7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consistent ranking — and it is not the obvious one</a:t>
            </a:r>
            <a:endParaRPr lang="en-US" sz="2900" dirty="0"/>
          </a:p>
        </p:txBody>
      </p:sp>
      <p:pic>
        <p:nvPicPr>
          <p:cNvPr id="5" name="Image 0" descr="chart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00200"/>
            <a:ext cx="690372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737360"/>
            <a:ext cx="3931920" cy="4160520"/>
          </a:xfrm>
          <a:prstGeom prst="roundRect">
            <a:avLst>
              <a:gd name="adj" fmla="val 2093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4"/>
          <p:cNvSpPr/>
          <p:nvPr/>
        </p:nvSpPr>
        <p:spPr>
          <a:xfrm>
            <a:off x="7918704" y="1883663"/>
            <a:ext cx="34747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6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ranking says</a:t>
            </a:r>
          </a:p>
          <a:p>
            <a:pPr>
              <a:lnSpc>
                <a:spcPct val="103000"/>
              </a:lnSpc>
            </a:pPr>
            <a:r>
              <a:rPr lang="en-US" sz="1400" b="1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SVC-06 is top priority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both weightings and both years, worst or near-worst on four of five indicators.</a:t>
            </a:r>
          </a:p>
          <a:p>
            <a:pPr>
              <a:lnSpc>
                <a:spcPct val="103000"/>
              </a:lnSpc>
            </a:pPr>
            <a:endParaRPr lang="en-US" sz="1400" dirty="0">
              <a:solidFill>
                <a:srgbClr val="1A2540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03000"/>
              </a:lnSpc>
            </a:pPr>
            <a:r>
              <a:rPr lang="en-US" sz="1400" b="1" dirty="0">
                <a:solidFill>
                  <a:srgbClr val="1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SVC-03 is the invariant lowest,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well-maintained reference service.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18704" y="3950208"/>
            <a:ext cx="3429000" cy="0"/>
          </a:xfrm>
          <a:prstGeom prst="line">
            <a:avLst/>
          </a:prstGeom>
          <a:noFill/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8"/>
          <p:cNvSpPr/>
          <p:nvPr/>
        </p:nvSpPr>
        <p:spPr>
          <a:xfrm>
            <a:off x="7918704" y="4069080"/>
            <a:ext cx="3520440" cy="112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Size-normalisation matters.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raw cumulative measure, SVC-01's large estate would top the list. Per-component intensity correctly subordinates it to compact SVC-06, about half out of support, and for far longer.</a:t>
            </a:r>
            <a:endParaRPr lang="en-US" sz="1400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E64E765-21A8-90CA-DE52-B19585897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70925B6-29E6-0FDB-7253-0AD6F63BE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8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3">
            <a:extLst>
              <a:ext uri="{FF2B5EF4-FFF2-40B4-BE49-F238E27FC236}">
                <a16:creationId xmlns:a16="http://schemas.microsoft.com/office/drawing/2014/main" id="{01340B54-7738-F176-34D3-C12CDADC26E5}"/>
              </a:ext>
            </a:extLst>
          </p:cNvPr>
          <p:cNvSpPr/>
          <p:nvPr/>
        </p:nvSpPr>
        <p:spPr>
          <a:xfrm>
            <a:off x="7234177" y="1783080"/>
            <a:ext cx="4390590" cy="4261104"/>
          </a:xfrm>
          <a:prstGeom prst="roundRect">
            <a:avLst>
              <a:gd name="adj" fmla="val 2093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order is trusted, it is tested on five fronts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1539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713232" y="1956816"/>
            <a:ext cx="146304" cy="438912"/>
          </a:xfrm>
          <a:prstGeom prst="roundRect">
            <a:avLst>
              <a:gd name="adj" fmla="val 18750"/>
            </a:avLst>
          </a:prstGeom>
          <a:solidFill>
            <a:srgbClr val="2FA37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950976" y="186537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Stability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2916936" y="1856232"/>
                <a:ext cx="3792016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ct val="98000"/>
                  </a:lnSpc>
                  <a:buNone/>
                </a:pP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Order survives weight change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</m:oMath>
                </a14:m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0.867, 2025) and holds across years; the bottom rank never moves.</a:t>
                </a:r>
                <a:endParaRPr lang="en-US" sz="12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936" y="1856232"/>
                <a:ext cx="3792016" cy="658368"/>
              </a:xfrm>
              <a:prstGeom prst="rect">
                <a:avLst/>
              </a:prstGeom>
              <a:blipFill>
                <a:blip r:embed="rId3"/>
                <a:stretch>
                  <a:fillRect l="-2333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566928" y="2651760"/>
            <a:ext cx="615391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713232" y="2825496"/>
            <a:ext cx="146304" cy="438912"/>
          </a:xfrm>
          <a:prstGeom prst="roundRect">
            <a:avLst>
              <a:gd name="adj" fmla="val 18750"/>
            </a:avLst>
          </a:prstGeom>
          <a:solidFill>
            <a:srgbClr val="2FA37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50976" y="273405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Convergent validity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2916936" y="2724912"/>
                <a:ext cx="3792016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ct val="98000"/>
                  </a:lnSpc>
                  <a:buNone/>
                </a:pP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SAW and VIKOR reproduce the order, absolute-mode agrees perfectly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</m:oMath>
                </a14:m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1.000, 2025 equal).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936" y="2724912"/>
                <a:ext cx="3792016" cy="658368"/>
              </a:xfrm>
              <a:prstGeom prst="rect">
                <a:avLst/>
              </a:prstGeom>
              <a:blipFill>
                <a:blip r:embed="rId4"/>
                <a:stretch>
                  <a:fillRect l="-2333" r="-667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566927" y="3520440"/>
            <a:ext cx="6153911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713232" y="3694176"/>
            <a:ext cx="146304" cy="438912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950976" y="360273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Discriminant value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2916936" y="3593592"/>
                <a:ext cx="3792016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ct val="98000"/>
                  </a:lnSpc>
                  <a:buNone/>
                </a:pPr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Diverges from an incident-only ranking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</m:oMath>
                </a14:m>
                <a:r>
                  <a:rPr lang="en-US" sz="12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0.733) → it catches debt a single signal misses.</a:t>
                </a:r>
                <a:endParaRPr lang="en-US" sz="12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936" y="3593592"/>
                <a:ext cx="3792016" cy="658368"/>
              </a:xfrm>
              <a:prstGeom prst="rect">
                <a:avLst/>
              </a:prstGeom>
              <a:blipFill>
                <a:blip r:embed="rId5"/>
                <a:stretch>
                  <a:fillRect l="-2333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566928" y="4389120"/>
            <a:ext cx="615391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713232" y="4562856"/>
            <a:ext cx="146304" cy="438912"/>
          </a:xfrm>
          <a:prstGeom prst="roundRect">
            <a:avLst>
              <a:gd name="adj" fmla="val 18750"/>
            </a:avLst>
          </a:prstGeom>
          <a:solidFill>
            <a:srgbClr val="2FA37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50976" y="447141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Structural rigour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16936" y="4462272"/>
            <a:ext cx="3792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Absolute-mode order holds under every one of six leave-one-out removals, in both years.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7" y="5257800"/>
            <a:ext cx="6142025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713232" y="5431536"/>
            <a:ext cx="146304" cy="438912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50976" y="53400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Weight-space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16936" y="5330952"/>
            <a:ext cx="3792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Monte-Carlo weightings, the acid test for RQ3 (next slide).</a:t>
            </a:r>
            <a:endParaRPr lang="en-US" sz="1200" dirty="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6"/>
          <a:srcRect t="99" b="99"/>
          <a:stretch/>
        </p:blipFill>
        <p:spPr>
          <a:xfrm>
            <a:off x="7444413" y="1884997"/>
            <a:ext cx="3970117" cy="36457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88975" y="5530788"/>
            <a:ext cx="3880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3: two pairs swap, but SVC-01's rise is the telling one.</a:t>
            </a:r>
            <a:endParaRPr lang="en-US" sz="1100" dirty="0"/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E29E464C-37F4-1577-64D5-CD027DA7F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1BD35DD7-E535-867A-BE6F-FF018E52A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9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— RQ3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 weightings: what is settled vs. what is judgement</a:t>
            </a:r>
            <a:endParaRPr lang="en-US" sz="2900" dirty="0"/>
          </a:p>
        </p:txBody>
      </p:sp>
      <p:pic>
        <p:nvPicPr>
          <p:cNvPr id="5" name="Image 0" descr="chart_montecar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737360"/>
            <a:ext cx="708660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749040" cy="4160520"/>
          </a:xfrm>
          <a:prstGeom prst="roundRect">
            <a:avLst>
              <a:gd name="adj" fmla="val 2195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4"/>
          <p:cNvSpPr/>
          <p:nvPr/>
        </p:nvSpPr>
        <p:spPr>
          <a:xfrm>
            <a:off x="8101584" y="1874519"/>
            <a:ext cx="3291840" cy="240487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1F7D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96.4%</a:t>
            </a:r>
          </a:p>
          <a:p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weightings put SVC-03 at the lowest priority, </a:t>
            </a:r>
            <a:r>
              <a:rPr lang="en-GB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deprioritise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confidence.</a:t>
            </a:r>
          </a:p>
          <a:p>
            <a:endParaRPr lang="en-US" sz="1400" dirty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2600" b="1" dirty="0">
                <a:solidFill>
                  <a:srgbClr val="C6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65.1%</a:t>
            </a:r>
            <a:endParaRPr lang="en-US" sz="2600" dirty="0"/>
          </a:p>
          <a:p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SVC-06 top. Only SVC-04 or SVC-01 ever reach #1. A stable three-service cluster.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01584" y="4370832"/>
            <a:ext cx="3246120" cy="0"/>
          </a:xfrm>
          <a:prstGeom prst="line">
            <a:avLst/>
          </a:prstGeom>
          <a:noFill/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9"/>
          <p:cNvSpPr/>
          <p:nvPr/>
        </p:nvSpPr>
        <p:spPr>
          <a:xfrm>
            <a:off x="8101584" y="4480560"/>
            <a:ext cx="3291840" cy="117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boundary: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are act-on-able; ordering within the top cluster is a managerial judgement, not a settled result. Reproducible from seed 50 (≤ 0.011 on reseed).</a:t>
            </a:r>
            <a:endParaRPr lang="en-US" sz="1400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AB6AB16-7A68-C560-C506-36ED45DF7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BC93469-695F-7CF5-10CE-F09B9F7A3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10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the three research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72586" cy="4114800"/>
          </a:xfrm>
          <a:prstGeom prst="roundRect">
            <a:avLst>
              <a:gd name="adj" fmla="val 237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88919"/>
            <a:ext cx="2960522" cy="234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5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the framework itself.</a:t>
            </a:r>
            <a:endParaRPr lang="en-US" sz="1600" b="1" dirty="0">
              <a:solidFill>
                <a:srgbClr val="FFFFFF"/>
              </a:solidFill>
              <a:latin typeface="Cambria" pitchFamily="34" charset="0"/>
            </a:endParaRPr>
          </a:p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operational indicators feed a TOPSIS model that orders services by debt priority with no recourse to source code. Its multi-criteria form is not decorative: it diverges from an incident-only view.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9554" y="1828800"/>
            <a:ext cx="3472586" cy="4114800"/>
          </a:xfrm>
          <a:prstGeom prst="roundRect">
            <a:avLst>
              <a:gd name="adj" fmla="val 237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4615586" y="2103120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2FA37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4615586" y="21031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5586" y="2788920"/>
            <a:ext cx="2960522" cy="234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5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— to a bounded extent.</a:t>
            </a:r>
          </a:p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behaves as an instrument should: differentiated profiles, no single indicator reproducing the order. Criterion validity is not claimed; the proxy link remains a proposition that survived every test this design allows.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2181" y="1828800"/>
            <a:ext cx="3472586" cy="4114800"/>
          </a:xfrm>
          <a:prstGeom prst="roundRect">
            <a:avLst>
              <a:gd name="adj" fmla="val 237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8408213" y="2103120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8408213" y="21031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8408213" y="2788920"/>
                <a:ext cx="2960522" cy="23467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00000"/>
                  </a:lnSpc>
                  <a:spcAft>
                    <a:spcPts val="5400"/>
                  </a:spcAft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Stable at the extremes.</a:t>
                </a:r>
              </a:p>
              <a:p>
                <a:r>
                  <a:rPr lang="en-US" sz="1400" dirty="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Two weightings agree in 2025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CADC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</m:oMath>
                </a14:m>
                <a:r>
                  <a:rPr lang="en-US" sz="1400" dirty="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0.867); across 20,000 draws SVC-03 is last in 96.4% and SVC-06 first in 65.1%. The top is a stable cluster; its internal order is a managerial call.</a:t>
                </a:r>
                <a:endParaRPr lang="en-US" sz="1400" dirty="0"/>
              </a:p>
              <a:p>
                <a:pPr marL="0" indent="0" algn="l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213" y="2788920"/>
                <a:ext cx="2960522" cy="2346751"/>
              </a:xfrm>
              <a:prstGeom prst="rect">
                <a:avLst/>
              </a:prstGeom>
              <a:blipFill>
                <a:blip r:embed="rId3"/>
                <a:stretch>
                  <a:fillRect l="-3830" t="-2688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AF963FED-C900-CE30-A3FE-36DCF47FC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E727413-38F4-E586-9EB6-D36F22134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11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&amp; CANDOUR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adds — and where it stops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F4F6FB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5029200" cy="314703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F7D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Empirical: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current knowledge, the first TOPSIS on live ITSM/CMDB records for TD </a:t>
            </a:r>
            <a:r>
              <a:rPr lang="en-GB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financial trading IT.</a:t>
            </a:r>
          </a:p>
          <a:p>
            <a:pPr>
              <a:lnSpc>
                <a:spcPct val="102000"/>
              </a:lnSpc>
            </a:pP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Conceptual: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operationally-defined indicator set with an explicit literature-to-dimension mapping.</a:t>
            </a:r>
          </a:p>
          <a:p>
            <a:pPr>
              <a:lnSpc>
                <a:spcPct val="102000"/>
              </a:lnSpc>
            </a:pP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Methodological: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methods diverge on whether a single-dimension extreme should top the list. A compensatory choice; absolute-mode also adds rank-stability.</a:t>
            </a:r>
          </a:p>
          <a:p>
            <a:pPr>
              <a:lnSpc>
                <a:spcPct val="102000"/>
              </a:lnSpc>
            </a:pP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turns routine data into an auditable priority ordering; portfolio oversight; FINMA 2023/1 relevance.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6565392" y="1942748"/>
                <a:ext cx="4846320" cy="31428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 anchorCtr="0"/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1600" b="1" dirty="0">
                    <a:solidFill>
                      <a:srgbClr val="C6791C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Limitations — held in view</a:t>
                </a:r>
              </a:p>
              <a:p>
                <a:pPr marL="177800" indent="-177800">
                  <a:spcAft>
                    <a:spcPts val="8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Six-service demonstration set limits the power of the Kendall's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1A254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</m:oMath>
                </a14:m>
                <a:r>
                  <a:rPr lang="en-US" sz="14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tests.</a:t>
                </a:r>
                <a:endParaRPr lang="en-US" sz="1400" dirty="0"/>
              </a:p>
              <a:p>
                <a:pPr marL="177800" indent="-177800">
                  <a:spcAft>
                    <a:spcPts val="8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same dataset builds and evaluates the framework → robustness &amp; method-independence, not criterion validity.</a:t>
                </a:r>
                <a:endParaRPr lang="en-US" sz="1400" dirty="0"/>
              </a:p>
              <a:p>
                <a:pPr marL="177800" indent="-177800">
                  <a:spcAft>
                    <a:spcPts val="8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Cross-sectional snapshot; a service mid-remediation can look worse than it is.</a:t>
                </a:r>
                <a:endParaRPr lang="en-US" sz="1400" dirty="0"/>
              </a:p>
              <a:p>
                <a:pPr marL="177800" indent="-177800">
                  <a:spcAft>
                    <a:spcPts val="8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CFR shares its incident numerator with incident frequency; recording practices vary across teams.</a:t>
                </a:r>
                <a:endParaRPr lang="en-US" sz="1400" dirty="0"/>
              </a:p>
              <a:p>
                <a:pPr marL="177800" indent="-177800">
                  <a:spcAft>
                    <a:spcPts val="800"/>
                  </a:spcAft>
                  <a:buSzPct val="100000"/>
                  <a:buChar char="•"/>
                </a:pPr>
                <a:r>
                  <a:rPr lang="en-US" sz="1400" dirty="0">
                    <a:solidFill>
                      <a:srgbClr val="1A25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single top rank stays weight-dependent within the SVC-06 / SVC-04 / SVC-01 cluster, a compensability judgement.</a:t>
                </a:r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1942748"/>
                <a:ext cx="4846320" cy="3142819"/>
              </a:xfrm>
              <a:prstGeom prst="rect">
                <a:avLst/>
              </a:prstGeom>
              <a:blipFill>
                <a:blip r:embed="rId3"/>
                <a:stretch>
                  <a:fillRect l="-2350" t="-2419" r="-1305"/>
                </a:stretch>
              </a:blipFill>
              <a:ln/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0963D0E-02ED-7537-604A-452E29C66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6FC91F9-B361-DE82-34FC-6B9268FB9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12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1500" y="1828800"/>
            <a:ext cx="3467100" cy="4114800"/>
          </a:xfrm>
          <a:prstGeom prst="roundRect">
            <a:avLst>
              <a:gd name="adj" fmla="val 6000"/>
            </a:avLst>
          </a:prstGeom>
          <a:solidFill>
            <a:srgbClr val="22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5500" y="3235702"/>
            <a:ext cx="2959100" cy="130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Cambria"/>
              </a:rPr>
              <a:t>The hard part was definitional</a:t>
            </a:r>
          </a:p>
          <a:p>
            <a:pPr>
              <a:lnSpc>
                <a:spcPct val="112000"/>
              </a:lnSpc>
            </a:pPr>
            <a:r>
              <a:rPr sz="1400" b="0" i="0" dirty="0">
                <a:solidFill>
                  <a:srgbClr val="D7DEEC"/>
                </a:solidFill>
                <a:latin typeface="Calibri"/>
              </a:rPr>
              <a:t>I expected the difficulty to be computational. It was deciding what an incident count or a derived change failure rate can legitimately mean.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6100" y="1828800"/>
            <a:ext cx="3467100" cy="4114800"/>
          </a:xfrm>
          <a:prstGeom prst="roundRect">
            <a:avLst>
              <a:gd name="adj" fmla="val 6000"/>
            </a:avLst>
          </a:prstGeom>
          <a:solidFill>
            <a:srgbClr val="22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610100" y="3235702"/>
            <a:ext cx="2959100" cy="130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Cambria"/>
              </a:rPr>
              <a:t>Disagreement taught the most</a:t>
            </a:r>
          </a:p>
          <a:p>
            <a:pPr>
              <a:lnSpc>
                <a:spcPct val="112000"/>
              </a:lnSpc>
            </a:pPr>
            <a:r>
              <a:rPr sz="1400" b="0" i="0" dirty="0">
                <a:solidFill>
                  <a:srgbClr val="D7DEEC"/>
                </a:solidFill>
                <a:latin typeface="Calibri"/>
              </a:rPr>
              <a:t>I expected the other methods to just confirm the order. Their split over SVC-06 forced an explicit stance: are debt dimensions compensatory?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3400" y="1828800"/>
            <a:ext cx="3467100" cy="4114800"/>
          </a:xfrm>
          <a:prstGeom prst="roundRect">
            <a:avLst>
              <a:gd name="adj" fmla="val 6000"/>
            </a:avLst>
          </a:prstGeom>
          <a:solidFill>
            <a:srgbClr val="22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07400" y="2991948"/>
            <a:ext cx="2959100" cy="1788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b="1" dirty="0">
                <a:solidFill>
                  <a:srgbClr val="FFFFFF"/>
                </a:solidFill>
                <a:latin typeface="Cambria"/>
              </a:rPr>
              <a:t>Design Science set the standard of proof</a:t>
            </a:r>
          </a:p>
          <a:p>
            <a:pPr>
              <a:lnSpc>
                <a:spcPct val="112000"/>
              </a:lnSpc>
            </a:pPr>
            <a:r>
              <a:rPr sz="1400" b="0" i="0" dirty="0">
                <a:solidFill>
                  <a:srgbClr val="D7DEEC"/>
                </a:solidFill>
                <a:latin typeface="Calibri"/>
              </a:rPr>
              <a:t>It held the line between what the artefact demonstrates and what it merely suggests</a:t>
            </a:r>
            <a:r>
              <a:rPr lang="de-CH" sz="1400" b="0" i="0" dirty="0">
                <a:solidFill>
                  <a:srgbClr val="D7DEEC"/>
                </a:solidFill>
                <a:latin typeface="Calibri"/>
              </a:rPr>
              <a:t>.</a:t>
            </a:r>
            <a:r>
              <a:rPr sz="1400" b="0" i="0" dirty="0">
                <a:solidFill>
                  <a:srgbClr val="D7DEEC"/>
                </a:solidFill>
                <a:latin typeface="Calibri"/>
              </a:rPr>
              <a:t> </a:t>
            </a:r>
            <a:r>
              <a:rPr lang="de-CH" sz="1400" b="0" i="0" dirty="0">
                <a:solidFill>
                  <a:srgbClr val="D7DEEC"/>
                </a:solidFill>
                <a:latin typeface="Calibri"/>
              </a:rPr>
              <a:t>O</a:t>
            </a:r>
            <a:r>
              <a:rPr sz="1400" b="0" i="0" dirty="0" err="1">
                <a:solidFill>
                  <a:srgbClr val="D7DEEC"/>
                </a:solidFill>
                <a:latin typeface="Calibri"/>
              </a:rPr>
              <a:t>perational</a:t>
            </a:r>
            <a:r>
              <a:rPr sz="1400" b="0" i="0" dirty="0">
                <a:solidFill>
                  <a:srgbClr val="D7DEEC"/>
                </a:solidFill>
                <a:latin typeface="Calibri"/>
              </a:rPr>
              <a:t> data can </a:t>
            </a:r>
            <a:r>
              <a:rPr lang="en-GB" sz="1400" b="0" i="0" noProof="0" dirty="0">
                <a:solidFill>
                  <a:srgbClr val="D7DEEC"/>
                </a:solidFill>
                <a:latin typeface="Calibri"/>
              </a:rPr>
              <a:t>prioritise</a:t>
            </a:r>
            <a:r>
              <a:rPr sz="1400" b="0" i="0" dirty="0">
                <a:solidFill>
                  <a:srgbClr val="D7DEEC"/>
                </a:solidFill>
                <a:latin typeface="Calibri"/>
              </a:rPr>
              <a:t> debt where source code cannot reach.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415E5D6-F8E0-039D-92EC-4BF0E6C66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FD1AE63-244A-CDB6-0887-E98E55669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13</a:t>
            </a:fld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888B4B7-362C-00DA-CA24-B70038A405B9}"/>
              </a:ext>
            </a:extLst>
          </p:cNvPr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300" b="1" kern="0" spc="200" dirty="0">
                <a:solidFill>
                  <a:srgbClr val="C6791C"/>
                </a:solidFill>
                <a:latin typeface="Calibri" pitchFamily="34" charset="0"/>
                <a:cs typeface="Calibri" pitchFamily="34" charset="-120"/>
              </a:rPr>
              <a:t>REFLECTION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77DCDB1F-507C-DCB8-33E6-0ADAC7D0C56A}"/>
              </a:ext>
            </a:extLst>
          </p:cNvPr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900" b="1" dirty="0">
                <a:solidFill>
                  <a:srgbClr val="FFFFFF"/>
                </a:solidFill>
                <a:latin typeface="Cambria"/>
              </a:rPr>
              <a:t>A </a:t>
            </a:r>
            <a:r>
              <a:rPr lang="en-GB" sz="2900" b="1" dirty="0">
                <a:solidFill>
                  <a:srgbClr val="FFFFFF"/>
                </a:solidFill>
                <a:latin typeface="Cambria" pitchFamily="34" charset="0"/>
              </a:rPr>
              <a:t>personal</a:t>
            </a:r>
            <a:r>
              <a:rPr lang="en-GB" sz="2900" b="1" dirty="0">
                <a:solidFill>
                  <a:srgbClr val="FFFFFF"/>
                </a:solidFill>
                <a:latin typeface="Cambria"/>
              </a:rPr>
              <a:t> reflection</a:t>
            </a: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6CBBE9C-4DF2-5C88-BF04-BEEF26039320}"/>
              </a:ext>
            </a:extLst>
          </p:cNvPr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b="1" kern="0" spc="200" noProof="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CLOSE</a:t>
            </a:r>
            <a:endParaRPr lang="en-GB" sz="1300" noProof="0" dirty="0">
              <a:solidFill>
                <a:srgbClr val="C6791C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117440" cy="1207008"/>
          </a:xfrm>
          <a:prstGeom prst="roundRect">
            <a:avLst>
              <a:gd name="adj" fmla="val 6818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Shape 4"/>
          <p:cNvSpPr/>
          <p:nvPr/>
        </p:nvSpPr>
        <p:spPr>
          <a:xfrm>
            <a:off x="768096" y="181965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noProof="0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GB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1481328" y="1627632"/>
            <a:ext cx="4020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</a:p>
          <a:p>
            <a:r>
              <a:rPr lang="en-GB" sz="14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at two or three further regulated institutions; compare weights and dimension mappings to test the proxy proposition beyond one case.</a:t>
            </a:r>
            <a:endParaRPr lang="en-GB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5958688" y="1600200"/>
            <a:ext cx="5117440" cy="1207008"/>
          </a:xfrm>
          <a:prstGeom prst="roundRect">
            <a:avLst>
              <a:gd name="adj" fmla="val 6818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Shape 9"/>
          <p:cNvSpPr/>
          <p:nvPr/>
        </p:nvSpPr>
        <p:spPr>
          <a:xfrm>
            <a:off x="6159856" y="181965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Text 10"/>
          <p:cNvSpPr/>
          <p:nvPr/>
        </p:nvSpPr>
        <p:spPr>
          <a:xfrm>
            <a:off x="615985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noProof="0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GB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6873088" y="1627632"/>
            <a:ext cx="4020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Longitudinal</a:t>
            </a:r>
            <a:r>
              <a:rPr lang="en-GB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400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evaluation</a:t>
            </a:r>
          </a:p>
          <a:p>
            <a:r>
              <a:rPr lang="en-GB" sz="14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lagged design tracking whether high-priority services later generate predicted consequences, the route to criterion validity.</a:t>
            </a:r>
            <a:endParaRPr lang="en-GB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566928" y="3008376"/>
            <a:ext cx="5117440" cy="1207008"/>
          </a:xfrm>
          <a:prstGeom prst="roundRect">
            <a:avLst>
              <a:gd name="adj" fmla="val 6818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6" name="Shape 14"/>
          <p:cNvSpPr/>
          <p:nvPr/>
        </p:nvSpPr>
        <p:spPr>
          <a:xfrm>
            <a:off x="768096" y="32278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7" name="Text 15"/>
          <p:cNvSpPr/>
          <p:nvPr/>
        </p:nvSpPr>
        <p:spPr>
          <a:xfrm>
            <a:off x="768096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noProof="0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GB" sz="22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1481328" y="3008376"/>
                <a:ext cx="4020160" cy="11338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spcAft>
                    <a:spcPts val="600"/>
                  </a:spcAft>
                  <a:buNone/>
                </a:pPr>
                <a:r>
                  <a:rPr lang="en-GB" sz="14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Portfolio-wide deployment</a:t>
                </a:r>
              </a:p>
              <a:p>
                <a:r>
                  <a:rPr lang="en-GB" sz="1400" noProof="0" dirty="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Replace the demonstration set with a live ranking; larger </a:t>
                </a:r>
                <a14:m>
                  <m:oMath xmlns:m="http://schemas.openxmlformats.org/officeDocument/2006/math">
                    <m:r>
                      <a:rPr lang="en-GB" sz="1400" i="1" noProof="0" smtClean="0">
                        <a:solidFill>
                          <a:srgbClr val="CADCFC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𝑛</m:t>
                    </m:r>
                  </m:oMath>
                </a14:m>
                <a:r>
                  <a:rPr lang="en-GB" sz="1400" noProof="0" dirty="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also strengthens the stability tests.</a:t>
                </a:r>
                <a:endParaRPr lang="en-GB" sz="1400" noProof="0" dirty="0"/>
              </a:p>
            </p:txBody>
          </p:sp>
        </mc:Choice>
        <mc:Fallback xmlns=""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328" y="3008376"/>
                <a:ext cx="4020160" cy="1133856"/>
              </a:xfrm>
              <a:prstGeom prst="rect">
                <a:avLst/>
              </a:prstGeom>
              <a:blipFill>
                <a:blip r:embed="rId3"/>
                <a:stretch>
                  <a:fillRect l="-2731"/>
                </a:stretch>
              </a:blipFill>
              <a:ln/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5958688" y="3008376"/>
            <a:ext cx="5117440" cy="1207008"/>
          </a:xfrm>
          <a:prstGeom prst="roundRect">
            <a:avLst>
              <a:gd name="adj" fmla="val 6818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Shape 19"/>
          <p:cNvSpPr/>
          <p:nvPr/>
        </p:nvSpPr>
        <p:spPr>
          <a:xfrm>
            <a:off x="6159856" y="32278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22" name="Text 20"/>
          <p:cNvSpPr/>
          <p:nvPr/>
        </p:nvSpPr>
        <p:spPr>
          <a:xfrm>
            <a:off x="6159856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noProof="0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GB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6873088" y="3008376"/>
            <a:ext cx="4020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en-GB" sz="1400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Externally-anchored bounds</a:t>
            </a:r>
          </a:p>
          <a:p>
            <a:r>
              <a:rPr lang="en-GB" sz="14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absolute-mode bounds from regulatory / cross-industry end-of-support benchmarks, comparable across organisations.</a:t>
            </a:r>
            <a:endParaRPr lang="en-GB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566928" y="4828032"/>
            <a:ext cx="11057839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6" name="Text 24"/>
          <p:cNvSpPr/>
          <p:nvPr/>
        </p:nvSpPr>
        <p:spPr>
          <a:xfrm>
            <a:off x="886968" y="4828032"/>
            <a:ext cx="104177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GB" sz="1500" b="1" i="1" noProof="0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does not measure technical debt. </a:t>
            </a:r>
            <a:r>
              <a:rPr lang="en-GB" sz="1500" i="1" noProof="0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orders services by the operational shadow debt casts: reproducibly, defensibly, from data the organisation already holds.</a:t>
            </a:r>
            <a:endParaRPr lang="en-GB" sz="1500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I welcome your questions.</a:t>
            </a:r>
            <a:r>
              <a:rPr lang="en-GB" sz="1100" noProof="0" dirty="0">
                <a:solidFill>
                  <a:srgbClr val="889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Tobias Zeier · Enterprise IT Management · University of Essex</a:t>
            </a:r>
            <a:endParaRPr lang="en-GB" sz="1350" noProof="0" dirty="0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1493DEAF-A8FA-5692-9C86-CC6AF08EF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5B6784"/>
                </a:solidFill>
              </a:rPr>
              <a:t>Technical Debt in Trading IT · MSc Thesis Presentation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2C4BF985-A910-2282-CEBF-CA66C5AF9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en-GB" noProof="0" smtClean="0"/>
              <a:pPr/>
              <a:t>14</a:t>
            </a:fld>
            <a:endParaRPr lang="en-GB" noProof="0" dirty="0">
              <a:solidFill>
                <a:srgbClr val="5B6784"/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C819A11-DE59-BCBE-9D8C-F2D0F430773F}"/>
              </a:ext>
            </a:extLst>
          </p:cNvPr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900" b="1" dirty="0">
                <a:solidFill>
                  <a:srgbClr val="FFFFFF"/>
                </a:solidFill>
                <a:latin typeface="Cambria" pitchFamily="34" charset="0"/>
              </a:rPr>
              <a:t>Where</a:t>
            </a:r>
            <a:r>
              <a:rPr lang="en-GB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 goes next</a:t>
            </a:r>
            <a:endParaRPr lang="en-GB" sz="2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2560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04672" y="429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6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3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53003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Albarak, M.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(2022) 'Managing Technical Debt in Database Normalization',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Transactions on Software Engineering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48(3), pp. 755–772.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https://doi.org/10.1109/TSE.2020.3001339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Alfayez, R.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 'How SonarQube-identified technical debt is prioritized: An exploratory case study',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Software Technology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156, p. 107147.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https://doi.org/10.1016/j.infsof.2023.107147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Amanatidis, T.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(2020) 'Evaluating the agreement among technical debt measurement tools: Building an empirical benchmark of technical debt liabilities',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Software Engineering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25(5), pp. 4161–4204.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https://doi.org/10.1007/s10664-020-09869-w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Banker, R., Liang, Y. and Ramasubbu, N. (2021) 'Technical Debt and Firm Performance',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Science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67(5), pp. 3174–3194.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https://doi.org/10.1287/mnsc.2019.3542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Biazotto, J.P.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 'Technical debt management automation: State of the art and future perspectives',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Software Technology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167, p. 107375.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https://doi.org/10.1016/j.infsof.2023.107375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Conduct for BCS Members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(2022). Swindon, UK: BCS, The Chartered Institute for IT, pp. 1–5.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https://www.bcs.org/media/2211/bcs-code-of-conduct.pdf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(Accessed: 15 April 2026).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Toledo, S.S.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 'Reducing Incidents in Microservices by Repaying Architectural Technical Debt',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47th Euromicro Conference on Software Engineering and Advanced Applications (SEAA)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pp. 196–205.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https://doi.org/10.1109/SEAA53835.2021.00033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Act on Data Protection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https://www.fedlex.admin.ch/eli/cc/2022/491/en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(Accessed: 15 April 2026).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FINMA (2022)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risks and resilience – banks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Circular 2023/1. FINMA, pp. 1–15.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/>
              </a:rPr>
              <a:t>https://www.finma.ch/en/~/media/finma/dokumente/dokumentencenter/myfinma/rundschreiben/finma-rs-2023-01-20221207.pdf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(Accessed: 29 March 2026).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Forsgren, N., Humble, J. and Kim, G. (2018)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Accelerate: The Science of Lean Software and DevOps: Building and Scaling High Performing Technology Organizations.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Portland, OR: IT Revolution Press.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García-Cascales, M.S. and Lamata, M.T. (2012) 'On rank reversal and TOPSIS method',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and Computer Modelling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56(5), pp. 123–132.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/>
              </a:rPr>
              <a:t>https://doi.org/10.1016/j.mcm.2011.12.022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324448" y="1572768"/>
            <a:ext cx="53003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Haki, K.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 'Digital nudging for technical debt management at Credit Suisse',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Journal of Information Systems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32(1), pp. 64–80.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/>
              </a:rPr>
              <a:t>https://doi.org/10.1080/0960085X.2022.2088413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Hevner, A.R.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(2004) 'Design Science in Information Systems Research',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Quarterly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28(1), pp. 75–105.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/>
              </a:rPr>
              <a:t>https://doi.org/10.2307/25148625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Hwang, C.-L. and Yoon, K. (1981)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Attribute Decision Making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Edited by M. Beckmann and H.P. Künzi. Berlin, Heidelberg: Springer (Lecture Notes in Economics and Mathematical Systems).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/>
              </a:rPr>
              <a:t>https://doi.org/10.1007/978-3-642-48318-9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Khan, S. and Purohit, L. (2022) 'An Integrated Methodology of Ranking Based on PROMETHEE-CRITIC and TOPSIS-CRITIC In Web Service Domain',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IEEE 11th International Conference on Communication Systems and Network Technologies (CSNT)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pp. 335–340.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/>
              </a:rPr>
              <a:t>https://doi.org/10.1109/CSNT54456.2022.9787620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Lenarduzzi, V.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 'A systematic literature review on Technical Debt prioritization: Strategies, processes, factors, and tools',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Systems and Software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171, p. 110827.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/>
              </a:rPr>
              <a:t>https://doi.org/10.1016/j.jss.2020.110827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Nord, R.L., Ozkaya, I. and Woody, C. (2021)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Technical Debt’s Cybersecurity Impact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Pittsburgh, PA, USA: Carnegie Mellon University, pp. 1–21.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/>
              </a:rPr>
              <a:t>https://apps.dtic.mil/sti/trecms/pdf/AD1144728.pdf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(Accessed: 27 April 2026).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Peffers, K.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(2007) 'A Design Science Research Methodology for Information Systems Research',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Management Information Systems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24(3), pp. 45–77.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/>
              </a:rPr>
              <a:t>https://doi.org/10.2753/MIS0742-1222240302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Rolland, K.-H. and Lyytinen, K. (2021) 'Exploring the Tensions Between Management of Architectural Debt and Digital Innovation: The Case of a Financial Organization',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54th Hawaii International Conference on System Sciences. Hawaii International Conference on System Sciences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pp. 6722–6732.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/>
              </a:rPr>
              <a:t>https://doi.org/10.24251/HICSS.2021.807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Tizio, G.D., Armellini, M. and Massacci, F. (2023) 'Software Updates Strategies: A Quantitative Evaluation Against Advanced Persistent Threats',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Transactions on Software Engineering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49(3), pp. 1359–1373.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/>
              </a:rPr>
              <a:t>https://doi.org/10.1109/TSE.2022.3176674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W. (2020) 'Ingenious Solution for the Rank Reversal Problem of TOPSIS Method',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Problems in Engineering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2020(1), p. 9676518.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/>
              </a:rPr>
              <a:t>https://doi.org/10.1155/2020/9676518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Zanakis, S.H.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(1998) 'Multi-attribute decision making: A simulation comparison of select methods', </a:t>
            </a:r>
            <a:r>
              <a:rPr lang="en-US" sz="85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Journal of Operational Research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107(3), pp. 507–529. Available at: 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/>
              </a:rPr>
              <a:t>https://doi.org/10.1016/S0377-2217(97)00147-1</a:t>
            </a:r>
            <a:r>
              <a:rPr lang="en-US" sz="8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168CF97-5F98-22DC-BB4B-3C9E3CEDA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5B6784"/>
                </a:solidFill>
              </a:rPr>
              <a:t>Technical Debt in Trading IT · MSc Thesis Presentation</a:t>
            </a:r>
            <a:endParaRPr lang="de-CH" dirty="0">
              <a:solidFill>
                <a:srgbClr val="5B6784"/>
              </a:solidFill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BDDBB73-BA93-194D-2DE0-B621CCCF3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6B2A1D4-6E5D-4E84-B417-6A460AAAA253}" type="slidenum">
              <a:rPr lang="de-CH" smtClean="0"/>
              <a:pPr/>
              <a:t>15</a:t>
            </a:fld>
            <a:endParaRPr lang="de-CH" dirty="0">
              <a:solidFill>
                <a:srgbClr val="5B678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3011</Words>
  <Application>Microsoft Macintosh PowerPoint</Application>
  <PresentationFormat>Widescreen</PresentationFormat>
  <Paragraphs>292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University of Essex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Technical Debt in Mission-Critical Trading Systems</dc:title>
  <dc:subject>Thesis Defence</dc:subject>
  <dc:creator>Tobias Zeier</dc:creator>
  <cp:keywords/>
  <dc:description>technical debt, technical debt prioritisation, TOPSIS, multi-criteria</dc:description>
  <cp:lastModifiedBy>Tobi Zeier</cp:lastModifiedBy>
  <cp:revision>30</cp:revision>
  <dcterms:created xsi:type="dcterms:W3CDTF">2026-08-11T08:05:38Z</dcterms:created>
  <dcterms:modified xsi:type="dcterms:W3CDTF">2026-08-16T20:19:46Z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e75c35-086a-43e5-9d36-8395f0217eb6_Enabled">
    <vt:lpwstr>true</vt:lpwstr>
  </property>
  <property fmtid="{D5CDD505-2E9C-101B-9397-08002B2CF9AE}" pid="3" name="MSIP_Label_f2e75c35-086a-43e5-9d36-8395f0217eb6_SetDate">
    <vt:lpwstr>2026-08-12T07:15:46Z</vt:lpwstr>
  </property>
  <property fmtid="{D5CDD505-2E9C-101B-9397-08002B2CF9AE}" pid="4" name="MSIP_Label_f2e75c35-086a-43e5-9d36-8395f0217eb6_Method">
    <vt:lpwstr>Privileged</vt:lpwstr>
  </property>
  <property fmtid="{D5CDD505-2E9C-101B-9397-08002B2CF9AE}" pid="5" name="MSIP_Label_f2e75c35-086a-43e5-9d36-8395f0217eb6_Name">
    <vt:lpwstr>f2e75c35-086a-43e5-9d36-8395f0217eb6</vt:lpwstr>
  </property>
  <property fmtid="{D5CDD505-2E9C-101B-9397-08002B2CF9AE}" pid="6" name="MSIP_Label_f2e75c35-086a-43e5-9d36-8395f0217eb6_SiteId">
    <vt:lpwstr>ce44b3bf-8688-466f-b7fe-45d4fca206fe</vt:lpwstr>
  </property>
  <property fmtid="{D5CDD505-2E9C-101B-9397-08002B2CF9AE}" pid="7" name="MSIP_Label_f2e75c35-086a-43e5-9d36-8395f0217eb6_ActionId">
    <vt:lpwstr>49955653-c2cd-4340-9752-0e47ac1c211b</vt:lpwstr>
  </property>
  <property fmtid="{D5CDD505-2E9C-101B-9397-08002B2CF9AE}" pid="8" name="MSIP_Label_f2e75c35-086a-43e5-9d36-8395f0217eb6_ContentBits">
    <vt:lpwstr>0</vt:lpwstr>
  </property>
  <property fmtid="{D5CDD505-2E9C-101B-9397-08002B2CF9AE}" pid="9" name="MSIP_Label_f2e75c35-086a-43e5-9d36-8395f0217eb6_Tag">
    <vt:lpwstr>10, 0, 1, 1</vt:lpwstr>
  </property>
</Properties>
</file>